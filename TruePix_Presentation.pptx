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01"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726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THIS SLIDE IS: Title of the project with space for your details.</a:t>
            </a:r>
          </a:p>
          <a:p>
            <a:endParaRPr/>
          </a:p>
          <a:p>
            <a:r>
              <a:t>SAY: "Good morning everyone. I am [name], and this is my final project — TruePix, an AI-powered image forensics and authenticity detection tool. In the next ten minutes I will explain the problem it solves, how it works inside, and then demonstrate it live."</a:t>
            </a:r>
          </a:p>
          <a:p>
            <a:endParaRPr/>
          </a:p>
          <a:p>
            <a:r>
              <a:t>EXAMPLE: Hold up your phone — "Every photo we see today could be real, edited, or fully generated by AI. My project is about telling those apart — honestly."</a:t>
            </a:r>
          </a:p>
          <a:p>
            <a:endParaRPr/>
          </a:p>
          <a:p>
            <a:r>
              <a:t>FILL IN: Replace the [bracketed] fields with your name, department, university and guide name before presenting.</a:t>
            </a:r>
          </a:p>
          <a:p>
            <a:endParaRPr/>
          </a:p>
          <a:p>
            <a:r>
              <a:t>TRANSITION: "Let me start with why this problem matters — with one picture."</a:t>
            </a:r>
          </a:p>
          <a:p>
            <a:r>
              <a:t>Q&amp;A RISK: If asked "why the name TruePix?" — answer: pixels are the smallest unit of an image; the tool examines them for the truth about the image's origin.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This slide sets up the core problem without any jargon — an image's pixels alone don't reveal whether it is real, edited, or AI-generated.</a:t>
            </a:r>
          </a:p>
          <a:p>
            <a:endParaRPr/>
          </a:p>
          <a:p>
            <a:r>
              <a:t>SAY: "This photo went viral during [a recent event]. Millions shared it. Later, investigations showed it was generated by AI. The pixels look perfect — our eyes simply cannot tell. Editing tools and AI generators are now free, fast, and produce photorealistic results. Meanwhile, the platforms we share on strip away the clues — metadata is deleted on upload. So we end up arguing about an image with no evidence either way."</a:t>
            </a:r>
          </a:p>
          <a:p>
            <a:endParaRPr/>
          </a:p>
          <a:p>
            <a:r>
              <a:t>EXAMPLE: A fake 'flood in our city' image during monsoon season — panic before verification. Or a fake screenshot of a celebrity statement.</a:t>
            </a:r>
          </a:p>
          <a:p>
            <a:endParaRPr/>
          </a:p>
          <a:p>
            <a:r>
              <a:t>TRANSITION: "This isn't just an internet nuisance — it has consequences in serious professions. That's the next slide."</a:t>
            </a:r>
          </a:p>
          <a:p>
            <a:endParaRPr/>
          </a:p>
          <a:p>
            <a:r>
              <a:t>LIKELY QUESTION: "Which real cases inspired this?" — Answer honestly: AI-generated images have circulated during disasters and elections; news agencies like Reuters/AFP now employ visual-verification teams. Avoid quoting specific accuracy stats.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Six real-world domains where verifying images matters — from news to daily life.</a:t>
            </a:r>
          </a:p>
          <a:p>
            <a:endParaRPr/>
          </a:p>
          <a:p>
            <a:r>
              <a:t>SAY: "In journalism, a manipulated photo damages credibility that takes years to build. In cybersecurity, attackers use fake profile photos and doctored 'payment screenshots'. Investigators and courts need traceable evidence. Even in education, we cite images in reports without questioning them. And for all of us — before forwarding an image in the family group, we deserve a quick way to check it."</a:t>
            </a:r>
          </a:p>
          <a:p>
            <a:endParaRPr/>
          </a:p>
          <a:p>
            <a:r>
              <a:t>EXAMPLE: "Imagine a fake image of a leaked exam paper circulating a day before results. A tool like TruePix gives the university's verification cell a first-pass, evidence-based check."</a:t>
            </a:r>
          </a:p>
          <a:p>
            <a:endParaRPr/>
          </a:p>
          <a:p>
            <a:r>
              <a:t>TRANSITION: "So the question is: what should such a tool look like? I designed one — TruePix."</a:t>
            </a:r>
          </a:p>
          <a:p>
            <a:endParaRPr/>
          </a:p>
          <a:p>
            <a:r>
              <a:t>LIKELY QUESTION: "Doesn't Google reverse-image search solve this?" — Answer: it finds where an image appeared before; it does not examine the image itself for signs of editing or generation.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One-line definition of TruePix plus its four design pillars.</a:t>
            </a:r>
          </a:p>
          <a:p>
            <a:endParaRPr/>
          </a:p>
          <a:p>
            <a:r>
              <a:t>SAY: "TruePix is my answer to that problem. It is a lightweight forensics tool that runs fully on your own computer — even a laptop without a graphics card. Instead of giving a mystical score, it gathers evidence from eight different analysis families and weighs it conservatively. Two design rules make it trustworthy: it never uploads your image anywhere, and it treats 'we found nothing' as 'we know nothing' — absence is never evidence."</a:t>
            </a:r>
          </a:p>
          <a:p>
            <a:endParaRPr/>
          </a:p>
          <a:p>
            <a:r>
              <a:t>EXAMPLE: "It's like a doctor ordering several tests and reading them together — not one test deciding everything."</a:t>
            </a:r>
          </a:p>
          <a:p>
            <a:endParaRPr/>
          </a:p>
          <a:p>
            <a:r>
              <a:t>TRANSITION: "Here is the journey of an image through TruePix, in five steps."</a:t>
            </a:r>
          </a:p>
          <a:p>
            <a:endParaRPr/>
          </a:p>
          <a:p>
            <a:r>
              <a:t>LIKELY QUESTION: "Is the AI detector always on?" — Answer: No — by default no model is loaded; if a user opts in and downloads a local model, it runs offline on the CPU.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The actual end-to-end pipeline as implemented in app.py and src/analysis.py — upload, validate+hash, run all modules, combine evidence, present verdict and exportable report.</a:t>
            </a:r>
          </a:p>
          <a:p>
            <a:endParaRPr/>
          </a:p>
          <a:p>
            <a:r>
              <a:t>SAY: "Step 1-2: the image is validated, safely decoded, and fingerprinted with SHA-256 — so the report refers to the exact bytes, not just a filename. Step 3: eight forensic modules run. Step 4 is the part I am proud of — a risk engine that weighs every piece of evidence but caps weak families so no single clue can dominate. Step 5: the user sees a plain-language verdict with limitations, and can export JSON or PDF."</a:t>
            </a:r>
          </a:p>
          <a:p>
            <a:endParaRPr/>
          </a:p>
          <a:p>
            <a:r>
              <a:t>EXAMPLE: "Like a lab: sample in → multiple instruments → a technician who reads all results together → a signed report."</a:t>
            </a:r>
          </a:p>
          <a:p>
            <a:endParaRPr/>
          </a:p>
          <a:p>
            <a:r>
              <a:t>TRANSITION: "Let's open the box and see the actual architecture."</a:t>
            </a:r>
          </a:p>
          <a:p>
            <a:endParaRPr/>
          </a:p>
          <a:p>
            <a:r>
              <a:t>LIKELY QUESTION: "How long does analysis take?" — Answer honestly: a few seconds for typical images on a normal CPU; no formal benchmarks were conducted.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The real architecture. All modules live in src/ (metadata_analyzer, c2pa_analyzer, image_forensics, artifact_analyzer, provenance_detector, jpeg_ghost, cfa_analyzer, ai_detector) and feed src/risk_engine.py. The UI (Streamlit) only renders results; analysis is a pure pipeline.</a:t>
            </a:r>
          </a:p>
          <a:p>
            <a:endParaRPr/>
          </a:p>
          <a:p>
            <a:r>
              <a:t>SAY: "On the left, the image enters and is fingerprinted. In the middle, eight module families each look at a different aspect — you can see their names; each is a separate Python module. They all feed the risk engine on the right, which applies documented weights and caps, then produces the verdict banner and a JSON or PDF report. At the bottom is the Streamlit interface. Two things to notice: every module failure is contained — analysis degrades gracefully — and the whole thing runs offline on a CPU."</a:t>
            </a:r>
          </a:p>
          <a:p>
            <a:endParaRPr/>
          </a:p>
          <a:p>
            <a:r>
              <a:t>EXAMPLE: "It's an assembly line with quality-control stations; a broken station doesn't stop the line, it's just flagged."</a:t>
            </a:r>
          </a:p>
          <a:p>
            <a:endParaRPr/>
          </a:p>
          <a:p>
            <a:r>
              <a:t>TRANSITION: "Let's walk through these modules one by one — starting with the file's own label: metadata."</a:t>
            </a:r>
          </a:p>
          <a:p>
            <a:endParaRPr/>
          </a:p>
          <a:p>
            <a:r>
              <a:t>LIKELY QUESTION: "Where do the models run?" — Only locally, and only if the user downloads them; default install loads no model at all.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Metadata in plain English + the honest limits.</a:t>
            </a:r>
          </a:p>
          <a:p>
            <a:endParaRPr/>
          </a:p>
          <a:p>
            <a:r>
              <a:t>SAY: "Think of metadata as the label on a parcel — sender, date, courier. Cameras write it; software writes it. TruePix reads EXIF and PNG text, and separately flags AI-tool names vs ordinary editors, because editing a photo is normal and is NOT an AI signal. But here is the honesty part: the label can be torn off by every messaging app, or written by hand — so TruePix treats metadata as one clue, and treats missing metadata as neutral, never as proof of anything."</a:t>
            </a:r>
          </a:p>
          <a:p>
            <a:endParaRPr/>
          </a:p>
          <a:p>
            <a:r>
              <a:t>EXAMPLE: "A photo of your friend from college has rich EXIF. The same photo saved from WhatsApp has none — because WhatsApp stripped it. Nothing suspicious happened; the label was just removed."</a:t>
            </a:r>
          </a:p>
          <a:p>
            <a:endParaRPr/>
          </a:p>
          <a:p>
            <a:r>
              <a:t>TRANSITION: "Metadata is the label. Next we look at the parcel itself — the pixels — with Error Level Analysis."</a:t>
            </a:r>
          </a:p>
          <a:p>
            <a:endParaRPr/>
          </a:p>
          <a:p>
            <a:r>
              <a:t>LIKELY QUESTION: "Can metadata alone prove an image is AI?" — A strong software string is suggestive, but TruePix's engine caps metadata at 0.25 weight and never lets it alone reach a definitive verdict.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ELA explained with the echo/recompression analogy, explicitly framed as an indicator — never proof.</a:t>
            </a:r>
          </a:p>
          <a:p>
            <a:endParaRPr/>
          </a:p>
          <a:p>
            <a:r>
              <a:t>SAY: "ELA is like an echo test. We re-save the image at a known JPEG quality and subtract. Regions that compress differently than their surroundings light up. If a sticker was pasted in yesterday, it never went through the original compression — so it glows. BUT — and I say this to every user — a bright area is a reason to look closer, not a verdict. Smooth areas like skies light up naturally, and every re-upload from social media resets the evidence."</a:t>
            </a:r>
          </a:p>
          <a:p>
            <a:endParaRPr/>
          </a:p>
          <a:p>
            <a:r>
              <a:t>EXAMPLE: "It's like noticing one wall in a room is freshly painted — it suggests recent work, not who did it or whether it was legal."</a:t>
            </a:r>
          </a:p>
          <a:p>
            <a:endParaRPr/>
          </a:p>
          <a:p>
            <a:r>
              <a:t>TRANSITION: "ELA is one instrument. TruePix carries a whole toolkit — the next slide."</a:t>
            </a:r>
          </a:p>
          <a:p>
            <a:endParaRPr/>
          </a:p>
          <a:p>
            <a:r>
              <a:t>LIKELY QUESTION: "Does ELA work on PNG?" — ELA is JPEG-specific; TruePix marks it unavailable/uninformative for non-JPEG data and leans on the other families.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Quick tour of the remaining pixel-level and provenance techniques, each with its real confound stated.</a:t>
            </a:r>
          </a:p>
          <a:p>
            <a:endParaRPr/>
          </a:p>
          <a:p>
            <a:r>
              <a:t>SAY: "Eight instruments, each with one job. Noise checks the sensor fingerprint; compression stats check how the file was processed; edges and frequency find the 'too perfect' look; banding finds smoothed gradients; JPEG Ghost finds a prior save; CFA looks for the Bayer camera pattern — and when it's absent, TruePix explicitly writes 'absence is not evidence of AI'; copy-move finds cloned patches; the watermark scan looks for declared markers like SynthID's trainedalgorithmicmedia."</a:t>
            </a:r>
          </a:p>
          <a:p>
            <a:endParaRPr/>
          </a:p>
          <a:p>
            <a:r>
              <a:t>EXAMPLE: "Like checking a banknote: watermark, thread, texture, ink — no single check is trusted alone."</a:t>
            </a:r>
          </a:p>
          <a:p>
            <a:endParaRPr/>
          </a:p>
          <a:p>
            <a:r>
              <a:t>TRANSITION: "One instrument deserves its own slide — the optional trained AI detector — because everyone asks about it."</a:t>
            </a:r>
          </a:p>
          <a:p>
            <a:endParaRPr/>
          </a:p>
          <a:p>
            <a:r>
              <a:t>LIKELY QUESTION: "Are these techniques yours?" — The techniques are established research heuristics (e.g., ELA by Krawetz, 2007); TruePix's contribution is implementing them safely with caps, and combining them honestly.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How AI detection is handled conservatively; false positives/negatives acknowledged.</a:t>
            </a:r>
          </a:p>
          <a:p>
            <a:endParaRPr/>
          </a:p>
          <a:p>
            <a:r>
              <a:t>SAY: "Everyone expects a magic AI detector. TruePix treats it as a witness, not a judge. It is off unless you deliberately download a model — then it runs offline. If you add a second independent model and both agree with high confidence, only then may the verdict say 'high confidence AI likely' — still not proof. I documented its blind spots: trained scope is narrow, tight crops confuse it, and false positives on artwork are real."</a:t>
            </a:r>
          </a:p>
          <a:p>
            <a:endParaRPr/>
          </a:p>
          <a:p>
            <a:r>
              <a:t>EXAMPLE: "Two eyewitnesses agreeing is strong — but if both watched from the same window (same training data), agreement means less. That's why caps and warnings exist."</a:t>
            </a:r>
          </a:p>
          <a:p>
            <a:endParaRPr/>
          </a:p>
          <a:p>
            <a:r>
              <a:t>TRANSITION: "The one witness that CAN be definitive is signed provenance — Content Credentials. Next slide."</a:t>
            </a:r>
          </a:p>
          <a:p>
            <a:endParaRPr/>
          </a:p>
          <a:p>
            <a:r>
              <a:t>LIKELY QUESTION: "Which model does it use?" — Any Hugging Face image-classification model the user installs (example: Organika/sdxl-detector); nothing ships or downloads by default.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What C2PA is, and the three honest states TruePix reports.</a:t>
            </a:r>
          </a:p>
          <a:p>
            <a:endParaRPr/>
          </a:p>
          <a:p>
            <a:r>
              <a:t>SAY: "C2PA — the Coalition for Content Provenance and Authenticity — is an industry standard backed by Adobe, Microsoft, Google and others. Think of it as a passport stamped and signed at each step of an image's life. TruePix reports exactly three states: verified, present-but-unverified, or not found. And the key honesty rule: a missing passport means nothing — most cameras don't issue them yet. Only a cryptographically VERIFIED claim of AI generation can make TruePix say 'proven' — and even then it proves the claim about that signed asset, not every pixel afterwards."</a:t>
            </a:r>
          </a:p>
          <a:p>
            <a:endParaRPr/>
          </a:p>
          <a:p>
            <a:r>
              <a:t>EXAMPLE: "A verified passport proves who issued it — not that the traveller hasn't changed clothes since."</a:t>
            </a:r>
          </a:p>
          <a:p>
            <a:endParaRPr/>
          </a:p>
          <a:p>
            <a:r>
              <a:t>TRANSITION: "So how do all these clues become one answer the user can understand? The risk engine — next."</a:t>
            </a:r>
          </a:p>
          <a:p>
            <a:endParaRPr/>
          </a:p>
          <a:p>
            <a:r>
              <a:t>LIKELY QUESTION: "Does TruePix verify the cryptography?" — No, by design; its lightweight scanner reports PRESENT_UNVERIFIED and never fabricates VERIFIED from real bytes (that state exists only for test fixtures).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src/risk_engine.py — caps, reliability, conflicts, and the verdict ladder.</a:t>
            </a:r>
          </a:p>
          <a:p>
            <a:endParaRPr/>
          </a:p>
          <a:p>
            <a:r>
              <a:t>SAY: "This engine is the reason TruePix can be trusted. Every evidence family has a hard cap, so piling up weak clues can never impersonate strong proof. Reliability is explicit: verified provenance weighs 0.9, an unverified manifest 0.3. If strong evidence points both ways, the engine returns INCONCLUSIVE rather than guessing. And the number you see is called an 'evidence score', clearly labelled as NOT a probability — I refuse to invent a fake 87%."</a:t>
            </a:r>
          </a:p>
          <a:p>
            <a:endParaRPr/>
          </a:p>
          <a:p>
            <a:r>
              <a:t>EXAMPLE: "A judge hears eight witnesses; three are shaky. The judge caps each shaky testimony, distrusts contradictions, and if the case is weak says 'case not proven' instead of convicting."</a:t>
            </a:r>
          </a:p>
          <a:p>
            <a:endParaRPr/>
          </a:p>
          <a:p>
            <a:r>
              <a:t>TRANSITION: "Now let's see what all of this looks like on screen — the actual application."</a:t>
            </a:r>
          </a:p>
          <a:p>
            <a:endParaRPr/>
          </a:p>
          <a:p>
            <a:r>
              <a:t>LIKELY QUESTION: "Why not show a percentage like other tools?" — Because an uncalibrated score dressed as a probability misleads users; TruePix shows weighted evidence strength with an explicit disclaimer instead.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This slide is a labelled mock-up of the real UI; the live demo follows it.</a:t>
            </a:r>
          </a:p>
          <a:p>
            <a:endParaRPr/>
          </a:p>
          <a:p>
            <a:r>
              <a:t>SAY: "Before I switch to the live app, here is the layout you're about to see: a dark forensic interface. Left: upload and navigation. Top: the verdict banner — in this mock-up 'Possible AI generation', with the evidence score and the explicit note 'not a probability'. Middle: module status tiles — every analysis family reports COMPLETE, FINDINGS or UNAVAILABLE. Below: the evidence balance bar showing AI-leaning vs authenticity-leaning vs neutral signals, and the top findings with severities."</a:t>
            </a:r>
          </a:p>
          <a:p>
            <a:endParaRPr/>
          </a:p>
          <a:p>
            <a:r>
              <a:t>EMPHASISE: "Every screen repeats the disclaimer — the tool explains its doubt rather than hiding it."</a:t>
            </a:r>
          </a:p>
          <a:p>
            <a:endParaRPr/>
          </a:p>
          <a:p>
            <a:r>
              <a:t>SWITCH: Run the live demo here using the demo script (upload → overview → metadata → C2PA → forensics → report export). Keep it under 90 seconds.</a:t>
            </a:r>
          </a:p>
          <a:p>
            <a:endParaRPr/>
          </a:p>
          <a:p>
            <a:r>
              <a:t>TRANSITION: "That was the surface — now the ingredients it is built from."</a:t>
            </a:r>
          </a:p>
          <a:p>
            <a:endParaRPr/>
          </a:p>
          <a:p>
            <a:r>
              <a:t>LIKELY QUESTION: "Show us a real report." — Export the JSON in the demo; it contains full-fidelity findings, limitations and the disclaimer (schema v1.1.0).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The real dependency list (requirements.txt) and why each was chosen.</a:t>
            </a:r>
          </a:p>
          <a:p>
            <a:endParaRPr/>
          </a:p>
          <a:p>
            <a:r>
              <a:t>SAY: "The stack is deliberately boring — and that is a feature. Python because forensic code should be readable and reviewable. Streamlit because the interface must never contain analysis logic — it only renders results. OpenCV and Pillow do the pixel work; NumPy/Pandas handle metrics; ReportLab builds the PDF. Everything is CPU-only and local. And there are 115 automated pytest tests, including synthetic fixtures — for example, images saved at known JPEG qualities to prove the compression-history estimator works, and a mosaicked image that must trip the CFA detector."</a:t>
            </a:r>
          </a:p>
          <a:p>
            <a:endParaRPr/>
          </a:p>
          <a:p>
            <a:r>
              <a:t>EXAMPLE: "Like building with standard bricks instead of custom-shaped ones — anyone can later verify or extend the wall."</a:t>
            </a:r>
          </a:p>
          <a:p>
            <a:endParaRPr/>
          </a:p>
          <a:p>
            <a:r>
              <a:t>TRANSITION: "So what is the real value of all this engineering? Next slide."</a:t>
            </a:r>
          </a:p>
          <a:p>
            <a:endParaRPr/>
          </a:p>
          <a:p>
            <a:r>
              <a:t>LIKELY QUESTION: "Why not train your own deep learning model?" — Training a calibrated detector needs large labelled datasets and GPUs; TruePix instead integrates optional published models and focuses on honest combination — a deliberate scope decision.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Genuine strengths, deliberately free of marketing claims.</a:t>
            </a:r>
          </a:p>
          <a:p>
            <a:endParaRPr/>
          </a:p>
          <a:p>
            <a:r>
              <a:t>SAY: "Four things make this project worth the effort. One — it weighs evidence instead of following vibes; caps and conflict detection are real code, not slides. Two — it shows its work; the exported JSON/PDF keeps every finding at full fidelity, so an auditor can re-check without my app. Three — it is private by default in a field full of upload-everything services. Four — it teaches; each metric carries its interpretation. And note the last box: I do not claim 'best' or quote accuracy figures I never measured — I claim transparency and honesty, and the code backs that."</a:t>
            </a:r>
          </a:p>
          <a:p>
            <a:endParaRPr/>
          </a:p>
          <a:p>
            <a:r>
              <a:t>EXAMPLE: "Compare: a thermometer that only says 'fever likely' with reasoning visible, vs a random number generator that says '38.2°C'. The first is useful even when imperfect."</a:t>
            </a:r>
          </a:p>
          <a:p>
            <a:endParaRPr/>
          </a:p>
          <a:p>
            <a:r>
              <a:t>TRANSITION: "Any honest tool must also state what it cannot do — that's next."</a:t>
            </a:r>
          </a:p>
          <a:p>
            <a:endParaRPr/>
          </a:p>
          <a:p>
            <a:r>
              <a:t>LIKELY QUESTION: "How is this different from Hive/Adobe content credentials inspect?" — Those verify credentials or score content in the cloud; TruePix combines provenance + pixels locally and explicitly abstains when evidence is weak.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The limitations, mirroring the risk engine's own 'limitations' list and README.</a:t>
            </a:r>
          </a:p>
          <a:p>
            <a:endParaRPr/>
          </a:p>
          <a:p>
            <a:r>
              <a:t>SAY: "If you remember one slide, make it this one. No single technique is universal. Innocent edits — a crop, a filter — can look suspicious, so indicators are reasons to look, not verdicts. Screenshots are the hardest case: exactly where fakes spread, evidence is erased. Detectors misfire in both directions. Absence of evidence stays neutral. And TruePix is triage-grade, not courtroom-grade. But note the bottom line: these limitations ship inside every report the tool produces — honesty is a feature, enforced by tests."</a:t>
            </a:r>
          </a:p>
          <a:p>
            <a:endParaRPr/>
          </a:p>
          <a:p>
            <a:r>
              <a:t>EXAMPLE: "A metal detector beeps on a belt buckle too — it flags for a human search; it doesn't convict."</a:t>
            </a:r>
          </a:p>
          <a:p>
            <a:endParaRPr/>
          </a:p>
          <a:p>
            <a:r>
              <a:t>TRANSITION: "Knowing the limits defines the roadmap — future scope is next."</a:t>
            </a:r>
          </a:p>
          <a:p>
            <a:endParaRPr/>
          </a:p>
          <a:p>
            <a:r>
              <a:t>LIKELY QUESTION: "So is it useful at all?" — Yes, as a fast first-pass examiner that tells you WHICH questions to ask next; that is exactly the gap between doing nothing and expensive expert analysis.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A roadmap clearly separated from shipped features, plus practical applications.</a:t>
            </a:r>
          </a:p>
          <a:p>
            <a:endParaRPr/>
          </a:p>
          <a:p>
            <a:r>
              <a:t>SAY: "The left column is honest wish-list code I have NOT written yet — region highlighting, real cryptographic C2PA verification, HEIC/RAW support, video, and a proper benchmark to publish real accuracy numbers. The right column is what the tool does today: a first-pass checker for a newsroom, a verification aid on campus, a teaching sandbox for forensics classes, and a triage filter when investigators face hundreds of images."</a:t>
            </a:r>
          </a:p>
          <a:p>
            <a:endParaRPr/>
          </a:p>
          <a:p>
            <a:r>
              <a:t>EXAMPLE: "A security guard with a torch doesn't replace a forensic lab — but decides which door to open first."</a:t>
            </a:r>
          </a:p>
          <a:p>
            <a:endParaRPr/>
          </a:p>
          <a:p>
            <a:r>
              <a:t>TRANSITION: "Let me close with what I want you to remember."</a:t>
            </a:r>
          </a:p>
          <a:p>
            <a:endParaRPr/>
          </a:p>
          <a:p>
            <a:r>
              <a:t>LIKELY QUESTION: "What would you build first with one more month?" — Region highlighting for explainability, then integrating c2pa-python for genuine verification — both are scoped, incremental additions to the existing pipeline.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 Three-part summary and the closing quote; then open Q&amp;A.</a:t>
            </a:r>
          </a:p>
          <a:p>
            <a:endParaRPr/>
          </a:p>
          <a:p>
            <a:r>
              <a:t>SAY: "To close: the problem is real — our eyes can no longer authenticate images. My contribution is TruePix — eight local forensic modules feeding a capped, conflict-aware evidence engine with auditable reports, running on one CPU with zero uploads. And the takeaway I most want you to keep: it never overclaims. It tells you what it found, how strong that is, and what it cannot know. That honesty is the design."</a:t>
            </a:r>
          </a:p>
          <a:p>
            <a:endParaRPr/>
          </a:p>
          <a:p>
            <a:r>
              <a:t>CLOSE: "Thank you. I would be glad to take questions — and I am ready to run the live demonstration at any point."</a:t>
            </a:r>
          </a:p>
          <a:p>
            <a:endParaRPr/>
          </a:p>
          <a:p>
            <a:r>
              <a:t>TOP EXPECTED QUESTIONS (one-line answers; full set in the Q&amp;A document):</a:t>
            </a:r>
          </a:p>
          <a:p>
            <a:r>
              <a:t>1. Accuracy? — Not benchmarked; no numbers claimed; evidence-based design instead.</a:t>
            </a:r>
          </a:p>
          <a:p>
            <a:r>
              <a:t>2. Prove an image is REAL? — Never; only verified C2PA AI claims are definitive.</a:t>
            </a:r>
          </a:p>
          <a:p>
            <a:r>
              <a:t>3. Offline? — Yes, 100% local by default; optional models also run offline.</a:t>
            </a:r>
          </a:p>
          <a:p>
            <a:r>
              <a:t>4. Why no big AI model? — Deliberate: calibrated local models are opt-in; heuristics + provenance cover triage.</a:t>
            </a:r>
          </a:p>
          <a:p>
            <a:r>
              <a:t>5. What next? — Region highlighting and real C2PA verification.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554480" y="0"/>
            <a:ext cx="0" cy="6858000"/>
          </a:xfrm>
          <a:prstGeom prst="line">
            <a:avLst/>
          </a:prstGeom>
          <a:ln w="9525">
            <a:solidFill>
              <a:srgbClr val="131820"/>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108960" y="0"/>
            <a:ext cx="0" cy="6858000"/>
          </a:xfrm>
          <a:prstGeom prst="line">
            <a:avLst/>
          </a:prstGeom>
          <a:ln w="9525">
            <a:solidFill>
              <a:srgbClr val="13182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663440" y="0"/>
            <a:ext cx="0" cy="6858000"/>
          </a:xfrm>
          <a:prstGeom prst="line">
            <a:avLst/>
          </a:prstGeom>
          <a:ln w="9525">
            <a:solidFill>
              <a:srgbClr val="13182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17920" y="0"/>
            <a:ext cx="0" cy="6858000"/>
          </a:xfrm>
          <a:prstGeom prst="line">
            <a:avLst/>
          </a:prstGeom>
          <a:ln w="9525">
            <a:solidFill>
              <a:srgbClr val="13182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772400" y="0"/>
            <a:ext cx="0" cy="6858000"/>
          </a:xfrm>
          <a:prstGeom prst="line">
            <a:avLst/>
          </a:prstGeom>
          <a:ln w="9525">
            <a:solidFill>
              <a:srgbClr val="13182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26880" y="0"/>
            <a:ext cx="0" cy="6858000"/>
          </a:xfrm>
          <a:prstGeom prst="line">
            <a:avLst/>
          </a:prstGeom>
          <a:ln w="9525">
            <a:solidFill>
              <a:srgbClr val="13182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881360" y="0"/>
            <a:ext cx="0" cy="6858000"/>
          </a:xfrm>
          <a:prstGeom prst="line">
            <a:avLst/>
          </a:prstGeom>
          <a:ln w="9525">
            <a:solidFill>
              <a:srgbClr val="131820"/>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0" y="0"/>
            <a:ext cx="12191695" cy="128016"/>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22960" y="1005840"/>
            <a:ext cx="2148840" cy="384048"/>
          </a:xfrm>
          <a:prstGeom prst="roundRect">
            <a:avLst>
              <a:gd name="adj" fmla="val 50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005840"/>
            <a:ext cx="2148840" cy="384048"/>
          </a:xfrm>
          <a:prstGeom prst="rect">
            <a:avLst/>
          </a:prstGeom>
          <a:noFill/>
        </p:spPr>
        <p:txBody>
          <a:bodyPr wrap="square" lIns="0" tIns="0" rIns="0" bIns="0" anchor="ctr">
            <a:spAutoFit/>
          </a:bodyPr>
          <a:lstStyle/>
          <a:p>
            <a:pPr algn="ctr">
              <a:lnSpc>
                <a:spcPct val="100000"/>
              </a:lnSpc>
              <a:spcAft>
                <a:spcPts val="0"/>
              </a:spcAft>
            </a:pPr>
            <a:r>
              <a:rPr sz="1150" b="1" i="0">
                <a:solidFill>
                  <a:srgbClr val="0D1117"/>
                </a:solidFill>
                <a:latin typeface="Segoe UI"/>
              </a:rPr>
              <a:t>FINAL PROJECT VIVA · 2026</a:t>
            </a:r>
          </a:p>
        </p:txBody>
      </p:sp>
      <p:sp>
        <p:nvSpPr>
          <p:cNvPr id="13" name="TextBox 12"/>
          <p:cNvSpPr txBox="1"/>
          <p:nvPr/>
        </p:nvSpPr>
        <p:spPr>
          <a:xfrm>
            <a:off x="822960" y="1600200"/>
            <a:ext cx="10515600" cy="1051560"/>
          </a:xfrm>
          <a:prstGeom prst="rect">
            <a:avLst/>
          </a:prstGeom>
          <a:noFill/>
        </p:spPr>
        <p:txBody>
          <a:bodyPr wrap="square" lIns="0" tIns="0" rIns="0" bIns="0" anchor="t">
            <a:spAutoFit/>
          </a:bodyPr>
          <a:lstStyle/>
          <a:p>
            <a:pPr algn="l">
              <a:lnSpc>
                <a:spcPct val="100000"/>
              </a:lnSpc>
              <a:spcAft>
                <a:spcPts val="0"/>
              </a:spcAft>
            </a:pPr>
            <a:r>
              <a:rPr sz="6600" b="1" i="0">
                <a:solidFill>
                  <a:srgbClr val="E6EDF3"/>
                </a:solidFill>
                <a:latin typeface="Segoe UI"/>
              </a:rPr>
              <a:t>TruePix</a:t>
            </a:r>
          </a:p>
        </p:txBody>
      </p:sp>
      <p:sp>
        <p:nvSpPr>
          <p:cNvPr id="14" name="TextBox 13"/>
          <p:cNvSpPr txBox="1"/>
          <p:nvPr/>
        </p:nvSpPr>
        <p:spPr>
          <a:xfrm>
            <a:off x="841248" y="2697480"/>
            <a:ext cx="10515600" cy="548640"/>
          </a:xfrm>
          <a:prstGeom prst="rect">
            <a:avLst/>
          </a:prstGeom>
          <a:noFill/>
        </p:spPr>
        <p:txBody>
          <a:bodyPr wrap="square" lIns="0" tIns="0" rIns="0" bIns="0" anchor="t">
            <a:spAutoFit/>
          </a:bodyPr>
          <a:lstStyle/>
          <a:p>
            <a:pPr algn="l">
              <a:lnSpc>
                <a:spcPct val="100000"/>
              </a:lnSpc>
              <a:spcAft>
                <a:spcPts val="0"/>
              </a:spcAft>
            </a:pPr>
            <a:r>
              <a:rPr sz="2700" b="1" i="0">
                <a:solidFill>
                  <a:srgbClr val="E6EDF3"/>
                </a:solidFill>
                <a:latin typeface="Segoe UI"/>
              </a:rPr>
              <a:t>AI-Powered Image Forensics and Authenticity Detection</a:t>
            </a:r>
          </a:p>
        </p:txBody>
      </p:sp>
      <p:sp>
        <p:nvSpPr>
          <p:cNvPr id="15" name="TextBox 14"/>
          <p:cNvSpPr txBox="1"/>
          <p:nvPr/>
        </p:nvSpPr>
        <p:spPr>
          <a:xfrm>
            <a:off x="841248" y="3246120"/>
            <a:ext cx="10515600" cy="411480"/>
          </a:xfrm>
          <a:prstGeom prst="rect">
            <a:avLst/>
          </a:prstGeom>
          <a:noFill/>
        </p:spPr>
        <p:txBody>
          <a:bodyPr wrap="square" lIns="0" tIns="0" rIns="0" bIns="0" anchor="t">
            <a:spAutoFit/>
          </a:bodyPr>
          <a:lstStyle/>
          <a:p>
            <a:pPr algn="l">
              <a:lnSpc>
                <a:spcPct val="100000"/>
              </a:lnSpc>
              <a:spcAft>
                <a:spcPts val="0"/>
              </a:spcAft>
            </a:pPr>
            <a:r>
              <a:rPr sz="1600" b="0" i="0">
                <a:solidFill>
                  <a:srgbClr val="8B949E"/>
                </a:solidFill>
                <a:latin typeface="Segoe UI"/>
              </a:rPr>
              <a:t>See the truth behind every pixel.</a:t>
            </a:r>
          </a:p>
        </p:txBody>
      </p:sp>
      <p:sp>
        <p:nvSpPr>
          <p:cNvPr id="16" name="Rounded Rectangle 15"/>
          <p:cNvSpPr/>
          <p:nvPr/>
        </p:nvSpPr>
        <p:spPr>
          <a:xfrm>
            <a:off x="822960" y="4069080"/>
            <a:ext cx="6949440" cy="19659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224528"/>
            <a:ext cx="6400800" cy="274320"/>
          </a:xfrm>
          <a:prstGeom prst="rect">
            <a:avLst/>
          </a:prstGeom>
          <a:noFill/>
        </p:spPr>
        <p:txBody>
          <a:bodyPr wrap="square" lIns="0" tIns="0" rIns="0" bIns="0" anchor="t">
            <a:spAutoFit/>
          </a:bodyPr>
          <a:lstStyle/>
          <a:p>
            <a:pPr algn="l">
              <a:lnSpc>
                <a:spcPct val="100000"/>
              </a:lnSpc>
              <a:spcAft>
                <a:spcPts val="0"/>
              </a:spcAft>
            </a:pPr>
            <a:r>
              <a:rPr sz="1100" b="1" i="0">
                <a:solidFill>
                  <a:srgbClr val="58A6FF"/>
                </a:solidFill>
                <a:latin typeface="Segoe UI"/>
              </a:rPr>
              <a:t>PRESENTED BY</a:t>
            </a:r>
          </a:p>
        </p:txBody>
      </p:sp>
      <p:sp>
        <p:nvSpPr>
          <p:cNvPr id="18" name="TextBox 17"/>
          <p:cNvSpPr txBox="1"/>
          <p:nvPr/>
        </p:nvSpPr>
        <p:spPr>
          <a:xfrm>
            <a:off x="1051560" y="4553712"/>
            <a:ext cx="1828800" cy="256032"/>
          </a:xfrm>
          <a:prstGeom prst="rect">
            <a:avLst/>
          </a:prstGeom>
          <a:noFill/>
        </p:spPr>
        <p:txBody>
          <a:bodyPr wrap="square" lIns="0" tIns="0" rIns="0" bIns="0" anchor="t">
            <a:spAutoFit/>
          </a:bodyPr>
          <a:lstStyle/>
          <a:p>
            <a:pPr algn="l">
              <a:lnSpc>
                <a:spcPct val="100000"/>
              </a:lnSpc>
              <a:spcAft>
                <a:spcPts val="0"/>
              </a:spcAft>
            </a:pPr>
            <a:r>
              <a:rPr sz="1250" b="0" i="0">
                <a:solidFill>
                  <a:srgbClr val="8B949E"/>
                </a:solidFill>
                <a:latin typeface="Segoe UI"/>
              </a:rPr>
              <a:t>Name</a:t>
            </a:r>
          </a:p>
        </p:txBody>
      </p:sp>
      <p:sp>
        <p:nvSpPr>
          <p:cNvPr id="19" name="TextBox 18"/>
          <p:cNvSpPr txBox="1"/>
          <p:nvPr/>
        </p:nvSpPr>
        <p:spPr>
          <a:xfrm>
            <a:off x="2894008" y="4553712"/>
            <a:ext cx="4754880" cy="192360"/>
          </a:xfrm>
          <a:prstGeom prst="rect">
            <a:avLst/>
          </a:prstGeom>
          <a:noFill/>
        </p:spPr>
        <p:txBody>
          <a:bodyPr wrap="square" lIns="0" tIns="0" rIns="0" bIns="0" anchor="t">
            <a:spAutoFit/>
          </a:bodyPr>
          <a:lstStyle/>
          <a:p>
            <a:pPr algn="l">
              <a:lnSpc>
                <a:spcPct val="100000"/>
              </a:lnSpc>
              <a:spcAft>
                <a:spcPts val="0"/>
              </a:spcAft>
            </a:pPr>
            <a:r>
              <a:rPr lang="en-US" sz="1250" b="1" i="0" dirty="0">
                <a:solidFill>
                  <a:srgbClr val="E6EDF3"/>
                </a:solidFill>
                <a:latin typeface="Segoe UI"/>
              </a:rPr>
              <a:t>Kaif </a:t>
            </a:r>
            <a:r>
              <a:rPr lang="en-US" sz="1250" b="1" i="0" dirty="0" err="1">
                <a:solidFill>
                  <a:srgbClr val="E6EDF3"/>
                </a:solidFill>
                <a:latin typeface="Segoe UI"/>
              </a:rPr>
              <a:t>Tarasgar</a:t>
            </a:r>
            <a:endParaRPr sz="1250" b="1" i="0" dirty="0">
              <a:solidFill>
                <a:srgbClr val="E6EDF3"/>
              </a:solidFill>
              <a:latin typeface="Segoe UI"/>
            </a:endParaRPr>
          </a:p>
        </p:txBody>
      </p:sp>
      <p:sp>
        <p:nvSpPr>
          <p:cNvPr id="20" name="TextBox 19"/>
          <p:cNvSpPr txBox="1"/>
          <p:nvPr/>
        </p:nvSpPr>
        <p:spPr>
          <a:xfrm>
            <a:off x="1051560" y="4837176"/>
            <a:ext cx="1828800" cy="256032"/>
          </a:xfrm>
          <a:prstGeom prst="rect">
            <a:avLst/>
          </a:prstGeom>
          <a:noFill/>
        </p:spPr>
        <p:txBody>
          <a:bodyPr wrap="square" lIns="0" tIns="0" rIns="0" bIns="0" anchor="t">
            <a:spAutoFit/>
          </a:bodyPr>
          <a:lstStyle/>
          <a:p>
            <a:pPr algn="l">
              <a:lnSpc>
                <a:spcPct val="100000"/>
              </a:lnSpc>
              <a:spcAft>
                <a:spcPts val="0"/>
              </a:spcAft>
            </a:pPr>
            <a:r>
              <a:rPr sz="1250" b="0" i="0">
                <a:solidFill>
                  <a:srgbClr val="8B949E"/>
                </a:solidFill>
                <a:latin typeface="Segoe UI"/>
              </a:rPr>
              <a:t>Course</a:t>
            </a:r>
          </a:p>
        </p:txBody>
      </p:sp>
      <p:sp>
        <p:nvSpPr>
          <p:cNvPr id="21" name="TextBox 20"/>
          <p:cNvSpPr txBox="1"/>
          <p:nvPr/>
        </p:nvSpPr>
        <p:spPr>
          <a:xfrm>
            <a:off x="2880360" y="4837176"/>
            <a:ext cx="4754880" cy="192360"/>
          </a:xfrm>
          <a:prstGeom prst="rect">
            <a:avLst/>
          </a:prstGeom>
          <a:noFill/>
        </p:spPr>
        <p:txBody>
          <a:bodyPr wrap="square" lIns="0" tIns="0" rIns="0" bIns="0" anchor="t">
            <a:spAutoFit/>
          </a:bodyPr>
          <a:lstStyle/>
          <a:p>
            <a:pPr algn="l">
              <a:lnSpc>
                <a:spcPct val="100000"/>
              </a:lnSpc>
              <a:spcAft>
                <a:spcPts val="0"/>
              </a:spcAft>
            </a:pPr>
            <a:r>
              <a:rPr sz="1250" b="1" i="0" dirty="0">
                <a:solidFill>
                  <a:srgbClr val="E6EDF3"/>
                </a:solidFill>
                <a:latin typeface="Segoe UI"/>
              </a:rPr>
              <a:t>B.Sc. (Cyber Security) — TY</a:t>
            </a:r>
          </a:p>
        </p:txBody>
      </p:sp>
      <p:sp>
        <p:nvSpPr>
          <p:cNvPr id="22" name="TextBox 21"/>
          <p:cNvSpPr txBox="1"/>
          <p:nvPr/>
        </p:nvSpPr>
        <p:spPr>
          <a:xfrm>
            <a:off x="1051560" y="5120640"/>
            <a:ext cx="1828800" cy="256032"/>
          </a:xfrm>
          <a:prstGeom prst="rect">
            <a:avLst/>
          </a:prstGeom>
          <a:noFill/>
        </p:spPr>
        <p:txBody>
          <a:bodyPr wrap="square" lIns="0" tIns="0" rIns="0" bIns="0" anchor="t">
            <a:spAutoFit/>
          </a:bodyPr>
          <a:lstStyle/>
          <a:p>
            <a:pPr algn="l">
              <a:lnSpc>
                <a:spcPct val="100000"/>
              </a:lnSpc>
              <a:spcAft>
                <a:spcPts val="0"/>
              </a:spcAft>
            </a:pPr>
            <a:r>
              <a:rPr sz="1250" b="0" i="0">
                <a:solidFill>
                  <a:srgbClr val="8B949E"/>
                </a:solidFill>
                <a:latin typeface="Segoe UI"/>
              </a:rPr>
              <a:t>Department</a:t>
            </a:r>
          </a:p>
        </p:txBody>
      </p:sp>
      <p:sp>
        <p:nvSpPr>
          <p:cNvPr id="23" name="TextBox 22"/>
          <p:cNvSpPr txBox="1"/>
          <p:nvPr/>
        </p:nvSpPr>
        <p:spPr>
          <a:xfrm>
            <a:off x="2880360" y="5120640"/>
            <a:ext cx="4754880" cy="192360"/>
          </a:xfrm>
          <a:prstGeom prst="rect">
            <a:avLst/>
          </a:prstGeom>
          <a:noFill/>
        </p:spPr>
        <p:txBody>
          <a:bodyPr wrap="square" lIns="0" tIns="0" rIns="0" bIns="0" anchor="t">
            <a:spAutoFit/>
          </a:bodyPr>
          <a:lstStyle/>
          <a:p>
            <a:pPr algn="l">
              <a:lnSpc>
                <a:spcPct val="100000"/>
              </a:lnSpc>
              <a:spcAft>
                <a:spcPts val="0"/>
              </a:spcAft>
            </a:pPr>
            <a:r>
              <a:rPr lang="en-US" sz="1250" b="1" i="0" dirty="0">
                <a:solidFill>
                  <a:srgbClr val="E6EDF3"/>
                </a:solidFill>
                <a:latin typeface="Segoe UI"/>
              </a:rPr>
              <a:t>SOCA{Cyber Security }</a:t>
            </a:r>
            <a:endParaRPr sz="1250" b="1" i="0" dirty="0">
              <a:solidFill>
                <a:srgbClr val="E6EDF3"/>
              </a:solidFill>
              <a:latin typeface="Segoe UI"/>
            </a:endParaRPr>
          </a:p>
        </p:txBody>
      </p:sp>
      <p:sp>
        <p:nvSpPr>
          <p:cNvPr id="24" name="TextBox 23"/>
          <p:cNvSpPr txBox="1"/>
          <p:nvPr/>
        </p:nvSpPr>
        <p:spPr>
          <a:xfrm>
            <a:off x="1051560" y="5404103"/>
            <a:ext cx="1828800" cy="256032"/>
          </a:xfrm>
          <a:prstGeom prst="rect">
            <a:avLst/>
          </a:prstGeom>
          <a:noFill/>
        </p:spPr>
        <p:txBody>
          <a:bodyPr wrap="square" lIns="0" tIns="0" rIns="0" bIns="0" anchor="t">
            <a:spAutoFit/>
          </a:bodyPr>
          <a:lstStyle/>
          <a:p>
            <a:pPr algn="l">
              <a:lnSpc>
                <a:spcPct val="100000"/>
              </a:lnSpc>
              <a:spcAft>
                <a:spcPts val="0"/>
              </a:spcAft>
            </a:pPr>
            <a:r>
              <a:rPr sz="1250" b="0" i="0">
                <a:solidFill>
                  <a:srgbClr val="8B949E"/>
                </a:solidFill>
                <a:latin typeface="Segoe UI"/>
              </a:rPr>
              <a:t>University</a:t>
            </a:r>
          </a:p>
        </p:txBody>
      </p:sp>
      <p:sp>
        <p:nvSpPr>
          <p:cNvPr id="25" name="TextBox 24"/>
          <p:cNvSpPr txBox="1"/>
          <p:nvPr/>
        </p:nvSpPr>
        <p:spPr>
          <a:xfrm>
            <a:off x="2880360" y="5404103"/>
            <a:ext cx="4754880" cy="256032"/>
          </a:xfrm>
          <a:prstGeom prst="rect">
            <a:avLst/>
          </a:prstGeom>
          <a:noFill/>
        </p:spPr>
        <p:txBody>
          <a:bodyPr wrap="square" lIns="0" tIns="0" rIns="0" bIns="0" anchor="t">
            <a:spAutoFit/>
          </a:bodyPr>
          <a:lstStyle/>
          <a:p>
            <a:pPr algn="l">
              <a:lnSpc>
                <a:spcPct val="100000"/>
              </a:lnSpc>
              <a:spcAft>
                <a:spcPts val="0"/>
              </a:spcAft>
            </a:pPr>
            <a:r>
              <a:rPr sz="1250" b="1" i="0">
                <a:solidFill>
                  <a:srgbClr val="E6EDF3"/>
                </a:solidFill>
                <a:latin typeface="Segoe UI"/>
              </a:rPr>
              <a:t>Pimpri Chinchwad University (PCU)</a:t>
            </a:r>
          </a:p>
        </p:txBody>
      </p:sp>
      <p:sp>
        <p:nvSpPr>
          <p:cNvPr id="28" name="Rounded Rectangle 27"/>
          <p:cNvSpPr/>
          <p:nvPr/>
        </p:nvSpPr>
        <p:spPr>
          <a:xfrm>
            <a:off x="8001000" y="4160520"/>
            <a:ext cx="1234440" cy="347472"/>
          </a:xfrm>
          <a:prstGeom prst="roundRect">
            <a:avLst>
              <a:gd name="adj" fmla="val 50000"/>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01000" y="4160520"/>
            <a:ext cx="1234440" cy="347472"/>
          </a:xfrm>
          <a:prstGeom prst="rect">
            <a:avLst/>
          </a:prstGeom>
          <a:noFill/>
        </p:spPr>
        <p:txBody>
          <a:bodyPr wrap="square" lIns="0" tIns="0" rIns="0" bIns="0" anchor="ctr">
            <a:spAutoFit/>
          </a:bodyPr>
          <a:lstStyle/>
          <a:p>
            <a:pPr algn="ctr">
              <a:lnSpc>
                <a:spcPct val="100000"/>
              </a:lnSpc>
              <a:spcAft>
                <a:spcPts val="0"/>
              </a:spcAft>
            </a:pPr>
            <a:r>
              <a:rPr sz="1050" b="1" i="0">
                <a:solidFill>
                  <a:srgbClr val="0D1117"/>
                </a:solidFill>
                <a:latin typeface="Segoe UI"/>
              </a:rPr>
              <a:t>100% LOCAL</a:t>
            </a:r>
          </a:p>
        </p:txBody>
      </p:sp>
      <p:sp>
        <p:nvSpPr>
          <p:cNvPr id="30" name="Rounded Rectangle 29"/>
          <p:cNvSpPr/>
          <p:nvPr/>
        </p:nvSpPr>
        <p:spPr>
          <a:xfrm>
            <a:off x="9372600" y="4160520"/>
            <a:ext cx="1234440" cy="347472"/>
          </a:xfrm>
          <a:prstGeom prst="roundRect">
            <a:avLst>
              <a:gd name="adj" fmla="val 50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72600" y="4160520"/>
            <a:ext cx="1234440" cy="347472"/>
          </a:xfrm>
          <a:prstGeom prst="rect">
            <a:avLst/>
          </a:prstGeom>
          <a:noFill/>
        </p:spPr>
        <p:txBody>
          <a:bodyPr wrap="square" lIns="0" tIns="0" rIns="0" bIns="0" anchor="ctr">
            <a:spAutoFit/>
          </a:bodyPr>
          <a:lstStyle/>
          <a:p>
            <a:pPr algn="ctr">
              <a:lnSpc>
                <a:spcPct val="100000"/>
              </a:lnSpc>
              <a:spcAft>
                <a:spcPts val="0"/>
              </a:spcAft>
            </a:pPr>
            <a:r>
              <a:rPr sz="1050" b="1" i="0">
                <a:solidFill>
                  <a:srgbClr val="0D1117"/>
                </a:solidFill>
                <a:latin typeface="Segoe UI"/>
              </a:rPr>
              <a:t>CPU-ONLY</a:t>
            </a:r>
          </a:p>
        </p:txBody>
      </p:sp>
      <p:sp>
        <p:nvSpPr>
          <p:cNvPr id="32" name="Rounded Rectangle 31"/>
          <p:cNvSpPr/>
          <p:nvPr/>
        </p:nvSpPr>
        <p:spPr>
          <a:xfrm>
            <a:off x="10744200" y="4160520"/>
            <a:ext cx="1234440" cy="347472"/>
          </a:xfrm>
          <a:prstGeom prst="roundRect">
            <a:avLst>
              <a:gd name="adj" fmla="val 50000"/>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744200" y="4160520"/>
            <a:ext cx="1234440" cy="347472"/>
          </a:xfrm>
          <a:prstGeom prst="rect">
            <a:avLst/>
          </a:prstGeom>
          <a:noFill/>
        </p:spPr>
        <p:txBody>
          <a:bodyPr wrap="square" lIns="0" tIns="0" rIns="0" bIns="0" anchor="ctr">
            <a:spAutoFit/>
          </a:bodyPr>
          <a:lstStyle/>
          <a:p>
            <a:pPr algn="ctr">
              <a:lnSpc>
                <a:spcPct val="100000"/>
              </a:lnSpc>
              <a:spcAft>
                <a:spcPts val="0"/>
              </a:spcAft>
            </a:pPr>
            <a:r>
              <a:rPr sz="1050" b="1" i="0">
                <a:solidFill>
                  <a:srgbClr val="0D1117"/>
                </a:solidFill>
                <a:latin typeface="Segoe UI"/>
              </a:rPr>
              <a:t>NO CLOUD</a:t>
            </a:r>
          </a:p>
        </p:txBody>
      </p:sp>
      <p:sp>
        <p:nvSpPr>
          <p:cNvPr id="34" name="TextBox 33"/>
          <p:cNvSpPr txBox="1"/>
          <p:nvPr/>
        </p:nvSpPr>
        <p:spPr>
          <a:xfrm>
            <a:off x="8001000" y="4617720"/>
            <a:ext cx="3566160" cy="1280160"/>
          </a:xfrm>
          <a:prstGeom prst="rect">
            <a:avLst/>
          </a:prstGeom>
          <a:noFill/>
        </p:spPr>
        <p:txBody>
          <a:bodyPr wrap="square" lIns="0" tIns="0" rIns="0" bIns="0" anchor="t">
            <a:spAutoFit/>
          </a:bodyPr>
          <a:lstStyle/>
          <a:p>
            <a:pPr algn="l">
              <a:lnSpc>
                <a:spcPct val="115000"/>
              </a:lnSpc>
              <a:spcAft>
                <a:spcPts val="0"/>
              </a:spcAft>
            </a:pPr>
            <a:r>
              <a:rPr sz="1250" b="0" i="0">
                <a:solidFill>
                  <a:srgbClr val="8B949E"/>
                </a:solidFill>
                <a:latin typeface="Segoe UI"/>
              </a:rPr>
              <a:t>Every analysis runs on this machine.</a:t>
            </a:r>
          </a:p>
          <a:p>
            <a:pPr algn="l">
              <a:lnSpc>
                <a:spcPct val="115000"/>
              </a:lnSpc>
              <a:spcAft>
                <a:spcPts val="0"/>
              </a:spcAft>
            </a:pPr>
            <a:r>
              <a:rPr sz="1250" b="0" i="0">
                <a:solidFill>
                  <a:srgbClr val="8B949E"/>
                </a:solidFill>
                <a:latin typeface="Segoe UI"/>
              </a:rPr>
              <a:t>No image is ever uploaded anywhere.</a:t>
            </a:r>
          </a:p>
        </p:txBody>
      </p:sp>
      <p:sp>
        <p:nvSpPr>
          <p:cNvPr id="35" name="TextBox 34"/>
          <p:cNvSpPr txBox="1"/>
          <p:nvPr/>
        </p:nvSpPr>
        <p:spPr>
          <a:xfrm>
            <a:off x="822960" y="6263640"/>
            <a:ext cx="10515600" cy="274320"/>
          </a:xfrm>
          <a:prstGeom prst="rect">
            <a:avLst/>
          </a:prstGeom>
          <a:noFill/>
        </p:spPr>
        <p:txBody>
          <a:bodyPr wrap="square" lIns="0" tIns="0" rIns="0" bIns="0" anchor="t">
            <a:spAutoFit/>
          </a:bodyPr>
          <a:lstStyle/>
          <a:p>
            <a:pPr algn="l">
              <a:lnSpc>
                <a:spcPct val="100000"/>
              </a:lnSpc>
              <a:spcAft>
                <a:spcPts val="0"/>
              </a:spcAft>
            </a:pPr>
            <a:r>
              <a:rPr sz="1050" b="0" i="0">
                <a:solidFill>
                  <a:srgbClr val="8B949E"/>
                </a:solidFill>
                <a:latin typeface="Segoe UI"/>
              </a:rPr>
              <a:t>Source of truth: TruePix source code &amp; README — github.com/Kaif-T-200/TruePix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E5534B"/>
                </a:solidFill>
                <a:latin typeface="Segoe UI"/>
              </a:rPr>
              <a:t>THE PROBLEM</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One Image Can Tell Two Different Stories</a:t>
            </a:r>
          </a:p>
        </p:txBody>
      </p:sp>
      <p:sp>
        <p:nvSpPr>
          <p:cNvPr id="5" name="Rectangle 4"/>
          <p:cNvSpPr/>
          <p:nvPr/>
        </p:nvSpPr>
        <p:spPr>
          <a:xfrm>
            <a:off x="585216" y="1389888"/>
            <a:ext cx="822960" cy="41148"/>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5532120" cy="228600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874519"/>
            <a:ext cx="5029200" cy="365760"/>
          </a:xfrm>
          <a:prstGeom prst="rect">
            <a:avLst/>
          </a:prstGeom>
          <a:noFill/>
        </p:spPr>
        <p:txBody>
          <a:bodyPr wrap="square" lIns="0" tIns="0" rIns="0" bIns="0" anchor="t">
            <a:spAutoFit/>
          </a:bodyPr>
          <a:lstStyle/>
          <a:p>
            <a:pPr algn="l">
              <a:lnSpc>
                <a:spcPct val="100000"/>
              </a:lnSpc>
              <a:spcAft>
                <a:spcPts val="0"/>
              </a:spcAft>
            </a:pPr>
            <a:r>
              <a:rPr sz="1700" b="1" i="0">
                <a:solidFill>
                  <a:srgbClr val="E6EDF3"/>
                </a:solidFill>
                <a:latin typeface="Segoe UI"/>
              </a:rPr>
              <a:t>The same pixels can tell two stories</a:t>
            </a:r>
          </a:p>
        </p:txBody>
      </p:sp>
      <p:sp>
        <p:nvSpPr>
          <p:cNvPr id="8" name="TextBox 7"/>
          <p:cNvSpPr txBox="1"/>
          <p:nvPr/>
        </p:nvSpPr>
        <p:spPr>
          <a:xfrm>
            <a:off x="841248" y="2286000"/>
            <a:ext cx="5029200" cy="1645920"/>
          </a:xfrm>
          <a:prstGeom prst="rect">
            <a:avLst/>
          </a:prstGeom>
          <a:noFill/>
        </p:spPr>
        <p:txBody>
          <a:bodyPr wrap="square" lIns="0" tIns="0" rIns="0" bIns="0">
            <a:spAutoFit/>
          </a:bodyPr>
          <a:lstStyle/>
          <a:p>
            <a:pPr>
              <a:lnSpc>
                <a:spcPct val="105000"/>
              </a:lnSpc>
              <a:spcAft>
                <a:spcPts val="800"/>
              </a:spcAft>
            </a:pPr>
            <a:r>
              <a:rPr sz="1350" b="1">
                <a:solidFill>
                  <a:srgbClr val="58A6FF"/>
                </a:solidFill>
                <a:latin typeface="Segoe UI"/>
              </a:rPr>
              <a:t>•  </a:t>
            </a:r>
            <a:r>
              <a:rPr sz="1350" b="0">
                <a:solidFill>
                  <a:srgbClr val="E6EDF3"/>
                </a:solidFill>
                <a:latin typeface="Segoe UI"/>
              </a:rPr>
              <a:t>Generative AI (Midjourney, DALL·E, Stable Diffusion, Firefly) creates photorealistic images in seconds.</a:t>
            </a:r>
          </a:p>
          <a:p>
            <a:pPr>
              <a:lnSpc>
                <a:spcPct val="105000"/>
              </a:lnSpc>
              <a:spcAft>
                <a:spcPts val="800"/>
              </a:spcAft>
            </a:pPr>
            <a:r>
              <a:rPr sz="1350" b="1">
                <a:solidFill>
                  <a:srgbClr val="58A6FF"/>
                </a:solidFill>
                <a:latin typeface="Segoe UI"/>
              </a:rPr>
              <a:t>•  </a:t>
            </a:r>
            <a:r>
              <a:rPr sz="1350" b="0">
                <a:solidFill>
                  <a:srgbClr val="E6EDF3"/>
                </a:solidFill>
                <a:latin typeface="Segoe UI"/>
              </a:rPr>
              <a:t>Basic editing apps can alter photos with a few taps.</a:t>
            </a:r>
          </a:p>
          <a:p>
            <a:pPr>
              <a:lnSpc>
                <a:spcPct val="105000"/>
              </a:lnSpc>
              <a:spcAft>
                <a:spcPts val="800"/>
              </a:spcAft>
            </a:pPr>
            <a:r>
              <a:rPr sz="1350" b="1">
                <a:solidFill>
                  <a:srgbClr val="58A6FF"/>
                </a:solidFill>
                <a:latin typeface="Segoe UI"/>
              </a:rPr>
              <a:t>•  </a:t>
            </a:r>
            <a:r>
              <a:rPr sz="1350" b="0">
                <a:solidFill>
                  <a:srgbClr val="E6EDF3"/>
                </a:solidFill>
                <a:latin typeface="Segoe UI"/>
              </a:rPr>
              <a:t>Both spread through messaging apps and social feeds — stripped of any proof of origin.</a:t>
            </a:r>
          </a:p>
        </p:txBody>
      </p:sp>
      <p:sp>
        <p:nvSpPr>
          <p:cNvPr id="9" name="Rounded Rectangle 8"/>
          <p:cNvSpPr/>
          <p:nvPr/>
        </p:nvSpPr>
        <p:spPr>
          <a:xfrm>
            <a:off x="6400800" y="1691640"/>
            <a:ext cx="5212080" cy="228600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29400" y="1965960"/>
            <a:ext cx="2286000" cy="1371600"/>
          </a:xfrm>
          <a:prstGeom prst="roundRect">
            <a:avLst>
              <a:gd name="adj" fmla="val 6000"/>
            </a:avLst>
          </a:prstGeom>
          <a:solidFill>
            <a:srgbClr val="1C232E"/>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2057400"/>
            <a:ext cx="2286000" cy="365760"/>
          </a:xfrm>
          <a:prstGeom prst="rect">
            <a:avLst/>
          </a:prstGeom>
          <a:noFill/>
        </p:spPr>
        <p:txBody>
          <a:bodyPr wrap="square" lIns="0" tIns="0" rIns="0" bIns="0" anchor="t">
            <a:spAutoFit/>
          </a:bodyPr>
          <a:lstStyle/>
          <a:p>
            <a:pPr algn="ctr">
              <a:lnSpc>
                <a:spcPct val="100000"/>
              </a:lnSpc>
              <a:spcAft>
                <a:spcPts val="0"/>
              </a:spcAft>
            </a:pPr>
            <a:r>
              <a:rPr sz="1100" b="1" i="0">
                <a:solidFill>
                  <a:srgbClr val="2EA043"/>
                </a:solidFill>
                <a:latin typeface="Segoe UI"/>
              </a:rPr>
              <a:t>STORY A</a:t>
            </a:r>
          </a:p>
        </p:txBody>
      </p:sp>
      <p:sp>
        <p:nvSpPr>
          <p:cNvPr id="12" name="TextBox 11"/>
          <p:cNvSpPr txBox="1"/>
          <p:nvPr/>
        </p:nvSpPr>
        <p:spPr>
          <a:xfrm>
            <a:off x="6629400" y="2377440"/>
            <a:ext cx="2286000" cy="914400"/>
          </a:xfrm>
          <a:prstGeom prst="rect">
            <a:avLst/>
          </a:prstGeom>
          <a:noFill/>
        </p:spPr>
        <p:txBody>
          <a:bodyPr wrap="square" lIns="0" tIns="0" rIns="0" bIns="0" anchor="t">
            <a:spAutoFit/>
          </a:bodyPr>
          <a:lstStyle/>
          <a:p>
            <a:pPr algn="ctr">
              <a:lnSpc>
                <a:spcPct val="100000"/>
              </a:lnSpc>
              <a:spcAft>
                <a:spcPts val="0"/>
              </a:spcAft>
            </a:pPr>
            <a:r>
              <a:rPr sz="1250" b="0" i="0">
                <a:solidFill>
                  <a:srgbClr val="E6EDF3"/>
                </a:solidFill>
                <a:latin typeface="Segoe UI"/>
              </a:rPr>
              <a:t>A real photograph,
captured by a camera</a:t>
            </a:r>
          </a:p>
        </p:txBody>
      </p:sp>
      <p:sp>
        <p:nvSpPr>
          <p:cNvPr id="13" name="Rounded Rectangle 12"/>
          <p:cNvSpPr/>
          <p:nvPr/>
        </p:nvSpPr>
        <p:spPr>
          <a:xfrm>
            <a:off x="9098280" y="1965960"/>
            <a:ext cx="2286000" cy="1371600"/>
          </a:xfrm>
          <a:prstGeom prst="roundRect">
            <a:avLst>
              <a:gd name="adj" fmla="val 6000"/>
            </a:avLst>
          </a:prstGeom>
          <a:solidFill>
            <a:srgbClr val="1C232E"/>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98280" y="2057400"/>
            <a:ext cx="2286000" cy="365760"/>
          </a:xfrm>
          <a:prstGeom prst="rect">
            <a:avLst/>
          </a:prstGeom>
          <a:noFill/>
        </p:spPr>
        <p:txBody>
          <a:bodyPr wrap="square" lIns="0" tIns="0" rIns="0" bIns="0" anchor="t">
            <a:spAutoFit/>
          </a:bodyPr>
          <a:lstStyle/>
          <a:p>
            <a:pPr algn="ctr">
              <a:lnSpc>
                <a:spcPct val="100000"/>
              </a:lnSpc>
              <a:spcAft>
                <a:spcPts val="0"/>
              </a:spcAft>
            </a:pPr>
            <a:r>
              <a:rPr sz="1100" b="1" i="0">
                <a:solidFill>
                  <a:srgbClr val="E5534B"/>
                </a:solidFill>
                <a:latin typeface="Segoe UI"/>
              </a:rPr>
              <a:t>STORY B</a:t>
            </a:r>
          </a:p>
        </p:txBody>
      </p:sp>
      <p:sp>
        <p:nvSpPr>
          <p:cNvPr id="15" name="TextBox 14"/>
          <p:cNvSpPr txBox="1"/>
          <p:nvPr/>
        </p:nvSpPr>
        <p:spPr>
          <a:xfrm>
            <a:off x="9098280" y="2377440"/>
            <a:ext cx="2286000" cy="914400"/>
          </a:xfrm>
          <a:prstGeom prst="rect">
            <a:avLst/>
          </a:prstGeom>
          <a:noFill/>
        </p:spPr>
        <p:txBody>
          <a:bodyPr wrap="square" lIns="0" tIns="0" rIns="0" bIns="0" anchor="t">
            <a:spAutoFit/>
          </a:bodyPr>
          <a:lstStyle/>
          <a:p>
            <a:pPr algn="ctr">
              <a:lnSpc>
                <a:spcPct val="100000"/>
              </a:lnSpc>
              <a:spcAft>
                <a:spcPts val="0"/>
              </a:spcAft>
            </a:pPr>
            <a:r>
              <a:rPr sz="1250" b="0" i="0">
                <a:solidFill>
                  <a:srgbClr val="E6EDF3"/>
                </a:solidFill>
                <a:latin typeface="Segoe UI"/>
              </a:rPr>
              <a:t>The same scene,
generated or edited</a:t>
            </a:r>
          </a:p>
        </p:txBody>
      </p:sp>
      <p:sp>
        <p:nvSpPr>
          <p:cNvPr id="16" name="TextBox 15"/>
          <p:cNvSpPr txBox="1"/>
          <p:nvPr/>
        </p:nvSpPr>
        <p:spPr>
          <a:xfrm>
            <a:off x="6400800" y="3474720"/>
            <a:ext cx="5212080" cy="365760"/>
          </a:xfrm>
          <a:prstGeom prst="rect">
            <a:avLst/>
          </a:prstGeom>
          <a:noFill/>
        </p:spPr>
        <p:txBody>
          <a:bodyPr wrap="square" lIns="0" tIns="0" rIns="0" bIns="0" anchor="t">
            <a:spAutoFit/>
          </a:bodyPr>
          <a:lstStyle/>
          <a:p>
            <a:pPr algn="ctr">
              <a:lnSpc>
                <a:spcPct val="100000"/>
              </a:lnSpc>
              <a:spcAft>
                <a:spcPts val="0"/>
              </a:spcAft>
            </a:pPr>
            <a:r>
              <a:rPr sz="1200" b="0" i="0">
                <a:solidFill>
                  <a:srgbClr val="8B949E"/>
                </a:solidFill>
                <a:latin typeface="Segoe UI"/>
              </a:rPr>
              <a:t>To our eyes — identical. To an algorithm — not always.</a:t>
            </a:r>
          </a:p>
        </p:txBody>
      </p:sp>
      <p:sp>
        <p:nvSpPr>
          <p:cNvPr id="17" name="Rounded Rectangle 16"/>
          <p:cNvSpPr/>
          <p:nvPr/>
        </p:nvSpPr>
        <p:spPr>
          <a:xfrm>
            <a:off x="566928" y="4297680"/>
            <a:ext cx="11045952" cy="178308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4297680"/>
            <a:ext cx="11045952"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425696"/>
            <a:ext cx="10716768" cy="292608"/>
          </a:xfrm>
          <a:prstGeom prst="rect">
            <a:avLst/>
          </a:prstGeom>
          <a:noFill/>
        </p:spPr>
        <p:txBody>
          <a:bodyPr wrap="square" lIns="0" tIns="0" rIns="0" bIns="0" anchor="t">
            <a:spAutoFit/>
          </a:bodyPr>
          <a:lstStyle/>
          <a:p>
            <a:pPr algn="l">
              <a:lnSpc>
                <a:spcPct val="100000"/>
              </a:lnSpc>
              <a:spcAft>
                <a:spcPts val="0"/>
              </a:spcAft>
            </a:pPr>
            <a:r>
              <a:rPr sz="1350" b="1" i="0">
                <a:solidFill>
                  <a:srgbClr val="E5534B"/>
                </a:solidFill>
                <a:latin typeface="Segoe UI"/>
              </a:rPr>
              <a:t>When we cannot tell the difference:</a:t>
            </a:r>
          </a:p>
        </p:txBody>
      </p:sp>
      <p:sp>
        <p:nvSpPr>
          <p:cNvPr id="20" name="TextBox 19"/>
          <p:cNvSpPr txBox="1"/>
          <p:nvPr/>
        </p:nvSpPr>
        <p:spPr>
          <a:xfrm>
            <a:off x="868680" y="4800600"/>
            <a:ext cx="10424160" cy="1097280"/>
          </a:xfrm>
          <a:prstGeom prst="rect">
            <a:avLst/>
          </a:prstGeom>
          <a:noFill/>
        </p:spPr>
        <p:txBody>
          <a:bodyPr wrap="square">
            <a:spAutoFit/>
          </a:bodyPr>
          <a:lstStyle/>
          <a:p>
            <a:pPr>
              <a:lnSpc>
                <a:spcPct val="105000"/>
              </a:lnSpc>
              <a:spcAft>
                <a:spcPts val="600"/>
              </a:spcAft>
            </a:pPr>
            <a:r>
              <a:rPr sz="1350" b="1">
                <a:solidFill>
                  <a:srgbClr val="E5534B"/>
                </a:solidFill>
                <a:latin typeface="Segoe UI"/>
              </a:rPr>
              <a:t>■  </a:t>
            </a:r>
            <a:r>
              <a:rPr sz="1350" b="0">
                <a:solidFill>
                  <a:srgbClr val="E6EDF3"/>
                </a:solidFill>
                <a:latin typeface="Segoe UI"/>
              </a:rPr>
              <a:t>False news spreads faster than corrections.</a:t>
            </a:r>
          </a:p>
          <a:p>
            <a:pPr>
              <a:lnSpc>
                <a:spcPct val="105000"/>
              </a:lnSpc>
              <a:spcAft>
                <a:spcPts val="600"/>
              </a:spcAft>
            </a:pPr>
            <a:r>
              <a:rPr sz="1350" b="1">
                <a:solidFill>
                  <a:srgbClr val="E0A32E"/>
                </a:solidFill>
                <a:latin typeface="Segoe UI"/>
              </a:rPr>
              <a:t>■  </a:t>
            </a:r>
            <a:r>
              <a:rPr sz="1350" b="0">
                <a:solidFill>
                  <a:srgbClr val="E6EDF3"/>
                </a:solidFill>
                <a:latin typeface="Segoe UI"/>
              </a:rPr>
              <a:t>Scams and fake profiles use synthetic photos.</a:t>
            </a:r>
          </a:p>
          <a:p>
            <a:pPr>
              <a:lnSpc>
                <a:spcPct val="105000"/>
              </a:lnSpc>
              <a:spcAft>
                <a:spcPts val="600"/>
              </a:spcAft>
            </a:pPr>
            <a:r>
              <a:rPr sz="1350" b="1">
                <a:solidFill>
                  <a:srgbClr val="58A6FF"/>
                </a:solidFill>
                <a:latin typeface="Segoe UI"/>
              </a:rPr>
              <a:t>■  </a:t>
            </a:r>
            <a:r>
              <a:rPr sz="1350" b="0">
                <a:solidFill>
                  <a:srgbClr val="E6EDF3"/>
                </a:solidFill>
                <a:latin typeface="Segoe UI"/>
              </a:rPr>
              <a:t>Courts, newsrooms and campuses need evidence — not opinions.</a:t>
            </a:r>
          </a:p>
        </p:txBody>
      </p:sp>
      <p:sp>
        <p:nvSpPr>
          <p:cNvPr id="21" name="TextBox 20"/>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22" name="TextBox 21"/>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02 / 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E0A32E"/>
                </a:solidFill>
                <a:latin typeface="Segoe UI"/>
              </a:rPr>
              <a:t>STAKES</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Why Image Authenticity Matters Everywhere</a:t>
            </a:r>
          </a:p>
        </p:txBody>
      </p:sp>
      <p:sp>
        <p:nvSpPr>
          <p:cNvPr id="5" name="Rectangle 4"/>
          <p:cNvSpPr/>
          <p:nvPr/>
        </p:nvSpPr>
        <p:spPr>
          <a:xfrm>
            <a:off x="585216" y="1389888"/>
            <a:ext cx="822960" cy="41148"/>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83080"/>
            <a:ext cx="3538728" cy="1691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3538728"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984248"/>
            <a:ext cx="3154680" cy="365760"/>
          </a:xfrm>
          <a:prstGeom prst="rect">
            <a:avLst/>
          </a:prstGeom>
          <a:noFill/>
        </p:spPr>
        <p:txBody>
          <a:bodyPr wrap="square" lIns="0" tIns="0" rIns="0" bIns="0" anchor="t">
            <a:spAutoFit/>
          </a:bodyPr>
          <a:lstStyle/>
          <a:p>
            <a:pPr algn="l">
              <a:lnSpc>
                <a:spcPct val="100000"/>
              </a:lnSpc>
              <a:spcAft>
                <a:spcPts val="0"/>
              </a:spcAft>
            </a:pPr>
            <a:r>
              <a:rPr sz="1600" b="1" i="0">
                <a:solidFill>
                  <a:srgbClr val="E5534B"/>
                </a:solidFill>
                <a:latin typeface="Segoe UI"/>
              </a:rPr>
              <a:t>Journalism</a:t>
            </a:r>
          </a:p>
        </p:txBody>
      </p:sp>
      <p:sp>
        <p:nvSpPr>
          <p:cNvPr id="9" name="TextBox 8"/>
          <p:cNvSpPr txBox="1"/>
          <p:nvPr/>
        </p:nvSpPr>
        <p:spPr>
          <a:xfrm>
            <a:off x="768096" y="2404872"/>
            <a:ext cx="3154680" cy="9601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Segoe UI"/>
              </a:rPr>
              <a:t>A single manipulated photo can distort public opinion before the real story emerges.</a:t>
            </a:r>
          </a:p>
        </p:txBody>
      </p:sp>
      <p:sp>
        <p:nvSpPr>
          <p:cNvPr id="10" name="Rounded Rectangle 9"/>
          <p:cNvSpPr/>
          <p:nvPr/>
        </p:nvSpPr>
        <p:spPr>
          <a:xfrm>
            <a:off x="4434840" y="1783080"/>
            <a:ext cx="3538728" cy="1691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783080"/>
            <a:ext cx="3538728"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7" y="1984248"/>
            <a:ext cx="3154680" cy="365760"/>
          </a:xfrm>
          <a:prstGeom prst="rect">
            <a:avLst/>
          </a:prstGeom>
          <a:noFill/>
        </p:spPr>
        <p:txBody>
          <a:bodyPr wrap="square" lIns="0" tIns="0" rIns="0" bIns="0" anchor="t">
            <a:spAutoFit/>
          </a:bodyPr>
          <a:lstStyle/>
          <a:p>
            <a:pPr algn="l">
              <a:lnSpc>
                <a:spcPct val="100000"/>
              </a:lnSpc>
              <a:spcAft>
                <a:spcPts val="0"/>
              </a:spcAft>
            </a:pPr>
            <a:r>
              <a:rPr sz="1600" b="1" i="0">
                <a:solidFill>
                  <a:srgbClr val="E5534B"/>
                </a:solidFill>
                <a:latin typeface="Segoe UI"/>
              </a:rPr>
              <a:t>Cybersecurity</a:t>
            </a:r>
          </a:p>
        </p:txBody>
      </p:sp>
      <p:sp>
        <p:nvSpPr>
          <p:cNvPr id="13" name="TextBox 12"/>
          <p:cNvSpPr txBox="1"/>
          <p:nvPr/>
        </p:nvSpPr>
        <p:spPr>
          <a:xfrm>
            <a:off x="4636007" y="2404872"/>
            <a:ext cx="3154680" cy="9601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Segoe UI"/>
              </a:rPr>
              <a:t>Synthetic profile photos and fake 'proof' images power social-engineering and fraud.</a:t>
            </a:r>
          </a:p>
        </p:txBody>
      </p:sp>
      <p:sp>
        <p:nvSpPr>
          <p:cNvPr id="14" name="Rounded Rectangle 13"/>
          <p:cNvSpPr/>
          <p:nvPr/>
        </p:nvSpPr>
        <p:spPr>
          <a:xfrm>
            <a:off x="8302752" y="1783080"/>
            <a:ext cx="3538728" cy="1691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02752" y="1783080"/>
            <a:ext cx="3538728"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0" y="1984248"/>
            <a:ext cx="3154680" cy="365760"/>
          </a:xfrm>
          <a:prstGeom prst="rect">
            <a:avLst/>
          </a:prstGeom>
          <a:noFill/>
        </p:spPr>
        <p:txBody>
          <a:bodyPr wrap="square" lIns="0" tIns="0" rIns="0" bIns="0" anchor="t">
            <a:spAutoFit/>
          </a:bodyPr>
          <a:lstStyle/>
          <a:p>
            <a:pPr algn="l">
              <a:lnSpc>
                <a:spcPct val="100000"/>
              </a:lnSpc>
              <a:spcAft>
                <a:spcPts val="0"/>
              </a:spcAft>
            </a:pPr>
            <a:r>
              <a:rPr sz="1600" b="1" i="0">
                <a:solidFill>
                  <a:srgbClr val="E0A32E"/>
                </a:solidFill>
                <a:latin typeface="Segoe UI"/>
              </a:rPr>
              <a:t>Courts &amp; Investigations</a:t>
            </a:r>
          </a:p>
        </p:txBody>
      </p:sp>
      <p:sp>
        <p:nvSpPr>
          <p:cNvPr id="17" name="TextBox 16"/>
          <p:cNvSpPr txBox="1"/>
          <p:nvPr/>
        </p:nvSpPr>
        <p:spPr>
          <a:xfrm>
            <a:off x="8503920" y="2404872"/>
            <a:ext cx="3154680" cy="9601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Segoe UI"/>
              </a:rPr>
              <a:t>Image evidence must be examined, not just trusted — chain of custody matters.</a:t>
            </a:r>
          </a:p>
        </p:txBody>
      </p:sp>
      <p:sp>
        <p:nvSpPr>
          <p:cNvPr id="18" name="Rounded Rectangle 17"/>
          <p:cNvSpPr/>
          <p:nvPr/>
        </p:nvSpPr>
        <p:spPr>
          <a:xfrm>
            <a:off x="566928" y="3703320"/>
            <a:ext cx="3538728" cy="1691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703320"/>
            <a:ext cx="3538728"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 y="3904487"/>
            <a:ext cx="3154680" cy="365760"/>
          </a:xfrm>
          <a:prstGeom prst="rect">
            <a:avLst/>
          </a:prstGeom>
          <a:noFill/>
        </p:spPr>
        <p:txBody>
          <a:bodyPr wrap="square" lIns="0" tIns="0" rIns="0" bIns="0" anchor="t">
            <a:spAutoFit/>
          </a:bodyPr>
          <a:lstStyle/>
          <a:p>
            <a:pPr algn="l">
              <a:lnSpc>
                <a:spcPct val="100000"/>
              </a:lnSpc>
              <a:spcAft>
                <a:spcPts val="0"/>
              </a:spcAft>
            </a:pPr>
            <a:r>
              <a:rPr sz="1600" b="1" i="0">
                <a:solidFill>
                  <a:srgbClr val="58A6FF"/>
                </a:solidFill>
                <a:latin typeface="Segoe UI"/>
              </a:rPr>
              <a:t>Education &amp; Research</a:t>
            </a:r>
          </a:p>
        </p:txBody>
      </p:sp>
      <p:sp>
        <p:nvSpPr>
          <p:cNvPr id="21" name="TextBox 20"/>
          <p:cNvSpPr txBox="1"/>
          <p:nvPr/>
        </p:nvSpPr>
        <p:spPr>
          <a:xfrm>
            <a:off x="768096" y="4325112"/>
            <a:ext cx="3154680" cy="9601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Segoe UI"/>
              </a:rPr>
              <a:t>Students and reviewers need a way to question images before citing them.</a:t>
            </a:r>
          </a:p>
        </p:txBody>
      </p:sp>
      <p:sp>
        <p:nvSpPr>
          <p:cNvPr id="22" name="Rounded Rectangle 21"/>
          <p:cNvSpPr/>
          <p:nvPr/>
        </p:nvSpPr>
        <p:spPr>
          <a:xfrm>
            <a:off x="4434840" y="3703320"/>
            <a:ext cx="3538728" cy="1691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703320"/>
            <a:ext cx="3538728"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7" y="3904487"/>
            <a:ext cx="3154680" cy="365760"/>
          </a:xfrm>
          <a:prstGeom prst="rect">
            <a:avLst/>
          </a:prstGeom>
          <a:noFill/>
        </p:spPr>
        <p:txBody>
          <a:bodyPr wrap="square" lIns="0" tIns="0" rIns="0" bIns="0" anchor="t">
            <a:spAutoFit/>
          </a:bodyPr>
          <a:lstStyle/>
          <a:p>
            <a:pPr algn="l">
              <a:lnSpc>
                <a:spcPct val="100000"/>
              </a:lnSpc>
              <a:spcAft>
                <a:spcPts val="0"/>
              </a:spcAft>
            </a:pPr>
            <a:r>
              <a:rPr sz="1600" b="1" i="0">
                <a:solidFill>
                  <a:srgbClr val="E0A32E"/>
                </a:solidFill>
                <a:latin typeface="Segoe UI"/>
              </a:rPr>
              <a:t>Social Platforms</a:t>
            </a:r>
          </a:p>
        </p:txBody>
      </p:sp>
      <p:sp>
        <p:nvSpPr>
          <p:cNvPr id="25" name="TextBox 24"/>
          <p:cNvSpPr txBox="1"/>
          <p:nvPr/>
        </p:nvSpPr>
        <p:spPr>
          <a:xfrm>
            <a:off x="4636007" y="4325112"/>
            <a:ext cx="3154680" cy="9601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Segoe UI"/>
              </a:rPr>
              <a:t>Moderators need triage tools to prioritise what humans should review.</a:t>
            </a:r>
          </a:p>
        </p:txBody>
      </p:sp>
      <p:sp>
        <p:nvSpPr>
          <p:cNvPr id="26" name="Rounded Rectangle 25"/>
          <p:cNvSpPr/>
          <p:nvPr/>
        </p:nvSpPr>
        <p:spPr>
          <a:xfrm>
            <a:off x="8302752" y="3703320"/>
            <a:ext cx="3538728" cy="1691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302752" y="3703320"/>
            <a:ext cx="3538728"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03920" y="3904487"/>
            <a:ext cx="3154680" cy="365760"/>
          </a:xfrm>
          <a:prstGeom prst="rect">
            <a:avLst/>
          </a:prstGeom>
          <a:noFill/>
        </p:spPr>
        <p:txBody>
          <a:bodyPr wrap="square" lIns="0" tIns="0" rIns="0" bIns="0" anchor="t">
            <a:spAutoFit/>
          </a:bodyPr>
          <a:lstStyle/>
          <a:p>
            <a:pPr algn="l">
              <a:lnSpc>
                <a:spcPct val="100000"/>
              </a:lnSpc>
              <a:spcAft>
                <a:spcPts val="0"/>
              </a:spcAft>
            </a:pPr>
            <a:r>
              <a:rPr sz="1600" b="1" i="0">
                <a:solidFill>
                  <a:srgbClr val="2EA043"/>
                </a:solidFill>
                <a:latin typeface="Segoe UI"/>
              </a:rPr>
              <a:t>Everyday Users</a:t>
            </a:r>
          </a:p>
        </p:txBody>
      </p:sp>
      <p:sp>
        <p:nvSpPr>
          <p:cNvPr id="29" name="TextBox 28"/>
          <p:cNvSpPr txBox="1"/>
          <p:nvPr/>
        </p:nvSpPr>
        <p:spPr>
          <a:xfrm>
            <a:off x="8503920" y="4325112"/>
            <a:ext cx="3154680" cy="9601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Segoe UI"/>
              </a:rPr>
              <a:t>Everyone deserves a simple way to ask: 'Should I trust this image?'</a:t>
            </a:r>
          </a:p>
        </p:txBody>
      </p:sp>
      <p:sp>
        <p:nvSpPr>
          <p:cNvPr id="30" name="TextBox 29"/>
          <p:cNvSpPr txBox="1"/>
          <p:nvPr/>
        </p:nvSpPr>
        <p:spPr>
          <a:xfrm>
            <a:off x="566928" y="5715000"/>
            <a:ext cx="11045952" cy="457200"/>
          </a:xfrm>
          <a:prstGeom prst="rect">
            <a:avLst/>
          </a:prstGeom>
          <a:noFill/>
        </p:spPr>
        <p:txBody>
          <a:bodyPr wrap="square" lIns="0" tIns="0" rIns="0" bIns="0" anchor="t">
            <a:spAutoFit/>
          </a:bodyPr>
          <a:lstStyle/>
          <a:p>
            <a:pPr algn="ctr">
              <a:lnSpc>
                <a:spcPct val="100000"/>
              </a:lnSpc>
              <a:spcAft>
                <a:spcPts val="0"/>
              </a:spcAft>
            </a:pPr>
            <a:r>
              <a:rPr sz="1500" b="1" i="0">
                <a:solidFill>
                  <a:srgbClr val="E6EDF3"/>
                </a:solidFill>
                <a:latin typeface="Segoe UI"/>
              </a:rPr>
              <a:t>The common need: </a:t>
            </a:r>
            <a:r>
              <a:rPr sz="1500" b="0" i="0">
                <a:solidFill>
                  <a:srgbClr val="8B949E"/>
                </a:solidFill>
                <a:latin typeface="Segoe UI"/>
              </a:rPr>
              <a:t>a fast, private, explainable way to examine an image before trusting it.</a:t>
            </a:r>
          </a:p>
        </p:txBody>
      </p:sp>
      <p:sp>
        <p:nvSpPr>
          <p:cNvPr id="31" name="TextBox 30"/>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32" name="TextBox 31"/>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03 / 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2EA043"/>
                </a:solidFill>
                <a:latin typeface="Segoe UI"/>
              </a:rPr>
              <a:t>THE SOLUTION</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Introducing TruePix</a:t>
            </a:r>
          </a:p>
        </p:txBody>
      </p:sp>
      <p:sp>
        <p:nvSpPr>
          <p:cNvPr id="5" name="Rectangle 4"/>
          <p:cNvSpPr/>
          <p:nvPr/>
        </p:nvSpPr>
        <p:spPr>
          <a:xfrm>
            <a:off x="585216" y="1389888"/>
            <a:ext cx="822960" cy="41148"/>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11045952" cy="1234440"/>
          </a:xfrm>
          <a:prstGeom prst="roundRect">
            <a:avLst>
              <a:gd name="adj" fmla="val 6000"/>
            </a:avLst>
          </a:prstGeom>
          <a:solidFill>
            <a:srgbClr val="1C232E"/>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847088"/>
            <a:ext cx="10424160" cy="960120"/>
          </a:xfrm>
          <a:prstGeom prst="rect">
            <a:avLst/>
          </a:prstGeom>
          <a:noFill/>
        </p:spPr>
        <p:txBody>
          <a:bodyPr wrap="square" lIns="0" tIns="0" rIns="0" bIns="0" anchor="t">
            <a:spAutoFit/>
          </a:bodyPr>
          <a:lstStyle/>
          <a:p>
            <a:pPr algn="l">
              <a:lnSpc>
                <a:spcPct val="115000"/>
              </a:lnSpc>
              <a:spcAft>
                <a:spcPts val="0"/>
              </a:spcAft>
            </a:pPr>
            <a:r>
              <a:rPr sz="1700" b="0" i="0">
                <a:solidFill>
                  <a:srgbClr val="E6EDF3"/>
                </a:solidFill>
                <a:latin typeface="Segoe UI"/>
              </a:rPr>
              <a:t>TruePix is a lightweight, CPU-only digital-forensics tool that combines </a:t>
            </a:r>
            <a:r>
              <a:rPr sz="1700" b="1" i="0">
                <a:solidFill>
                  <a:srgbClr val="58A6FF"/>
                </a:solidFill>
                <a:latin typeface="Segoe UI"/>
              </a:rPr>
              <a:t>content provenance, metadata and computer-vision heuristics</a:t>
            </a:r>
            <a:r>
              <a:rPr sz="1700" b="0" i="0">
                <a:solidFill>
                  <a:srgbClr val="E6EDF3"/>
                </a:solidFill>
                <a:latin typeface="Segoe UI"/>
              </a:rPr>
              <a:t> into an </a:t>
            </a:r>
            <a:r>
              <a:rPr sz="1700" b="1" i="0">
                <a:solidFill>
                  <a:srgbClr val="2EA043"/>
                </a:solidFill>
                <a:latin typeface="Segoe UI"/>
              </a:rPr>
              <a:t>evidence-based assessment</a:t>
            </a:r>
            <a:r>
              <a:rPr sz="1700" b="0" i="0">
                <a:solidFill>
                  <a:srgbClr val="E6EDF3"/>
                </a:solidFill>
                <a:latin typeface="Segoe UI"/>
              </a:rPr>
              <a:t> of image authenticity — </a:t>
            </a:r>
            <a:r>
              <a:rPr sz="1700" b="1" i="0">
                <a:solidFill>
                  <a:srgbClr val="E0A32E"/>
                </a:solidFill>
                <a:latin typeface="Segoe UI"/>
              </a:rPr>
              <a:t>entirely on your own device.</a:t>
            </a:r>
          </a:p>
        </p:txBody>
      </p:sp>
      <p:sp>
        <p:nvSpPr>
          <p:cNvPr id="8" name="Rounded Rectangle 7"/>
          <p:cNvSpPr/>
          <p:nvPr/>
        </p:nvSpPr>
        <p:spPr>
          <a:xfrm>
            <a:off x="566928" y="3246120"/>
            <a:ext cx="2542032" cy="23317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3246120"/>
            <a:ext cx="2542032"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429000"/>
            <a:ext cx="2176272" cy="594360"/>
          </a:xfrm>
          <a:prstGeom prst="rect">
            <a:avLst/>
          </a:prstGeom>
          <a:noFill/>
        </p:spPr>
        <p:txBody>
          <a:bodyPr wrap="square" lIns="0" tIns="0" rIns="0" bIns="0" anchor="t">
            <a:spAutoFit/>
          </a:bodyPr>
          <a:lstStyle/>
          <a:p>
            <a:pPr algn="l">
              <a:lnSpc>
                <a:spcPct val="100000"/>
              </a:lnSpc>
              <a:spcAft>
                <a:spcPts val="0"/>
              </a:spcAft>
            </a:pPr>
            <a:r>
              <a:rPr sz="1300" b="1" i="0">
                <a:solidFill>
                  <a:srgbClr val="2EA043"/>
                </a:solidFill>
                <a:latin typeface="Segoe UI"/>
              </a:rPr>
              <a:t>PRIVACY-FIRST</a:t>
            </a:r>
          </a:p>
        </p:txBody>
      </p:sp>
      <p:sp>
        <p:nvSpPr>
          <p:cNvPr id="11" name="TextBox 10"/>
          <p:cNvSpPr txBox="1"/>
          <p:nvPr/>
        </p:nvSpPr>
        <p:spPr>
          <a:xfrm>
            <a:off x="749808" y="4069080"/>
            <a:ext cx="2176272" cy="1417320"/>
          </a:xfrm>
          <a:prstGeom prst="rect">
            <a:avLst/>
          </a:prstGeom>
          <a:noFill/>
        </p:spPr>
        <p:txBody>
          <a:bodyPr wrap="square" lIns="0" tIns="0" rIns="0" bIns="0" anchor="t">
            <a:spAutoFit/>
          </a:bodyPr>
          <a:lstStyle/>
          <a:p>
            <a:pPr algn="l">
              <a:lnSpc>
                <a:spcPct val="115000"/>
              </a:lnSpc>
              <a:spcAft>
                <a:spcPts val="0"/>
              </a:spcAft>
            </a:pPr>
            <a:r>
              <a:rPr sz="1200" b="0" i="0">
                <a:solidFill>
                  <a:srgbClr val="E6EDF3"/>
                </a:solidFill>
                <a:latin typeface="Segoe UI"/>
              </a:rPr>
              <a:t>All analysis runs locally. No image ever leaves the machine; there are no network calls by default.</a:t>
            </a:r>
          </a:p>
        </p:txBody>
      </p:sp>
      <p:sp>
        <p:nvSpPr>
          <p:cNvPr id="12" name="Rounded Rectangle 11"/>
          <p:cNvSpPr/>
          <p:nvPr/>
        </p:nvSpPr>
        <p:spPr>
          <a:xfrm>
            <a:off x="3401568" y="3246120"/>
            <a:ext cx="2542032" cy="23317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1568" y="3246120"/>
            <a:ext cx="2542032"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3429000"/>
            <a:ext cx="2176272" cy="594360"/>
          </a:xfrm>
          <a:prstGeom prst="rect">
            <a:avLst/>
          </a:prstGeom>
          <a:noFill/>
        </p:spPr>
        <p:txBody>
          <a:bodyPr wrap="square" lIns="0" tIns="0" rIns="0" bIns="0" anchor="t">
            <a:spAutoFit/>
          </a:bodyPr>
          <a:lstStyle/>
          <a:p>
            <a:pPr algn="l">
              <a:lnSpc>
                <a:spcPct val="100000"/>
              </a:lnSpc>
              <a:spcAft>
                <a:spcPts val="0"/>
              </a:spcAft>
            </a:pPr>
            <a:r>
              <a:rPr sz="1300" b="1" i="0">
                <a:solidFill>
                  <a:srgbClr val="58A6FF"/>
                </a:solidFill>
                <a:latin typeface="Segoe UI"/>
              </a:rPr>
              <a:t>EVIDENCE, NOT ORACLE</a:t>
            </a:r>
          </a:p>
        </p:txBody>
      </p:sp>
      <p:sp>
        <p:nvSpPr>
          <p:cNvPr id="15" name="TextBox 14"/>
          <p:cNvSpPr txBox="1"/>
          <p:nvPr/>
        </p:nvSpPr>
        <p:spPr>
          <a:xfrm>
            <a:off x="3584448" y="4069080"/>
            <a:ext cx="2176272" cy="1417320"/>
          </a:xfrm>
          <a:prstGeom prst="rect">
            <a:avLst/>
          </a:prstGeom>
          <a:noFill/>
        </p:spPr>
        <p:txBody>
          <a:bodyPr wrap="square" lIns="0" tIns="0" rIns="0" bIns="0" anchor="t">
            <a:spAutoFit/>
          </a:bodyPr>
          <a:lstStyle/>
          <a:p>
            <a:pPr algn="l">
              <a:lnSpc>
                <a:spcPct val="115000"/>
              </a:lnSpc>
              <a:spcAft>
                <a:spcPts val="0"/>
              </a:spcAft>
            </a:pPr>
            <a:r>
              <a:rPr sz="1200" b="0" i="0">
                <a:solidFill>
                  <a:srgbClr val="E6EDF3"/>
                </a:solidFill>
                <a:latin typeface="Segoe UI"/>
              </a:rPr>
              <a:t>It shows the clues it found and what they can — and cannot — prove. No mysterious black-box score.</a:t>
            </a:r>
          </a:p>
        </p:txBody>
      </p:sp>
      <p:sp>
        <p:nvSpPr>
          <p:cNvPr id="16" name="Rounded Rectangle 15"/>
          <p:cNvSpPr/>
          <p:nvPr/>
        </p:nvSpPr>
        <p:spPr>
          <a:xfrm>
            <a:off x="6236208" y="3246120"/>
            <a:ext cx="2542032" cy="23317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36208" y="3246120"/>
            <a:ext cx="2542032"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3429000"/>
            <a:ext cx="2176272" cy="594360"/>
          </a:xfrm>
          <a:prstGeom prst="rect">
            <a:avLst/>
          </a:prstGeom>
          <a:noFill/>
        </p:spPr>
        <p:txBody>
          <a:bodyPr wrap="square" lIns="0" tIns="0" rIns="0" bIns="0" anchor="t">
            <a:spAutoFit/>
          </a:bodyPr>
          <a:lstStyle/>
          <a:p>
            <a:pPr algn="l">
              <a:lnSpc>
                <a:spcPct val="100000"/>
              </a:lnSpc>
              <a:spcAft>
                <a:spcPts val="0"/>
              </a:spcAft>
            </a:pPr>
            <a:r>
              <a:rPr sz="1300" b="1" i="0">
                <a:solidFill>
                  <a:srgbClr val="E0A32E"/>
                </a:solidFill>
                <a:latin typeface="Segoe UI"/>
              </a:rPr>
              <a:t>MULTI-SIGNAL</a:t>
            </a:r>
          </a:p>
        </p:txBody>
      </p:sp>
      <p:sp>
        <p:nvSpPr>
          <p:cNvPr id="19" name="TextBox 18"/>
          <p:cNvSpPr txBox="1"/>
          <p:nvPr/>
        </p:nvSpPr>
        <p:spPr>
          <a:xfrm>
            <a:off x="6419088" y="4069080"/>
            <a:ext cx="2176272" cy="1417320"/>
          </a:xfrm>
          <a:prstGeom prst="rect">
            <a:avLst/>
          </a:prstGeom>
          <a:noFill/>
        </p:spPr>
        <p:txBody>
          <a:bodyPr wrap="square" lIns="0" tIns="0" rIns="0" bIns="0" anchor="t">
            <a:spAutoFit/>
          </a:bodyPr>
          <a:lstStyle/>
          <a:p>
            <a:pPr algn="l">
              <a:lnSpc>
                <a:spcPct val="115000"/>
              </a:lnSpc>
              <a:spcAft>
                <a:spcPts val="0"/>
              </a:spcAft>
            </a:pPr>
            <a:r>
              <a:rPr sz="1200" b="0" i="0">
                <a:solidFill>
                  <a:srgbClr val="E6EDF3"/>
                </a:solidFill>
                <a:latin typeface="Segoe UI"/>
              </a:rPr>
              <a:t>8 independent module families examine the file: metadata, provenance, pixels, artifacts and more.</a:t>
            </a:r>
          </a:p>
        </p:txBody>
      </p:sp>
      <p:sp>
        <p:nvSpPr>
          <p:cNvPr id="20" name="Rounded Rectangle 19"/>
          <p:cNvSpPr/>
          <p:nvPr/>
        </p:nvSpPr>
        <p:spPr>
          <a:xfrm>
            <a:off x="9070848" y="3246120"/>
            <a:ext cx="2542032" cy="23317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70848" y="3246120"/>
            <a:ext cx="2542032"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53728" y="3429000"/>
            <a:ext cx="2176272" cy="594360"/>
          </a:xfrm>
          <a:prstGeom prst="rect">
            <a:avLst/>
          </a:prstGeom>
          <a:noFill/>
        </p:spPr>
        <p:txBody>
          <a:bodyPr wrap="square" lIns="0" tIns="0" rIns="0" bIns="0" anchor="t">
            <a:spAutoFit/>
          </a:bodyPr>
          <a:lstStyle/>
          <a:p>
            <a:pPr algn="l">
              <a:lnSpc>
                <a:spcPct val="100000"/>
              </a:lnSpc>
              <a:spcAft>
                <a:spcPts val="0"/>
              </a:spcAft>
            </a:pPr>
            <a:r>
              <a:rPr sz="1300" b="1" i="0">
                <a:solidFill>
                  <a:srgbClr val="E5534B"/>
                </a:solidFill>
                <a:latin typeface="Segoe UI"/>
              </a:rPr>
              <a:t>HONEST BY DESIGN</a:t>
            </a:r>
          </a:p>
        </p:txBody>
      </p:sp>
      <p:sp>
        <p:nvSpPr>
          <p:cNvPr id="23" name="TextBox 22"/>
          <p:cNvSpPr txBox="1"/>
          <p:nvPr/>
        </p:nvSpPr>
        <p:spPr>
          <a:xfrm>
            <a:off x="9253728" y="4069080"/>
            <a:ext cx="2176272" cy="1417320"/>
          </a:xfrm>
          <a:prstGeom prst="rect">
            <a:avLst/>
          </a:prstGeom>
          <a:noFill/>
        </p:spPr>
        <p:txBody>
          <a:bodyPr wrap="square" lIns="0" tIns="0" rIns="0" bIns="0" anchor="t">
            <a:spAutoFit/>
          </a:bodyPr>
          <a:lstStyle/>
          <a:p>
            <a:pPr algn="l">
              <a:lnSpc>
                <a:spcPct val="115000"/>
              </a:lnSpc>
              <a:spcAft>
                <a:spcPts val="0"/>
              </a:spcAft>
            </a:pPr>
            <a:r>
              <a:rPr sz="1200" b="0" i="0">
                <a:solidFill>
                  <a:srgbClr val="E6EDF3"/>
                </a:solidFill>
                <a:latin typeface="Segoe UI"/>
              </a:rPr>
              <a:t>'Absence is never evidence.' Weak signals are capped; conclusions stop short of certainty.</a:t>
            </a:r>
          </a:p>
        </p:txBody>
      </p:sp>
      <p:sp>
        <p:nvSpPr>
          <p:cNvPr id="24" name="TextBox 23"/>
          <p:cNvSpPr txBox="1"/>
          <p:nvPr/>
        </p:nvSpPr>
        <p:spPr>
          <a:xfrm>
            <a:off x="566928" y="5806440"/>
            <a:ext cx="11045952" cy="365760"/>
          </a:xfrm>
          <a:prstGeom prst="rect">
            <a:avLst/>
          </a:prstGeom>
          <a:noFill/>
        </p:spPr>
        <p:txBody>
          <a:bodyPr wrap="square" lIns="0" tIns="0" rIns="0" bIns="0" anchor="t">
            <a:spAutoFit/>
          </a:bodyPr>
          <a:lstStyle/>
          <a:p>
            <a:pPr algn="ctr">
              <a:lnSpc>
                <a:spcPct val="100000"/>
              </a:lnSpc>
              <a:spcAft>
                <a:spcPts val="0"/>
              </a:spcAft>
            </a:pPr>
            <a:r>
              <a:rPr sz="1300" b="0" i="0">
                <a:solidFill>
                  <a:srgbClr val="8B949E"/>
                </a:solidFill>
                <a:latin typeface="Segoe UI"/>
              </a:rPr>
              <a:t>Built for students, journalists and investigators — no GPU, no cloud account, no data leaving the room.</a:t>
            </a:r>
          </a:p>
        </p:txBody>
      </p:sp>
      <p:sp>
        <p:nvSpPr>
          <p:cNvPr id="25" name="TextBox 24"/>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26" name="TextBox 25"/>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04 /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58A6FF"/>
                </a:solidFill>
                <a:latin typeface="Segoe UI"/>
              </a:rPr>
              <a:t>CONCEPT</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The Journey of an Image Through TruePix</a:t>
            </a:r>
          </a:p>
        </p:txBody>
      </p:sp>
      <p:sp>
        <p:nvSpPr>
          <p:cNvPr id="5" name="Rectangle 4"/>
          <p:cNvSpPr/>
          <p:nvPr/>
        </p:nvSpPr>
        <p:spPr>
          <a:xfrm>
            <a:off x="585216" y="1389888"/>
            <a:ext cx="822960" cy="411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hevron 5"/>
          <p:cNvSpPr/>
          <p:nvPr/>
        </p:nvSpPr>
        <p:spPr>
          <a:xfrm>
            <a:off x="566928" y="1920240"/>
            <a:ext cx="2286000" cy="1051560"/>
          </a:xfrm>
          <a:prstGeom prst="chevron">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1" y="2350008"/>
            <a:ext cx="1892807" cy="320040"/>
          </a:xfrm>
          <a:prstGeom prst="rect">
            <a:avLst/>
          </a:prstGeom>
          <a:noFill/>
        </p:spPr>
        <p:txBody>
          <a:bodyPr wrap="square" lIns="0" tIns="0" rIns="0" bIns="0" anchor="t">
            <a:spAutoFit/>
          </a:bodyPr>
          <a:lstStyle/>
          <a:p>
            <a:pPr algn="l">
              <a:lnSpc>
                <a:spcPct val="100000"/>
              </a:lnSpc>
              <a:spcAft>
                <a:spcPts val="0"/>
              </a:spcAft>
            </a:pPr>
            <a:r>
              <a:rPr sz="1250" b="1" i="0" dirty="0">
                <a:solidFill>
                  <a:srgbClr val="58A6FF"/>
                </a:solidFill>
                <a:latin typeface="Segoe UI"/>
              </a:rPr>
              <a:t>1. UPLOAD</a:t>
            </a:r>
          </a:p>
        </p:txBody>
      </p:sp>
      <p:sp>
        <p:nvSpPr>
          <p:cNvPr id="8" name="Chevron 7"/>
          <p:cNvSpPr/>
          <p:nvPr/>
        </p:nvSpPr>
        <p:spPr>
          <a:xfrm>
            <a:off x="2798064" y="1920240"/>
            <a:ext cx="2286000" cy="1051560"/>
          </a:xfrm>
          <a:prstGeom prst="chevron">
            <a:avLst/>
          </a:prstGeom>
          <a:solidFill>
            <a:srgbClr val="161B22"/>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92424" y="2345436"/>
            <a:ext cx="1892807" cy="320040"/>
          </a:xfrm>
          <a:prstGeom prst="rect">
            <a:avLst/>
          </a:prstGeom>
          <a:noFill/>
        </p:spPr>
        <p:txBody>
          <a:bodyPr wrap="square" lIns="0" tIns="0" rIns="0" bIns="0" anchor="t">
            <a:spAutoFit/>
          </a:bodyPr>
          <a:lstStyle/>
          <a:p>
            <a:pPr algn="l">
              <a:lnSpc>
                <a:spcPct val="100000"/>
              </a:lnSpc>
              <a:spcAft>
                <a:spcPts val="0"/>
              </a:spcAft>
            </a:pPr>
            <a:r>
              <a:rPr sz="1250" b="1" i="0" dirty="0">
                <a:solidFill>
                  <a:srgbClr val="2EA043"/>
                </a:solidFill>
                <a:latin typeface="Segoe UI"/>
              </a:rPr>
              <a:t>2. VALIDATE + HASH</a:t>
            </a:r>
          </a:p>
        </p:txBody>
      </p:sp>
      <p:sp>
        <p:nvSpPr>
          <p:cNvPr id="10" name="Chevron 9"/>
          <p:cNvSpPr/>
          <p:nvPr/>
        </p:nvSpPr>
        <p:spPr>
          <a:xfrm>
            <a:off x="5029200" y="1920240"/>
            <a:ext cx="2286000" cy="1051560"/>
          </a:xfrm>
          <a:prstGeom prst="chevron">
            <a:avLst/>
          </a:prstGeom>
          <a:solidFill>
            <a:srgbClr val="161B22"/>
          </a:solidFill>
          <a:ln w="19050">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23560" y="2322576"/>
            <a:ext cx="1892807" cy="320040"/>
          </a:xfrm>
          <a:prstGeom prst="rect">
            <a:avLst/>
          </a:prstGeom>
          <a:noFill/>
        </p:spPr>
        <p:txBody>
          <a:bodyPr wrap="square" lIns="0" tIns="0" rIns="0" bIns="0" anchor="t">
            <a:spAutoFit/>
          </a:bodyPr>
          <a:lstStyle/>
          <a:p>
            <a:pPr algn="l">
              <a:lnSpc>
                <a:spcPct val="100000"/>
              </a:lnSpc>
              <a:spcAft>
                <a:spcPts val="0"/>
              </a:spcAft>
            </a:pPr>
            <a:r>
              <a:rPr sz="1250" b="1" i="0" dirty="0">
                <a:solidFill>
                  <a:srgbClr val="E0A32E"/>
                </a:solidFill>
                <a:latin typeface="Segoe UI"/>
              </a:rPr>
              <a:t>3. RUN 8 MODULES</a:t>
            </a:r>
          </a:p>
        </p:txBody>
      </p:sp>
      <p:sp>
        <p:nvSpPr>
          <p:cNvPr id="12" name="Chevron 11"/>
          <p:cNvSpPr/>
          <p:nvPr/>
        </p:nvSpPr>
        <p:spPr>
          <a:xfrm>
            <a:off x="7260336" y="1920240"/>
            <a:ext cx="2286000" cy="1051560"/>
          </a:xfrm>
          <a:prstGeom prst="chevron">
            <a:avLst/>
          </a:prstGeom>
          <a:solidFill>
            <a:srgbClr val="161B22"/>
          </a:solidFill>
          <a:ln w="19050">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0640" y="2313432"/>
            <a:ext cx="1892807" cy="192360"/>
          </a:xfrm>
          <a:prstGeom prst="rect">
            <a:avLst/>
          </a:prstGeom>
          <a:noFill/>
          <a:ln>
            <a:solidFill>
              <a:schemeClr val="tx1"/>
            </a:solidFill>
          </a:ln>
        </p:spPr>
        <p:txBody>
          <a:bodyPr wrap="square" lIns="0" tIns="0" rIns="0" bIns="0" anchor="t">
            <a:spAutoFit/>
          </a:bodyPr>
          <a:lstStyle/>
          <a:p>
            <a:pPr algn="l">
              <a:lnSpc>
                <a:spcPct val="100000"/>
              </a:lnSpc>
              <a:spcAft>
                <a:spcPts val="0"/>
              </a:spcAft>
            </a:pPr>
            <a:r>
              <a:rPr sz="1250" b="1" i="0" dirty="0">
                <a:solidFill>
                  <a:srgbClr val="E0A32E"/>
                </a:solidFill>
                <a:latin typeface="Segoe UI"/>
              </a:rPr>
              <a:t>4. </a:t>
            </a:r>
            <a:r>
              <a:rPr sz="1250" b="1" dirty="0">
                <a:solidFill>
                  <a:srgbClr val="E0A32E"/>
                </a:solidFill>
                <a:latin typeface="Segoe UI"/>
              </a:rPr>
              <a:t>WEIGHT</a:t>
            </a:r>
            <a:r>
              <a:rPr sz="1250" b="1" i="0" dirty="0">
                <a:solidFill>
                  <a:srgbClr val="E0A32E"/>
                </a:solidFill>
                <a:latin typeface="Segoe UI"/>
              </a:rPr>
              <a:t> EVIDENCE</a:t>
            </a:r>
          </a:p>
        </p:txBody>
      </p:sp>
      <p:sp>
        <p:nvSpPr>
          <p:cNvPr id="14" name="Chevron 13"/>
          <p:cNvSpPr/>
          <p:nvPr/>
        </p:nvSpPr>
        <p:spPr>
          <a:xfrm>
            <a:off x="9491472" y="1920240"/>
            <a:ext cx="2286000" cy="1051560"/>
          </a:xfrm>
          <a:prstGeom prst="chevron">
            <a:avLst/>
          </a:prstGeom>
          <a:solidFill>
            <a:srgbClr val="161B22"/>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36912" y="2345436"/>
            <a:ext cx="1892807" cy="320040"/>
          </a:xfrm>
          <a:prstGeom prst="rect">
            <a:avLst/>
          </a:prstGeom>
          <a:noFill/>
        </p:spPr>
        <p:txBody>
          <a:bodyPr wrap="square" lIns="0" tIns="0" rIns="0" bIns="0" anchor="t">
            <a:spAutoFit/>
          </a:bodyPr>
          <a:lstStyle/>
          <a:p>
            <a:pPr algn="l">
              <a:lnSpc>
                <a:spcPct val="100000"/>
              </a:lnSpc>
              <a:spcAft>
                <a:spcPts val="0"/>
              </a:spcAft>
            </a:pPr>
            <a:r>
              <a:rPr sz="1250" b="1" i="0" dirty="0">
                <a:solidFill>
                  <a:srgbClr val="2EA043"/>
                </a:solidFill>
                <a:latin typeface="Segoe UI"/>
              </a:rPr>
              <a:t>5. VERDICT + REPORT</a:t>
            </a:r>
          </a:p>
        </p:txBody>
      </p:sp>
      <p:sp>
        <p:nvSpPr>
          <p:cNvPr id="16" name="TextBox 15"/>
          <p:cNvSpPr txBox="1"/>
          <p:nvPr/>
        </p:nvSpPr>
        <p:spPr>
          <a:xfrm>
            <a:off x="731520" y="3127248"/>
            <a:ext cx="2029967" cy="914400"/>
          </a:xfrm>
          <a:prstGeom prst="rect">
            <a:avLst/>
          </a:prstGeom>
          <a:noFill/>
        </p:spPr>
        <p:txBody>
          <a:bodyPr wrap="square" lIns="0" tIns="0" rIns="0" bIns="0" anchor="t">
            <a:spAutoFit/>
          </a:bodyPr>
          <a:lstStyle/>
          <a:p>
            <a:pPr algn="l">
              <a:lnSpc>
                <a:spcPct val="110000"/>
              </a:lnSpc>
              <a:spcAft>
                <a:spcPts val="0"/>
              </a:spcAft>
            </a:pPr>
            <a:r>
              <a:rPr sz="1100" b="0" i="0">
                <a:solidFill>
                  <a:srgbClr val="8B949E"/>
                </a:solidFill>
                <a:latin typeface="Segoe UI"/>
              </a:rPr>
              <a:t>Drag &amp; drop
JPG / PNG / WebP
(up to 25 MB)</a:t>
            </a:r>
          </a:p>
        </p:txBody>
      </p:sp>
      <p:sp>
        <p:nvSpPr>
          <p:cNvPr id="17" name="TextBox 16"/>
          <p:cNvSpPr txBox="1"/>
          <p:nvPr/>
        </p:nvSpPr>
        <p:spPr>
          <a:xfrm>
            <a:off x="2962656" y="3127248"/>
            <a:ext cx="2029967" cy="914400"/>
          </a:xfrm>
          <a:prstGeom prst="rect">
            <a:avLst/>
          </a:prstGeom>
          <a:noFill/>
        </p:spPr>
        <p:txBody>
          <a:bodyPr wrap="square" lIns="0" tIns="0" rIns="0" bIns="0" anchor="t">
            <a:spAutoFit/>
          </a:bodyPr>
          <a:lstStyle/>
          <a:p>
            <a:pPr algn="l">
              <a:lnSpc>
                <a:spcPct val="110000"/>
              </a:lnSpc>
              <a:spcAft>
                <a:spcPts val="0"/>
              </a:spcAft>
            </a:pPr>
            <a:r>
              <a:rPr sz="1100" b="0" i="0">
                <a:solidFill>
                  <a:srgbClr val="8B949E"/>
                </a:solidFill>
                <a:latin typeface="Segoe UI"/>
              </a:rPr>
              <a:t>Safe decode,
SHA-256 fingerprint
of the exact file</a:t>
            </a:r>
          </a:p>
        </p:txBody>
      </p:sp>
      <p:sp>
        <p:nvSpPr>
          <p:cNvPr id="18" name="TextBox 17"/>
          <p:cNvSpPr txBox="1"/>
          <p:nvPr/>
        </p:nvSpPr>
        <p:spPr>
          <a:xfrm>
            <a:off x="5193792" y="3127248"/>
            <a:ext cx="2029967" cy="914400"/>
          </a:xfrm>
          <a:prstGeom prst="rect">
            <a:avLst/>
          </a:prstGeom>
          <a:noFill/>
        </p:spPr>
        <p:txBody>
          <a:bodyPr wrap="square" lIns="0" tIns="0" rIns="0" bIns="0" anchor="t">
            <a:spAutoFit/>
          </a:bodyPr>
          <a:lstStyle/>
          <a:p>
            <a:pPr algn="l">
              <a:lnSpc>
                <a:spcPct val="110000"/>
              </a:lnSpc>
              <a:spcAft>
                <a:spcPts val="0"/>
              </a:spcAft>
            </a:pPr>
            <a:r>
              <a:rPr sz="1100" b="0" i="0">
                <a:solidFill>
                  <a:srgbClr val="8B949E"/>
                </a:solidFill>
                <a:latin typeface="Segoe UI"/>
              </a:rPr>
              <a:t>Metadata · C2PA
ELA · noise · artifacts
JPEG history · CFA</a:t>
            </a:r>
          </a:p>
        </p:txBody>
      </p:sp>
      <p:sp>
        <p:nvSpPr>
          <p:cNvPr id="19" name="TextBox 18"/>
          <p:cNvSpPr txBox="1"/>
          <p:nvPr/>
        </p:nvSpPr>
        <p:spPr>
          <a:xfrm>
            <a:off x="7424927" y="3127248"/>
            <a:ext cx="2029967" cy="914400"/>
          </a:xfrm>
          <a:prstGeom prst="rect">
            <a:avLst/>
          </a:prstGeom>
          <a:noFill/>
        </p:spPr>
        <p:txBody>
          <a:bodyPr wrap="square" lIns="0" tIns="0" rIns="0" bIns="0" anchor="t">
            <a:spAutoFit/>
          </a:bodyPr>
          <a:lstStyle/>
          <a:p>
            <a:pPr algn="l">
              <a:lnSpc>
                <a:spcPct val="110000"/>
              </a:lnSpc>
              <a:spcAft>
                <a:spcPts val="0"/>
              </a:spcAft>
            </a:pPr>
            <a:r>
              <a:rPr sz="1100" b="0" i="0">
                <a:solidFill>
                  <a:srgbClr val="8B949E"/>
                </a:solidFill>
                <a:latin typeface="Segoe UI"/>
              </a:rPr>
              <a:t>Risk engine caps
weak signals, detects
conflicts</a:t>
            </a:r>
          </a:p>
        </p:txBody>
      </p:sp>
      <p:sp>
        <p:nvSpPr>
          <p:cNvPr id="20" name="TextBox 19"/>
          <p:cNvSpPr txBox="1"/>
          <p:nvPr/>
        </p:nvSpPr>
        <p:spPr>
          <a:xfrm>
            <a:off x="9656063" y="3127248"/>
            <a:ext cx="2029967" cy="914400"/>
          </a:xfrm>
          <a:prstGeom prst="rect">
            <a:avLst/>
          </a:prstGeom>
          <a:noFill/>
        </p:spPr>
        <p:txBody>
          <a:bodyPr wrap="square" lIns="0" tIns="0" rIns="0" bIns="0" anchor="t">
            <a:spAutoFit/>
          </a:bodyPr>
          <a:lstStyle/>
          <a:p>
            <a:pPr algn="l">
              <a:lnSpc>
                <a:spcPct val="110000"/>
              </a:lnSpc>
              <a:spcAft>
                <a:spcPts val="0"/>
              </a:spcAft>
            </a:pPr>
            <a:r>
              <a:rPr sz="1100" b="0" i="0">
                <a:solidFill>
                  <a:srgbClr val="8B949E"/>
                </a:solidFill>
                <a:latin typeface="Segoe UI"/>
              </a:rPr>
              <a:t>Plain-language result
JSON + PDF export</a:t>
            </a:r>
          </a:p>
        </p:txBody>
      </p:sp>
      <p:sp>
        <p:nvSpPr>
          <p:cNvPr id="21" name="Rounded Rectangle 20"/>
          <p:cNvSpPr/>
          <p:nvPr/>
        </p:nvSpPr>
        <p:spPr>
          <a:xfrm>
            <a:off x="566928" y="4434840"/>
            <a:ext cx="5394960" cy="155448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66928" y="4434840"/>
            <a:ext cx="5394960"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562855"/>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2EA043"/>
                </a:solidFill>
                <a:latin typeface="Segoe UI"/>
              </a:rPr>
              <a:t>Safety net inside the pipeline</a:t>
            </a:r>
          </a:p>
        </p:txBody>
      </p:sp>
      <p:sp>
        <p:nvSpPr>
          <p:cNvPr id="24" name="TextBox 23"/>
          <p:cNvSpPr txBox="1"/>
          <p:nvPr/>
        </p:nvSpPr>
        <p:spPr>
          <a:xfrm>
            <a:off x="868680" y="4892040"/>
            <a:ext cx="4937760" cy="1005840"/>
          </a:xfrm>
          <a:prstGeom prst="rect">
            <a:avLst/>
          </a:prstGeom>
          <a:noFill/>
        </p:spPr>
        <p:txBody>
          <a:bodyPr wrap="square" lIns="0" tIns="0" rIns="0" bIns="0">
            <a:spAutoFit/>
          </a:bodyPr>
          <a:lstStyle/>
          <a:p>
            <a:pPr>
              <a:lnSpc>
                <a:spcPct val="105000"/>
              </a:lnSpc>
              <a:spcAft>
                <a:spcPts val="600"/>
              </a:spcAft>
            </a:pPr>
            <a:r>
              <a:rPr sz="1250" b="1">
                <a:solidFill>
                  <a:srgbClr val="58A6FF"/>
                </a:solidFill>
                <a:latin typeface="Segoe UI"/>
              </a:rPr>
              <a:t>•  </a:t>
            </a:r>
            <a:r>
              <a:rPr sz="1250" b="0">
                <a:solidFill>
                  <a:srgbClr val="E6EDF3"/>
                </a:solidFill>
                <a:latin typeface="Segoe UI"/>
              </a:rPr>
              <a:t>If any module fails, the others still run — one bug never crashes the analysis.</a:t>
            </a:r>
          </a:p>
          <a:p>
            <a:pPr>
              <a:lnSpc>
                <a:spcPct val="105000"/>
              </a:lnSpc>
              <a:spcAft>
                <a:spcPts val="600"/>
              </a:spcAft>
            </a:pPr>
            <a:r>
              <a:rPr sz="1250" b="1">
                <a:solidFill>
                  <a:srgbClr val="58A6FF"/>
                </a:solidFill>
                <a:latin typeface="Segoe UI"/>
              </a:rPr>
              <a:t>•  </a:t>
            </a:r>
            <a:r>
              <a:rPr sz="1250" b="0">
                <a:solidFill>
                  <a:srgbClr val="E6EDF3"/>
                </a:solidFill>
                <a:latin typeface="Segoe UI"/>
              </a:rPr>
              <a:t>A failed module is reported as 'unavailable', never silently skipped.</a:t>
            </a:r>
          </a:p>
        </p:txBody>
      </p:sp>
      <p:sp>
        <p:nvSpPr>
          <p:cNvPr id="25" name="Rounded Rectangle 24"/>
          <p:cNvSpPr/>
          <p:nvPr/>
        </p:nvSpPr>
        <p:spPr>
          <a:xfrm>
            <a:off x="6217920" y="4434840"/>
            <a:ext cx="5394960" cy="155448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4434840"/>
            <a:ext cx="5394960"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82512" y="4562855"/>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No single signal decides</a:t>
            </a:r>
          </a:p>
        </p:txBody>
      </p:sp>
      <p:sp>
        <p:nvSpPr>
          <p:cNvPr id="28" name="TextBox 27"/>
          <p:cNvSpPr txBox="1"/>
          <p:nvPr/>
        </p:nvSpPr>
        <p:spPr>
          <a:xfrm>
            <a:off x="6519672" y="4892040"/>
            <a:ext cx="4937760" cy="1005840"/>
          </a:xfrm>
          <a:prstGeom prst="rect">
            <a:avLst/>
          </a:prstGeom>
          <a:noFill/>
        </p:spPr>
        <p:txBody>
          <a:bodyPr wrap="square" lIns="0" tIns="0" rIns="0" bIns="0">
            <a:spAutoFit/>
          </a:bodyPr>
          <a:lstStyle/>
          <a:p>
            <a:pPr>
              <a:lnSpc>
                <a:spcPct val="105000"/>
              </a:lnSpc>
              <a:spcAft>
                <a:spcPts val="600"/>
              </a:spcAft>
            </a:pPr>
            <a:r>
              <a:rPr sz="1250" b="1">
                <a:solidFill>
                  <a:srgbClr val="58A6FF"/>
                </a:solidFill>
                <a:latin typeface="Segoe UI"/>
              </a:rPr>
              <a:t>•  </a:t>
            </a:r>
            <a:r>
              <a:rPr sz="1250" b="0">
                <a:solidFill>
                  <a:srgbClr val="E6EDF3"/>
                </a:solidFill>
                <a:latin typeface="Segoe UI"/>
              </a:rPr>
              <a:t>Each evidence family has a maximum allowed weight ('cap').</a:t>
            </a:r>
          </a:p>
          <a:p>
            <a:pPr>
              <a:lnSpc>
                <a:spcPct val="105000"/>
              </a:lnSpc>
              <a:spcAft>
                <a:spcPts val="600"/>
              </a:spcAft>
            </a:pPr>
            <a:r>
              <a:rPr sz="1250" b="1">
                <a:solidFill>
                  <a:srgbClr val="58A6FF"/>
                </a:solidFill>
                <a:latin typeface="Segoe UI"/>
              </a:rPr>
              <a:t>•  </a:t>
            </a:r>
            <a:r>
              <a:rPr sz="1250" b="0">
                <a:solidFill>
                  <a:srgbClr val="E6EDF3"/>
                </a:solidFill>
                <a:latin typeface="Segoe UI"/>
              </a:rPr>
              <a:t>Even a perfect-looking heuristic can never alone declare an image AI-generated.</a:t>
            </a:r>
          </a:p>
        </p:txBody>
      </p:sp>
      <p:sp>
        <p:nvSpPr>
          <p:cNvPr id="29" name="TextBox 28"/>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30" name="TextBox 29"/>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05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58A6FF"/>
                </a:solidFill>
                <a:latin typeface="Segoe UI"/>
              </a:rPr>
              <a:t>ARCHITECTURE</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Under the Hood: How TruePix Analyzes an Image</a:t>
            </a:r>
          </a:p>
        </p:txBody>
      </p:sp>
      <p:sp>
        <p:nvSpPr>
          <p:cNvPr id="5" name="Rectangle 4"/>
          <p:cNvSpPr/>
          <p:nvPr/>
        </p:nvSpPr>
        <p:spPr>
          <a:xfrm>
            <a:off x="585216" y="1389888"/>
            <a:ext cx="822960" cy="411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828800"/>
            <a:ext cx="1691640" cy="1005840"/>
          </a:xfrm>
          <a:prstGeom prst="roundRect">
            <a:avLst>
              <a:gd name="adj" fmla="val 6000"/>
            </a:avLst>
          </a:prstGeom>
          <a:solidFill>
            <a:srgbClr val="1C232E"/>
          </a:solidFill>
          <a:ln w="952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956816"/>
            <a:ext cx="1691640" cy="365760"/>
          </a:xfrm>
          <a:prstGeom prst="rect">
            <a:avLst/>
          </a:prstGeom>
          <a:noFill/>
        </p:spPr>
        <p:txBody>
          <a:bodyPr wrap="square" lIns="0" tIns="0" rIns="0" bIns="0" anchor="t">
            <a:spAutoFit/>
          </a:bodyPr>
          <a:lstStyle/>
          <a:p>
            <a:pPr algn="ctr">
              <a:lnSpc>
                <a:spcPct val="100000"/>
              </a:lnSpc>
              <a:spcAft>
                <a:spcPts val="0"/>
              </a:spcAft>
            </a:pPr>
            <a:r>
              <a:rPr sz="1250" b="1" i="0">
                <a:solidFill>
                  <a:srgbClr val="58A6FF"/>
                </a:solidFill>
                <a:latin typeface="Segoe UI"/>
              </a:rPr>
              <a:t>IMAGE FILE</a:t>
            </a:r>
          </a:p>
        </p:txBody>
      </p:sp>
      <p:sp>
        <p:nvSpPr>
          <p:cNvPr id="8" name="TextBox 7"/>
          <p:cNvSpPr txBox="1"/>
          <p:nvPr/>
        </p:nvSpPr>
        <p:spPr>
          <a:xfrm>
            <a:off x="566928" y="2286000"/>
            <a:ext cx="1691640" cy="457200"/>
          </a:xfrm>
          <a:prstGeom prst="rect">
            <a:avLst/>
          </a:prstGeom>
          <a:noFill/>
        </p:spPr>
        <p:txBody>
          <a:bodyPr wrap="square" lIns="0" tIns="0" rIns="0" bIns="0" anchor="t">
            <a:spAutoFit/>
          </a:bodyPr>
          <a:lstStyle/>
          <a:p>
            <a:pPr algn="ctr">
              <a:lnSpc>
                <a:spcPct val="100000"/>
              </a:lnSpc>
              <a:spcAft>
                <a:spcPts val="0"/>
              </a:spcAft>
            </a:pPr>
            <a:r>
              <a:rPr sz="1050" b="0" i="0">
                <a:solidFill>
                  <a:srgbClr val="8B949E"/>
                </a:solidFill>
                <a:latin typeface="Segoe UI"/>
              </a:rPr>
              <a:t>upload → validate
SHA-256</a:t>
            </a:r>
          </a:p>
        </p:txBody>
      </p:sp>
      <p:sp>
        <p:nvSpPr>
          <p:cNvPr id="9" name="Rounded Rectangle 8"/>
          <p:cNvSpPr/>
          <p:nvPr/>
        </p:nvSpPr>
        <p:spPr>
          <a:xfrm>
            <a:off x="2880360" y="1645920"/>
            <a:ext cx="5806440" cy="3950208"/>
          </a:xfrm>
          <a:prstGeom prst="roundRect">
            <a:avLst>
              <a:gd name="adj" fmla="val 6000"/>
            </a:avLst>
          </a:prstGeom>
          <a:no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63240" y="1755648"/>
            <a:ext cx="5486400" cy="292608"/>
          </a:xfrm>
          <a:prstGeom prst="rect">
            <a:avLst/>
          </a:prstGeom>
          <a:noFill/>
        </p:spPr>
        <p:txBody>
          <a:bodyPr wrap="square" lIns="0" tIns="0" rIns="0" bIns="0" anchor="t">
            <a:spAutoFit/>
          </a:bodyPr>
          <a:lstStyle/>
          <a:p>
            <a:pPr algn="l">
              <a:lnSpc>
                <a:spcPct val="100000"/>
              </a:lnSpc>
              <a:spcAft>
                <a:spcPts val="0"/>
              </a:spcAft>
            </a:pPr>
            <a:r>
              <a:rPr sz="1100" b="1" i="0">
                <a:solidFill>
                  <a:srgbClr val="8B949E"/>
                </a:solidFill>
                <a:latin typeface="Segoe UI"/>
              </a:rPr>
              <a:t>ANALYSIS MODULES  (run safely in parallel · each failure isolated)</a:t>
            </a:r>
          </a:p>
        </p:txBody>
      </p:sp>
      <p:sp>
        <p:nvSpPr>
          <p:cNvPr id="11" name="Rounded Rectangle 10"/>
          <p:cNvSpPr/>
          <p:nvPr/>
        </p:nvSpPr>
        <p:spPr>
          <a:xfrm>
            <a:off x="3035808" y="2121408"/>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63824" y="2194560"/>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58A6FF"/>
                </a:solidFill>
                <a:latin typeface="Segoe UI"/>
              </a:rPr>
              <a:t>Metadata</a:t>
            </a:r>
          </a:p>
        </p:txBody>
      </p:sp>
      <p:sp>
        <p:nvSpPr>
          <p:cNvPr id="13" name="TextBox 12"/>
          <p:cNvSpPr txBox="1"/>
          <p:nvPr/>
        </p:nvSpPr>
        <p:spPr>
          <a:xfrm>
            <a:off x="3163824" y="2468879"/>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EXIF / PNG text, AI &amp; editor software</a:t>
            </a:r>
          </a:p>
        </p:txBody>
      </p:sp>
      <p:sp>
        <p:nvSpPr>
          <p:cNvPr id="14" name="Rounded Rectangle 13"/>
          <p:cNvSpPr/>
          <p:nvPr/>
        </p:nvSpPr>
        <p:spPr>
          <a:xfrm>
            <a:off x="5888736" y="2121408"/>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16751" y="2194560"/>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2EA043"/>
                </a:solidFill>
                <a:latin typeface="Segoe UI"/>
              </a:rPr>
              <a:t>C2PA Provenance</a:t>
            </a:r>
          </a:p>
        </p:txBody>
      </p:sp>
      <p:sp>
        <p:nvSpPr>
          <p:cNvPr id="16" name="TextBox 15"/>
          <p:cNvSpPr txBox="1"/>
          <p:nvPr/>
        </p:nvSpPr>
        <p:spPr>
          <a:xfrm>
            <a:off x="6016751" y="2468879"/>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Content Credentials scan (3 states)</a:t>
            </a:r>
          </a:p>
        </p:txBody>
      </p:sp>
      <p:sp>
        <p:nvSpPr>
          <p:cNvPr id="17" name="Rounded Rectangle 16"/>
          <p:cNvSpPr/>
          <p:nvPr/>
        </p:nvSpPr>
        <p:spPr>
          <a:xfrm>
            <a:off x="3035808" y="2980944"/>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163824" y="3054096"/>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E0A32E"/>
                </a:solidFill>
                <a:latin typeface="Segoe UI"/>
              </a:rPr>
              <a:t>Image Forensics</a:t>
            </a:r>
          </a:p>
        </p:txBody>
      </p:sp>
      <p:sp>
        <p:nvSpPr>
          <p:cNvPr id="19" name="TextBox 18"/>
          <p:cNvSpPr txBox="1"/>
          <p:nvPr/>
        </p:nvSpPr>
        <p:spPr>
          <a:xfrm>
            <a:off x="3163824" y="3328415"/>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ELA · noise · edges · DCT · 8×8</a:t>
            </a:r>
          </a:p>
        </p:txBody>
      </p:sp>
      <p:sp>
        <p:nvSpPr>
          <p:cNvPr id="20" name="Rounded Rectangle 19"/>
          <p:cNvSpPr/>
          <p:nvPr/>
        </p:nvSpPr>
        <p:spPr>
          <a:xfrm>
            <a:off x="5888736" y="2980944"/>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16751" y="3054096"/>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E0A32E"/>
                </a:solidFill>
                <a:latin typeface="Segoe UI"/>
              </a:rPr>
              <a:t>Visual Artifacts</a:t>
            </a:r>
          </a:p>
        </p:txBody>
      </p:sp>
      <p:sp>
        <p:nvSpPr>
          <p:cNvPr id="22" name="TextBox 21"/>
          <p:cNvSpPr txBox="1"/>
          <p:nvPr/>
        </p:nvSpPr>
        <p:spPr>
          <a:xfrm>
            <a:off x="6016751" y="3328415"/>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texture, repetition, illumination checks</a:t>
            </a:r>
          </a:p>
        </p:txBody>
      </p:sp>
      <p:sp>
        <p:nvSpPr>
          <p:cNvPr id="23" name="Rounded Rectangle 22"/>
          <p:cNvSpPr/>
          <p:nvPr/>
        </p:nvSpPr>
        <p:spPr>
          <a:xfrm>
            <a:off x="3035808" y="3840479"/>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63824" y="3913631"/>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58A6FF"/>
                </a:solidFill>
                <a:latin typeface="Segoe UI"/>
              </a:rPr>
              <a:t>JPEG History</a:t>
            </a:r>
          </a:p>
        </p:txBody>
      </p:sp>
      <p:sp>
        <p:nvSpPr>
          <p:cNvPr id="25" name="TextBox 24"/>
          <p:cNvSpPr txBox="1"/>
          <p:nvPr/>
        </p:nvSpPr>
        <p:spPr>
          <a:xfrm>
            <a:off x="3163824" y="4187951"/>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prior-compression 'ghost' sweep</a:t>
            </a:r>
          </a:p>
        </p:txBody>
      </p:sp>
      <p:sp>
        <p:nvSpPr>
          <p:cNvPr id="26" name="Rounded Rectangle 25"/>
          <p:cNvSpPr/>
          <p:nvPr/>
        </p:nvSpPr>
        <p:spPr>
          <a:xfrm>
            <a:off x="5888736" y="3840479"/>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16751" y="3913631"/>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2EA043"/>
                </a:solidFill>
                <a:latin typeface="Segoe UI"/>
              </a:rPr>
              <a:t>CFA / Demosaic</a:t>
            </a:r>
          </a:p>
        </p:txBody>
      </p:sp>
      <p:sp>
        <p:nvSpPr>
          <p:cNvPr id="28" name="TextBox 27"/>
          <p:cNvSpPr txBox="1"/>
          <p:nvPr/>
        </p:nvSpPr>
        <p:spPr>
          <a:xfrm>
            <a:off x="6016751" y="4187951"/>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camera-sensor 2-px signature</a:t>
            </a:r>
          </a:p>
        </p:txBody>
      </p:sp>
      <p:sp>
        <p:nvSpPr>
          <p:cNvPr id="29" name="Rounded Rectangle 28"/>
          <p:cNvSpPr/>
          <p:nvPr/>
        </p:nvSpPr>
        <p:spPr>
          <a:xfrm>
            <a:off x="3035808" y="4700016"/>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163824" y="4773168"/>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E5534B"/>
                </a:solidFill>
                <a:latin typeface="Segoe UI"/>
              </a:rPr>
              <a:t>Watermark Scan</a:t>
            </a:r>
          </a:p>
        </p:txBody>
      </p:sp>
      <p:sp>
        <p:nvSpPr>
          <p:cNvPr id="31" name="TextBox 30"/>
          <p:cNvSpPr txBox="1"/>
          <p:nvPr/>
        </p:nvSpPr>
        <p:spPr>
          <a:xfrm>
            <a:off x="3163824" y="5047488"/>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SynthID-style markers + phase</a:t>
            </a:r>
          </a:p>
        </p:txBody>
      </p:sp>
      <p:sp>
        <p:nvSpPr>
          <p:cNvPr id="32" name="Rounded Rectangle 31"/>
          <p:cNvSpPr/>
          <p:nvPr/>
        </p:nvSpPr>
        <p:spPr>
          <a:xfrm>
            <a:off x="5888736" y="4700016"/>
            <a:ext cx="2724912" cy="768096"/>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16751" y="4773168"/>
            <a:ext cx="2514600" cy="274320"/>
          </a:xfrm>
          <a:prstGeom prst="rect">
            <a:avLst/>
          </a:prstGeom>
          <a:noFill/>
        </p:spPr>
        <p:txBody>
          <a:bodyPr wrap="square" lIns="0" tIns="0" rIns="0" bIns="0" anchor="t">
            <a:spAutoFit/>
          </a:bodyPr>
          <a:lstStyle/>
          <a:p>
            <a:pPr algn="l">
              <a:lnSpc>
                <a:spcPct val="100000"/>
              </a:lnSpc>
              <a:spcAft>
                <a:spcPts val="0"/>
              </a:spcAft>
            </a:pPr>
            <a:r>
              <a:rPr sz="1150" b="1" i="0">
                <a:solidFill>
                  <a:srgbClr val="E5534B"/>
                </a:solidFill>
                <a:latin typeface="Segoe UI"/>
              </a:rPr>
              <a:t>AI Detector (opt-in)</a:t>
            </a:r>
          </a:p>
        </p:txBody>
      </p:sp>
      <p:sp>
        <p:nvSpPr>
          <p:cNvPr id="34" name="TextBox 33"/>
          <p:cNvSpPr txBox="1"/>
          <p:nvPr/>
        </p:nvSpPr>
        <p:spPr>
          <a:xfrm>
            <a:off x="6016751" y="5047488"/>
            <a:ext cx="2514600" cy="384048"/>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local models only, ensemble vote</a:t>
            </a:r>
          </a:p>
        </p:txBody>
      </p:sp>
      <p:cxnSp>
        <p:nvCxnSpPr>
          <p:cNvPr id="35" name="Connector 34"/>
          <p:cNvCxnSpPr/>
          <p:nvPr/>
        </p:nvCxnSpPr>
        <p:spPr>
          <a:xfrm>
            <a:off x="2258568" y="2331720"/>
            <a:ext cx="621792" cy="0"/>
          </a:xfrm>
          <a:prstGeom prst="line">
            <a:avLst/>
          </a:prstGeom>
          <a:ln w="25400">
            <a:solidFill>
              <a:srgbClr val="58A6F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258568" y="2331720"/>
            <a:ext cx="621792" cy="777240"/>
          </a:xfrm>
          <a:prstGeom prst="line">
            <a:avLst/>
          </a:prstGeom>
          <a:ln w="12700">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258568" y="2331720"/>
            <a:ext cx="621792" cy="1600200"/>
          </a:xfrm>
          <a:prstGeom prst="line">
            <a:avLst/>
          </a:prstGeom>
          <a:ln w="12700">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258568" y="2331720"/>
            <a:ext cx="621792" cy="2423160"/>
          </a:xfrm>
          <a:prstGeom prst="line">
            <a:avLst/>
          </a:prstGeom>
          <a:ln w="1270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98280" y="2377440"/>
            <a:ext cx="2514600" cy="1371600"/>
          </a:xfrm>
          <a:prstGeom prst="roundRect">
            <a:avLst>
              <a:gd name="adj" fmla="val 6000"/>
            </a:avLst>
          </a:prstGeom>
          <a:solidFill>
            <a:srgbClr val="1C232E"/>
          </a:solidFill>
          <a:ln w="19050">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098280" y="2487168"/>
            <a:ext cx="2514600" cy="365760"/>
          </a:xfrm>
          <a:prstGeom prst="rect">
            <a:avLst/>
          </a:prstGeom>
          <a:noFill/>
        </p:spPr>
        <p:txBody>
          <a:bodyPr wrap="square" lIns="0" tIns="0" rIns="0" bIns="0" anchor="t">
            <a:spAutoFit/>
          </a:bodyPr>
          <a:lstStyle/>
          <a:p>
            <a:pPr algn="ctr">
              <a:lnSpc>
                <a:spcPct val="100000"/>
              </a:lnSpc>
              <a:spcAft>
                <a:spcPts val="0"/>
              </a:spcAft>
            </a:pPr>
            <a:r>
              <a:rPr sz="1300" b="1" i="0">
                <a:solidFill>
                  <a:srgbClr val="E0A32E"/>
                </a:solidFill>
                <a:latin typeface="Segoe UI"/>
              </a:rPr>
              <a:t>RISK ENGINE</a:t>
            </a:r>
          </a:p>
        </p:txBody>
      </p:sp>
      <p:sp>
        <p:nvSpPr>
          <p:cNvPr id="41" name="TextBox 40"/>
          <p:cNvSpPr txBox="1"/>
          <p:nvPr/>
        </p:nvSpPr>
        <p:spPr>
          <a:xfrm>
            <a:off x="9189720" y="2871216"/>
            <a:ext cx="2331720" cy="822960"/>
          </a:xfrm>
          <a:prstGeom prst="rect">
            <a:avLst/>
          </a:prstGeom>
          <a:noFill/>
        </p:spPr>
        <p:txBody>
          <a:bodyPr wrap="square" lIns="0" tIns="0" rIns="0" bIns="0" anchor="t">
            <a:spAutoFit/>
          </a:bodyPr>
          <a:lstStyle/>
          <a:p>
            <a:pPr algn="ctr">
              <a:lnSpc>
                <a:spcPct val="115000"/>
              </a:lnSpc>
              <a:spcAft>
                <a:spcPts val="0"/>
              </a:spcAft>
            </a:pPr>
            <a:r>
              <a:rPr sz="1050" b="0" i="0">
                <a:solidFill>
                  <a:srgbClr val="E6EDF3"/>
                </a:solidFill>
                <a:latin typeface="Segoe UI"/>
              </a:rPr>
              <a:t>weights + caps
reliability scores
conflict detection</a:t>
            </a:r>
          </a:p>
        </p:txBody>
      </p:sp>
      <p:cxnSp>
        <p:nvCxnSpPr>
          <p:cNvPr id="42" name="Connector 41"/>
          <p:cNvCxnSpPr/>
          <p:nvPr/>
        </p:nvCxnSpPr>
        <p:spPr>
          <a:xfrm>
            <a:off x="8686800" y="3063240"/>
            <a:ext cx="411480" cy="0"/>
          </a:xfrm>
          <a:prstGeom prst="line">
            <a:avLst/>
          </a:prstGeom>
          <a:ln w="25400">
            <a:solidFill>
              <a:srgbClr val="E0A32E"/>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351008" y="3749039"/>
            <a:ext cx="0" cy="1280161"/>
          </a:xfrm>
          <a:prstGeom prst="line">
            <a:avLst/>
          </a:prstGeom>
          <a:ln w="15240">
            <a:solidFill>
              <a:srgbClr val="58A6FF"/>
            </a:solidFill>
          </a:ln>
          <a:effectLst/>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98280" y="4206240"/>
            <a:ext cx="2514600" cy="685800"/>
          </a:xfrm>
          <a:prstGeom prst="roundRect">
            <a:avLst>
              <a:gd name="adj" fmla="val 6000"/>
            </a:avLst>
          </a:prstGeom>
          <a:solidFill>
            <a:srgbClr val="161B22"/>
          </a:solidFill>
          <a:ln w="9525">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098280" y="4279392"/>
            <a:ext cx="251460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2EA043"/>
                </a:solidFill>
                <a:latin typeface="Segoe UI"/>
              </a:rPr>
              <a:t>VERDICT BANNER</a:t>
            </a:r>
          </a:p>
        </p:txBody>
      </p:sp>
      <p:sp>
        <p:nvSpPr>
          <p:cNvPr id="46" name="TextBox 45"/>
          <p:cNvSpPr txBox="1"/>
          <p:nvPr/>
        </p:nvSpPr>
        <p:spPr>
          <a:xfrm>
            <a:off x="9098280" y="4553712"/>
            <a:ext cx="2514600" cy="274320"/>
          </a:xfrm>
          <a:prstGeom prst="rect">
            <a:avLst/>
          </a:prstGeom>
          <a:noFill/>
        </p:spPr>
        <p:txBody>
          <a:bodyPr wrap="square" lIns="0" tIns="0" rIns="0" bIns="0" anchor="t">
            <a:spAutoFit/>
          </a:bodyPr>
          <a:lstStyle/>
          <a:p>
            <a:pPr algn="ctr">
              <a:lnSpc>
                <a:spcPct val="100000"/>
              </a:lnSpc>
              <a:spcAft>
                <a:spcPts val="0"/>
              </a:spcAft>
            </a:pPr>
            <a:r>
              <a:rPr sz="950" b="0" i="0">
                <a:solidFill>
                  <a:srgbClr val="8B949E"/>
                </a:solidFill>
                <a:latin typeface="Segoe UI"/>
              </a:rPr>
              <a:t>plain-language assessment</a:t>
            </a:r>
          </a:p>
        </p:txBody>
      </p:sp>
      <p:sp>
        <p:nvSpPr>
          <p:cNvPr id="47" name="Rounded Rectangle 46"/>
          <p:cNvSpPr/>
          <p:nvPr/>
        </p:nvSpPr>
        <p:spPr>
          <a:xfrm>
            <a:off x="9098280" y="4956048"/>
            <a:ext cx="2514600" cy="621792"/>
          </a:xfrm>
          <a:prstGeom prst="roundRect">
            <a:avLst>
              <a:gd name="adj" fmla="val 6000"/>
            </a:avLst>
          </a:prstGeom>
          <a:solidFill>
            <a:srgbClr val="161B22"/>
          </a:solidFill>
          <a:ln w="952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098280" y="5029200"/>
            <a:ext cx="251460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58A6FF"/>
                </a:solidFill>
                <a:latin typeface="Segoe UI"/>
              </a:rPr>
              <a:t>JSON + PDF REPORT</a:t>
            </a:r>
          </a:p>
        </p:txBody>
      </p:sp>
      <p:sp>
        <p:nvSpPr>
          <p:cNvPr id="49" name="TextBox 48"/>
          <p:cNvSpPr txBox="1"/>
          <p:nvPr/>
        </p:nvSpPr>
        <p:spPr>
          <a:xfrm>
            <a:off x="9098280" y="5303520"/>
            <a:ext cx="2514600" cy="274320"/>
          </a:xfrm>
          <a:prstGeom prst="rect">
            <a:avLst/>
          </a:prstGeom>
          <a:noFill/>
        </p:spPr>
        <p:txBody>
          <a:bodyPr wrap="square" lIns="0" tIns="0" rIns="0" bIns="0" anchor="t">
            <a:spAutoFit/>
          </a:bodyPr>
          <a:lstStyle/>
          <a:p>
            <a:pPr algn="ctr">
              <a:lnSpc>
                <a:spcPct val="100000"/>
              </a:lnSpc>
              <a:spcAft>
                <a:spcPts val="0"/>
              </a:spcAft>
            </a:pPr>
            <a:r>
              <a:rPr sz="950" b="0" i="0">
                <a:solidFill>
                  <a:srgbClr val="8B949E"/>
                </a:solidFill>
                <a:latin typeface="Segoe UI"/>
              </a:rPr>
              <a:t>full findings + limitations</a:t>
            </a:r>
          </a:p>
        </p:txBody>
      </p:sp>
      <p:cxnSp>
        <p:nvCxnSpPr>
          <p:cNvPr id="50" name="Connector 49"/>
          <p:cNvCxnSpPr/>
          <p:nvPr/>
        </p:nvCxnSpPr>
        <p:spPr>
          <a:xfrm>
            <a:off x="10351008" y="3749039"/>
            <a:ext cx="0" cy="457201"/>
          </a:xfrm>
          <a:prstGeom prst="line">
            <a:avLst/>
          </a:prstGeom>
          <a:ln w="25400">
            <a:solidFill>
              <a:srgbClr val="2EA043"/>
            </a:solidFill>
          </a:ln>
          <a:effectLst/>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566928" y="5623560"/>
            <a:ext cx="11045952" cy="5669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705856"/>
            <a:ext cx="10515600" cy="384048"/>
          </a:xfrm>
          <a:prstGeom prst="rect">
            <a:avLst/>
          </a:prstGeom>
          <a:noFill/>
        </p:spPr>
        <p:txBody>
          <a:bodyPr wrap="square" lIns="0" tIns="0" rIns="0" bIns="0" anchor="t">
            <a:spAutoFit/>
          </a:bodyPr>
          <a:lstStyle/>
          <a:p>
            <a:pPr algn="l">
              <a:lnSpc>
                <a:spcPct val="100000"/>
              </a:lnSpc>
              <a:spcAft>
                <a:spcPts val="0"/>
              </a:spcAft>
            </a:pPr>
            <a:r>
              <a:rPr sz="1200" b="1" i="0">
                <a:solidFill>
                  <a:srgbClr val="E6EDF3"/>
                </a:solidFill>
                <a:latin typeface="Segoe UI"/>
              </a:rPr>
              <a:t>Streamlit UI  ·  </a:t>
            </a:r>
            <a:r>
              <a:rPr sz="1200" b="0" i="0">
                <a:solidFill>
                  <a:srgbClr val="8B949E"/>
                </a:solidFill>
                <a:latin typeface="Segoe UI"/>
              </a:rPr>
              <a:t>Overview · Metadata · C2PA · Forensics · Artifacts · Compare · Batch · Reports · Settings</a:t>
            </a:r>
            <a:r>
              <a:rPr sz="1200" b="1" i="0">
                <a:solidFill>
                  <a:srgbClr val="2EA043"/>
                </a:solidFill>
                <a:latin typeface="Segoe UI"/>
              </a:rPr>
              <a:t>    ● 100% local · no network by default</a:t>
            </a:r>
          </a:p>
        </p:txBody>
      </p:sp>
      <p:sp>
        <p:nvSpPr>
          <p:cNvPr id="53" name="TextBox 52"/>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54" name="TextBox 53"/>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06 / 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58A6FF"/>
                </a:solidFill>
                <a:latin typeface="Segoe UI"/>
              </a:rPr>
              <a:t>MODULE 1 OF 8</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Metadata: The Label Stuck to the File</a:t>
            </a:r>
          </a:p>
        </p:txBody>
      </p:sp>
      <p:sp>
        <p:nvSpPr>
          <p:cNvPr id="5" name="Rectangle 4"/>
          <p:cNvSpPr/>
          <p:nvPr/>
        </p:nvSpPr>
        <p:spPr>
          <a:xfrm>
            <a:off x="585216" y="1389888"/>
            <a:ext cx="822960" cy="411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11045952" cy="868680"/>
          </a:xfrm>
          <a:prstGeom prst="roundRect">
            <a:avLst>
              <a:gd name="adj" fmla="val 6000"/>
            </a:avLst>
          </a:prstGeom>
          <a:solidFill>
            <a:srgbClr val="1C232E"/>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828800"/>
            <a:ext cx="10424160" cy="640080"/>
          </a:xfrm>
          <a:prstGeom prst="rect">
            <a:avLst/>
          </a:prstGeom>
          <a:noFill/>
        </p:spPr>
        <p:txBody>
          <a:bodyPr wrap="square" lIns="0" tIns="0" rIns="0" bIns="0" anchor="t">
            <a:spAutoFit/>
          </a:bodyPr>
          <a:lstStyle/>
          <a:p>
            <a:pPr algn="l">
              <a:lnSpc>
                <a:spcPct val="115000"/>
              </a:lnSpc>
              <a:spcAft>
                <a:spcPts val="0"/>
              </a:spcAft>
            </a:pPr>
            <a:r>
              <a:rPr sz="1550" b="1" i="0">
                <a:solidFill>
                  <a:srgbClr val="58A6FF"/>
                </a:solidFill>
                <a:latin typeface="Segoe UI"/>
              </a:rPr>
              <a:t>Metadata</a:t>
            </a:r>
            <a:r>
              <a:rPr sz="1550" b="0" i="0">
                <a:solidFill>
                  <a:srgbClr val="E6EDF3"/>
                </a:solidFill>
                <a:latin typeface="Segoe UI"/>
              </a:rPr>
              <a:t> = information stored alongside the image — like a label attached to a file: which camera, which software, when, and sometimes where.</a:t>
            </a:r>
          </a:p>
        </p:txBody>
      </p:sp>
      <p:sp>
        <p:nvSpPr>
          <p:cNvPr id="8" name="Rounded Rectangle 7"/>
          <p:cNvSpPr/>
          <p:nvPr/>
        </p:nvSpPr>
        <p:spPr>
          <a:xfrm>
            <a:off x="566928" y="2926080"/>
            <a:ext cx="5394960" cy="26517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2926080"/>
            <a:ext cx="5394960"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054096"/>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58A6FF"/>
                </a:solidFill>
                <a:latin typeface="Segoe UI"/>
              </a:rPr>
              <a:t>What TruePix reads</a:t>
            </a:r>
          </a:p>
        </p:txBody>
      </p:sp>
      <p:sp>
        <p:nvSpPr>
          <p:cNvPr id="11" name="TextBox 10"/>
          <p:cNvSpPr txBox="1"/>
          <p:nvPr/>
        </p:nvSpPr>
        <p:spPr>
          <a:xfrm>
            <a:off x="868680" y="3401568"/>
            <a:ext cx="4892040" cy="2057400"/>
          </a:xfrm>
          <a:prstGeom prst="rect">
            <a:avLst/>
          </a:prstGeom>
          <a:noFill/>
        </p:spPr>
        <p:txBody>
          <a:bodyPr wrap="square" lIns="0" tIns="0" rIns="0" bIns="0">
            <a:spAutoFit/>
          </a:bodyPr>
          <a:lstStyle/>
          <a:p>
            <a:pPr>
              <a:lnSpc>
                <a:spcPct val="105000"/>
              </a:lnSpc>
              <a:spcAft>
                <a:spcPts val="700"/>
              </a:spcAft>
            </a:pPr>
            <a:r>
              <a:rPr sz="1250" b="1">
                <a:solidFill>
                  <a:srgbClr val="58A6FF"/>
                </a:solidFill>
                <a:latin typeface="Segoe UI"/>
              </a:rPr>
              <a:t>•  </a:t>
            </a:r>
            <a:r>
              <a:rPr sz="1250" b="0">
                <a:solidFill>
                  <a:srgbClr val="E6EDF3"/>
                </a:solidFill>
                <a:latin typeface="Segoe UI"/>
              </a:rPr>
              <a:t>EXIF fields — camera model, timestamps, lens, orientation</a:t>
            </a:r>
          </a:p>
          <a:p>
            <a:pPr>
              <a:lnSpc>
                <a:spcPct val="105000"/>
              </a:lnSpc>
              <a:spcAft>
                <a:spcPts val="700"/>
              </a:spcAft>
            </a:pPr>
            <a:r>
              <a:rPr sz="1250" b="1">
                <a:solidFill>
                  <a:srgbClr val="58A6FF"/>
                </a:solidFill>
                <a:latin typeface="Segoe UI"/>
              </a:rPr>
              <a:t>•  </a:t>
            </a:r>
            <a:r>
              <a:rPr sz="1250" b="0">
                <a:solidFill>
                  <a:srgbClr val="E6EDF3"/>
                </a:solidFill>
                <a:latin typeface="Segoe UI"/>
              </a:rPr>
              <a:t>PNG / text chunks — Description, Software, Author</a:t>
            </a:r>
          </a:p>
          <a:p>
            <a:pPr>
              <a:lnSpc>
                <a:spcPct val="105000"/>
              </a:lnSpc>
              <a:spcAft>
                <a:spcPts val="700"/>
              </a:spcAft>
            </a:pPr>
            <a:r>
              <a:rPr sz="1250" b="1">
                <a:solidFill>
                  <a:srgbClr val="58A6FF"/>
                </a:solidFill>
                <a:latin typeface="Segoe UI"/>
              </a:rPr>
              <a:t>•  </a:t>
            </a:r>
            <a:r>
              <a:rPr sz="1250" b="0">
                <a:solidFill>
                  <a:srgbClr val="E6EDF3"/>
                </a:solidFill>
                <a:latin typeface="Segoe UI"/>
              </a:rPr>
              <a:t>Software strings: flags AI tools (Midjourney, DALL·E…) separately from editors (Photoshop…)</a:t>
            </a:r>
          </a:p>
          <a:p>
            <a:pPr>
              <a:lnSpc>
                <a:spcPct val="105000"/>
              </a:lnSpc>
              <a:spcAft>
                <a:spcPts val="700"/>
              </a:spcAft>
            </a:pPr>
            <a:r>
              <a:rPr sz="1250" b="1">
                <a:solidFill>
                  <a:srgbClr val="58A6FF"/>
                </a:solidFill>
                <a:latin typeface="Segoe UI"/>
              </a:rPr>
              <a:t>•  </a:t>
            </a:r>
            <a:r>
              <a:rPr sz="1250" b="0">
                <a:solidFill>
                  <a:srgbClr val="E6EDF3"/>
                </a:solidFill>
                <a:latin typeface="Segoe UI"/>
              </a:rPr>
              <a:t>GPS presence — reported as a privacy note, coordinates never exposed in the summary</a:t>
            </a:r>
          </a:p>
        </p:txBody>
      </p:sp>
      <p:sp>
        <p:nvSpPr>
          <p:cNvPr id="12" name="Rounded Rectangle 11"/>
          <p:cNvSpPr/>
          <p:nvPr/>
        </p:nvSpPr>
        <p:spPr>
          <a:xfrm>
            <a:off x="6217920" y="2926080"/>
            <a:ext cx="5394960" cy="26517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2926080"/>
            <a:ext cx="5394960"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3054096"/>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Why it is a clue — not proof</a:t>
            </a:r>
          </a:p>
        </p:txBody>
      </p:sp>
      <p:sp>
        <p:nvSpPr>
          <p:cNvPr id="15" name="TextBox 14"/>
          <p:cNvSpPr txBox="1"/>
          <p:nvPr/>
        </p:nvSpPr>
        <p:spPr>
          <a:xfrm>
            <a:off x="6519672" y="3401568"/>
            <a:ext cx="4892040" cy="2057400"/>
          </a:xfrm>
          <a:prstGeom prst="rect">
            <a:avLst/>
          </a:prstGeom>
          <a:noFill/>
        </p:spPr>
        <p:txBody>
          <a:bodyPr wrap="square" lIns="0" tIns="0" rIns="0" bIns="0">
            <a:spAutoFit/>
          </a:bodyPr>
          <a:lstStyle/>
          <a:p>
            <a:pPr>
              <a:lnSpc>
                <a:spcPct val="105000"/>
              </a:lnSpc>
              <a:spcAft>
                <a:spcPts val="700"/>
              </a:spcAft>
            </a:pPr>
            <a:r>
              <a:rPr sz="1250" b="1">
                <a:solidFill>
                  <a:srgbClr val="E0A32E"/>
                </a:solidFill>
                <a:latin typeface="Segoe UI"/>
              </a:rPr>
              <a:t>•  </a:t>
            </a:r>
            <a:r>
              <a:rPr sz="1250" b="0">
                <a:solidFill>
                  <a:srgbClr val="E6EDF3"/>
                </a:solidFill>
                <a:latin typeface="Segoe UI"/>
              </a:rPr>
              <a:t>Stripped — WhatsApp, Instagram and screenshots erase it</a:t>
            </a:r>
          </a:p>
          <a:p>
            <a:pPr>
              <a:lnSpc>
                <a:spcPct val="105000"/>
              </a:lnSpc>
              <a:spcAft>
                <a:spcPts val="700"/>
              </a:spcAft>
            </a:pPr>
            <a:r>
              <a:rPr sz="1250" b="1">
                <a:solidFill>
                  <a:srgbClr val="E0A32E"/>
                </a:solidFill>
                <a:latin typeface="Segoe UI"/>
              </a:rPr>
              <a:t>•  </a:t>
            </a:r>
            <a:r>
              <a:rPr sz="1250" b="0">
                <a:solidFill>
                  <a:srgbClr val="E6EDF3"/>
                </a:solidFill>
                <a:latin typeface="Segoe UI"/>
              </a:rPr>
              <a:t>Forged — anyone can write any 'Software' string into a file</a:t>
            </a:r>
          </a:p>
          <a:p>
            <a:pPr>
              <a:lnSpc>
                <a:spcPct val="105000"/>
              </a:lnSpc>
              <a:spcAft>
                <a:spcPts val="700"/>
              </a:spcAft>
            </a:pPr>
            <a:r>
              <a:rPr sz="1250" b="1">
                <a:solidFill>
                  <a:srgbClr val="E0A32E"/>
                </a:solidFill>
                <a:latin typeface="Segoe UI"/>
              </a:rPr>
              <a:t>•  </a:t>
            </a:r>
            <a:r>
              <a:rPr sz="1250" b="0">
                <a:solidFill>
                  <a:srgbClr val="E6EDF3"/>
                </a:solidFill>
                <a:latin typeface="Segoe UI"/>
              </a:rPr>
              <a:t>Absent by default on many genuine photos and on most AI outputs</a:t>
            </a:r>
          </a:p>
          <a:p>
            <a:pPr>
              <a:lnSpc>
                <a:spcPct val="105000"/>
              </a:lnSpc>
              <a:spcAft>
                <a:spcPts val="700"/>
              </a:spcAft>
            </a:pPr>
            <a:r>
              <a:rPr sz="1250" b="1">
                <a:solidFill>
                  <a:srgbClr val="E0A32E"/>
                </a:solidFill>
                <a:latin typeface="Segoe UI"/>
              </a:rPr>
              <a:t>•  </a:t>
            </a:r>
            <a:r>
              <a:rPr sz="1250" b="0">
                <a:solidFill>
                  <a:srgbClr val="E6EDF3"/>
                </a:solidFill>
                <a:latin typeface="Segoe UI"/>
              </a:rPr>
              <a:t>TruePix rule: missing metadata is recorded as NEUTRAL — never as 'must be fake'</a:t>
            </a:r>
          </a:p>
        </p:txBody>
      </p:sp>
      <p:sp>
        <p:nvSpPr>
          <p:cNvPr id="16" name="TextBox 15"/>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17" name="TextBox 16"/>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07 / 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E0A32E"/>
                </a:solidFill>
                <a:latin typeface="Segoe UI"/>
              </a:rPr>
              <a:t>MODULE 2 OF 8</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Error Level Analysis: Listening for Compression Echoes</a:t>
            </a:r>
          </a:p>
        </p:txBody>
      </p:sp>
      <p:sp>
        <p:nvSpPr>
          <p:cNvPr id="5" name="Rectangle 4"/>
          <p:cNvSpPr/>
          <p:nvPr/>
        </p:nvSpPr>
        <p:spPr>
          <a:xfrm>
            <a:off x="585216" y="1389888"/>
            <a:ext cx="822960" cy="41148"/>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11045952" cy="822960"/>
          </a:xfrm>
          <a:prstGeom prst="roundRect">
            <a:avLst>
              <a:gd name="adj" fmla="val 6000"/>
            </a:avLst>
          </a:prstGeom>
          <a:solidFill>
            <a:srgbClr val="1C232E"/>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819656"/>
            <a:ext cx="10424160" cy="594360"/>
          </a:xfrm>
          <a:prstGeom prst="rect">
            <a:avLst/>
          </a:prstGeom>
          <a:noFill/>
        </p:spPr>
        <p:txBody>
          <a:bodyPr wrap="square" lIns="0" tIns="0" rIns="0" bIns="0" anchor="t">
            <a:spAutoFit/>
          </a:bodyPr>
          <a:lstStyle/>
          <a:p>
            <a:pPr algn="l">
              <a:lnSpc>
                <a:spcPct val="115000"/>
              </a:lnSpc>
              <a:spcAft>
                <a:spcPts val="0"/>
              </a:spcAft>
            </a:pPr>
            <a:r>
              <a:rPr sz="1550" b="1" i="0">
                <a:solidFill>
                  <a:srgbClr val="E0A32E"/>
                </a:solidFill>
                <a:latin typeface="Segoe UI"/>
              </a:rPr>
              <a:t>Idea: </a:t>
            </a:r>
            <a:r>
              <a:rPr sz="1550" b="0" i="0">
                <a:solidFill>
                  <a:srgbClr val="E6EDF3"/>
                </a:solidFill>
                <a:latin typeface="Segoe UI"/>
              </a:rPr>
              <a:t>when a JPEG is saved, the whole image is compressed at one quality level. Re-saving the image and measuring the difference reveals areas that behave differently — often where edits happened.</a:t>
            </a:r>
          </a:p>
        </p:txBody>
      </p:sp>
      <p:sp>
        <p:nvSpPr>
          <p:cNvPr id="8" name="Rounded Rectangle 7"/>
          <p:cNvSpPr/>
          <p:nvPr/>
        </p:nvSpPr>
        <p:spPr>
          <a:xfrm>
            <a:off x="868680" y="2788920"/>
            <a:ext cx="3291840" cy="1051560"/>
          </a:xfrm>
          <a:prstGeom prst="roundRect">
            <a:avLst>
              <a:gd name="adj" fmla="val 6000"/>
            </a:avLst>
          </a:prstGeom>
          <a:solidFill>
            <a:srgbClr val="161B22"/>
          </a:solidFill>
          <a:ln w="952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3026665"/>
            <a:ext cx="3291840" cy="365760"/>
          </a:xfrm>
          <a:prstGeom prst="rect">
            <a:avLst/>
          </a:prstGeom>
          <a:noFill/>
        </p:spPr>
        <p:txBody>
          <a:bodyPr wrap="square" lIns="0" tIns="0" rIns="0" bIns="0" anchor="t">
            <a:spAutoFit/>
          </a:bodyPr>
          <a:lstStyle/>
          <a:p>
            <a:pPr algn="ctr">
              <a:lnSpc>
                <a:spcPct val="100000"/>
              </a:lnSpc>
              <a:spcAft>
                <a:spcPts val="0"/>
              </a:spcAft>
            </a:pPr>
            <a:r>
              <a:rPr sz="1350" b="1" i="0" dirty="0">
                <a:solidFill>
                  <a:srgbClr val="58A6FF"/>
                </a:solidFill>
                <a:latin typeface="Segoe UI"/>
              </a:rPr>
              <a:t>Original JPEG</a:t>
            </a:r>
          </a:p>
        </p:txBody>
      </p:sp>
      <p:sp>
        <p:nvSpPr>
          <p:cNvPr id="10" name="TextBox 9"/>
          <p:cNvSpPr txBox="1"/>
          <p:nvPr/>
        </p:nvSpPr>
        <p:spPr>
          <a:xfrm>
            <a:off x="868680" y="3291840"/>
            <a:ext cx="3291840" cy="411480"/>
          </a:xfrm>
          <a:prstGeom prst="rect">
            <a:avLst/>
          </a:prstGeom>
          <a:noFill/>
        </p:spPr>
        <p:txBody>
          <a:bodyPr wrap="square" lIns="0" tIns="0" rIns="0" bIns="0" anchor="t">
            <a:spAutoFit/>
          </a:bodyPr>
          <a:lstStyle/>
          <a:p>
            <a:pPr algn="ctr">
              <a:lnSpc>
                <a:spcPct val="100000"/>
              </a:lnSpc>
              <a:spcAft>
                <a:spcPts val="0"/>
              </a:spcAft>
            </a:pPr>
            <a:r>
              <a:rPr sz="1100" b="0" i="0">
                <a:solidFill>
                  <a:srgbClr val="8B949E"/>
                </a:solidFill>
                <a:latin typeface="Segoe UI"/>
              </a:rPr>
              <a:t>uniform compression</a:t>
            </a:r>
          </a:p>
        </p:txBody>
      </p:sp>
      <p:sp>
        <p:nvSpPr>
          <p:cNvPr id="11" name="Right Arrow 10"/>
          <p:cNvSpPr/>
          <p:nvPr/>
        </p:nvSpPr>
        <p:spPr>
          <a:xfrm>
            <a:off x="4233672" y="3200400"/>
            <a:ext cx="365760" cy="274320"/>
          </a:xfrm>
          <a:prstGeom prst="rightArrow">
            <a:avLst/>
          </a:prstGeom>
          <a:solidFill>
            <a:srgbClr val="8B9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0" y="2788920"/>
            <a:ext cx="3291840" cy="1051560"/>
          </a:xfrm>
          <a:prstGeom prst="roundRect">
            <a:avLst>
              <a:gd name="adj" fmla="val 6000"/>
            </a:avLst>
          </a:prstGeom>
          <a:solidFill>
            <a:srgbClr val="161B22"/>
          </a:solidFill>
          <a:ln w="952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45152" y="3063240"/>
            <a:ext cx="3291840" cy="365760"/>
          </a:xfrm>
          <a:prstGeom prst="rect">
            <a:avLst/>
          </a:prstGeom>
          <a:noFill/>
        </p:spPr>
        <p:txBody>
          <a:bodyPr wrap="square" lIns="0" tIns="0" rIns="0" bIns="0" anchor="t">
            <a:spAutoFit/>
          </a:bodyPr>
          <a:lstStyle/>
          <a:p>
            <a:pPr algn="ctr">
              <a:lnSpc>
                <a:spcPct val="100000"/>
              </a:lnSpc>
              <a:spcAft>
                <a:spcPts val="0"/>
              </a:spcAft>
            </a:pPr>
            <a:r>
              <a:rPr sz="1350" b="1" i="0" dirty="0">
                <a:solidFill>
                  <a:srgbClr val="58A6FF"/>
                </a:solidFill>
                <a:latin typeface="Segoe UI"/>
              </a:rPr>
              <a:t>Re-save at known quality</a:t>
            </a:r>
          </a:p>
        </p:txBody>
      </p:sp>
      <p:sp>
        <p:nvSpPr>
          <p:cNvPr id="14" name="TextBox 13"/>
          <p:cNvSpPr txBox="1"/>
          <p:nvPr/>
        </p:nvSpPr>
        <p:spPr>
          <a:xfrm>
            <a:off x="4572000" y="3291840"/>
            <a:ext cx="3291840" cy="411480"/>
          </a:xfrm>
          <a:prstGeom prst="rect">
            <a:avLst/>
          </a:prstGeom>
          <a:noFill/>
        </p:spPr>
        <p:txBody>
          <a:bodyPr wrap="square" lIns="0" tIns="0" rIns="0" bIns="0" anchor="t">
            <a:spAutoFit/>
          </a:bodyPr>
          <a:lstStyle/>
          <a:p>
            <a:pPr algn="ctr">
              <a:lnSpc>
                <a:spcPct val="100000"/>
              </a:lnSpc>
              <a:spcAft>
                <a:spcPts val="0"/>
              </a:spcAft>
            </a:pPr>
            <a:r>
              <a:rPr sz="1100" b="0" i="0">
                <a:solidFill>
                  <a:srgbClr val="8B949E"/>
                </a:solidFill>
                <a:latin typeface="Segoe UI"/>
              </a:rPr>
              <a:t>same settings applied again</a:t>
            </a:r>
          </a:p>
        </p:txBody>
      </p:sp>
      <p:sp>
        <p:nvSpPr>
          <p:cNvPr id="15" name="Right Arrow 14"/>
          <p:cNvSpPr/>
          <p:nvPr/>
        </p:nvSpPr>
        <p:spPr>
          <a:xfrm>
            <a:off x="7936992" y="3200400"/>
            <a:ext cx="365760" cy="274320"/>
          </a:xfrm>
          <a:prstGeom prst="rightArrow">
            <a:avLst/>
          </a:prstGeom>
          <a:solidFill>
            <a:srgbClr val="8B9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75320" y="2788920"/>
            <a:ext cx="3291840" cy="1051560"/>
          </a:xfrm>
          <a:prstGeom prst="roundRect">
            <a:avLst>
              <a:gd name="adj" fmla="val 6000"/>
            </a:avLst>
          </a:prstGeom>
          <a:solidFill>
            <a:srgbClr val="161B22"/>
          </a:solidFill>
          <a:ln w="9525">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3047956"/>
            <a:ext cx="3291840" cy="365760"/>
          </a:xfrm>
          <a:prstGeom prst="rect">
            <a:avLst/>
          </a:prstGeom>
          <a:noFill/>
        </p:spPr>
        <p:txBody>
          <a:bodyPr wrap="square" lIns="0" tIns="0" rIns="0" bIns="0" anchor="t">
            <a:spAutoFit/>
          </a:bodyPr>
          <a:lstStyle/>
          <a:p>
            <a:pPr algn="ctr">
              <a:lnSpc>
                <a:spcPct val="100000"/>
              </a:lnSpc>
              <a:spcAft>
                <a:spcPts val="0"/>
              </a:spcAft>
            </a:pPr>
            <a:r>
              <a:rPr sz="1350" b="1" i="0">
                <a:solidFill>
                  <a:srgbClr val="E0A32E"/>
                </a:solidFill>
                <a:latin typeface="Segoe UI"/>
              </a:rPr>
              <a:t>Difference map</a:t>
            </a:r>
          </a:p>
        </p:txBody>
      </p:sp>
      <p:sp>
        <p:nvSpPr>
          <p:cNvPr id="18" name="TextBox 17"/>
          <p:cNvSpPr txBox="1"/>
          <p:nvPr/>
        </p:nvSpPr>
        <p:spPr>
          <a:xfrm>
            <a:off x="8275320" y="3291840"/>
            <a:ext cx="3291840" cy="411480"/>
          </a:xfrm>
          <a:prstGeom prst="rect">
            <a:avLst/>
          </a:prstGeom>
          <a:noFill/>
        </p:spPr>
        <p:txBody>
          <a:bodyPr wrap="square" lIns="0" tIns="0" rIns="0" bIns="0" anchor="t">
            <a:spAutoFit/>
          </a:bodyPr>
          <a:lstStyle/>
          <a:p>
            <a:pPr algn="ctr">
              <a:lnSpc>
                <a:spcPct val="100000"/>
              </a:lnSpc>
              <a:spcAft>
                <a:spcPts val="0"/>
              </a:spcAft>
            </a:pPr>
            <a:r>
              <a:rPr sz="1100" b="0" i="0">
                <a:solidFill>
                  <a:srgbClr val="8B949E"/>
                </a:solidFill>
                <a:latin typeface="Segoe UI"/>
              </a:rPr>
              <a:t>'ELA residual' — bright = suspicious</a:t>
            </a:r>
          </a:p>
        </p:txBody>
      </p:sp>
      <p:sp>
        <p:nvSpPr>
          <p:cNvPr id="19" name="Rounded Rectangle 18"/>
          <p:cNvSpPr/>
          <p:nvPr/>
        </p:nvSpPr>
        <p:spPr>
          <a:xfrm>
            <a:off x="566928" y="4206240"/>
            <a:ext cx="5394960" cy="182880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4206240"/>
            <a:ext cx="5394960"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334255"/>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What a bright region can mean</a:t>
            </a:r>
          </a:p>
        </p:txBody>
      </p:sp>
      <p:sp>
        <p:nvSpPr>
          <p:cNvPr id="22" name="TextBox 21"/>
          <p:cNvSpPr txBox="1"/>
          <p:nvPr/>
        </p:nvSpPr>
        <p:spPr>
          <a:xfrm>
            <a:off x="868680" y="4663440"/>
            <a:ext cx="4892040" cy="1280160"/>
          </a:xfrm>
          <a:prstGeom prst="rect">
            <a:avLst/>
          </a:prstGeom>
          <a:noFill/>
        </p:spPr>
        <p:txBody>
          <a:bodyPr wrap="square" lIns="0" tIns="0" rIns="0" bIns="0">
            <a:spAutoFit/>
          </a:bodyPr>
          <a:lstStyle/>
          <a:p>
            <a:pPr>
              <a:lnSpc>
                <a:spcPct val="105000"/>
              </a:lnSpc>
              <a:spcAft>
                <a:spcPts val="600"/>
              </a:spcAft>
            </a:pPr>
            <a:r>
              <a:rPr sz="1250" b="1">
                <a:solidFill>
                  <a:srgbClr val="58A6FF"/>
                </a:solidFill>
                <a:latin typeface="Segoe UI"/>
              </a:rPr>
              <a:t>•  </a:t>
            </a:r>
            <a:r>
              <a:rPr sz="1250" b="0">
                <a:solidFill>
                  <a:srgbClr val="E6EDF3"/>
                </a:solidFill>
                <a:latin typeface="Segoe UI"/>
              </a:rPr>
              <a:t>A pasted-in object that was never compressed with the rest</a:t>
            </a:r>
          </a:p>
          <a:p>
            <a:pPr>
              <a:lnSpc>
                <a:spcPct val="105000"/>
              </a:lnSpc>
              <a:spcAft>
                <a:spcPts val="600"/>
              </a:spcAft>
            </a:pPr>
            <a:r>
              <a:rPr sz="1250" b="1">
                <a:solidFill>
                  <a:srgbClr val="58A6FF"/>
                </a:solidFill>
                <a:latin typeface="Segoe UI"/>
              </a:rPr>
              <a:t>•  </a:t>
            </a:r>
            <a:r>
              <a:rPr sz="1250" b="0">
                <a:solidFill>
                  <a:srgbClr val="E6EDF3"/>
                </a:solidFill>
                <a:latin typeface="Segoe UI"/>
              </a:rPr>
              <a:t>Text or stickers added after the original save</a:t>
            </a:r>
          </a:p>
          <a:p>
            <a:pPr>
              <a:lnSpc>
                <a:spcPct val="105000"/>
              </a:lnSpc>
              <a:spcAft>
                <a:spcPts val="600"/>
              </a:spcAft>
            </a:pPr>
            <a:r>
              <a:rPr sz="1250" b="1">
                <a:solidFill>
                  <a:srgbClr val="58A6FF"/>
                </a:solidFill>
                <a:latin typeface="Segoe UI"/>
              </a:rPr>
              <a:t>•  </a:t>
            </a:r>
            <a:r>
              <a:rPr sz="1250" b="0">
                <a:solidFill>
                  <a:srgbClr val="E6EDF3"/>
                </a:solidFill>
                <a:latin typeface="Segoe UI"/>
              </a:rPr>
              <a:t>…or simply a smooth sky — flat areas light up naturally</a:t>
            </a:r>
          </a:p>
        </p:txBody>
      </p:sp>
      <p:sp>
        <p:nvSpPr>
          <p:cNvPr id="23" name="Rounded Rectangle 22"/>
          <p:cNvSpPr/>
          <p:nvPr/>
        </p:nvSpPr>
        <p:spPr>
          <a:xfrm>
            <a:off x="6217920" y="4206240"/>
            <a:ext cx="5394960" cy="182880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17920" y="4206240"/>
            <a:ext cx="5394960"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82512" y="4334255"/>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E5534B"/>
                </a:solidFill>
                <a:latin typeface="Segoe UI"/>
              </a:rPr>
              <a:t>What ELA can never do</a:t>
            </a:r>
          </a:p>
        </p:txBody>
      </p:sp>
      <p:sp>
        <p:nvSpPr>
          <p:cNvPr id="26" name="TextBox 25"/>
          <p:cNvSpPr txBox="1"/>
          <p:nvPr/>
        </p:nvSpPr>
        <p:spPr>
          <a:xfrm>
            <a:off x="6519672" y="4663440"/>
            <a:ext cx="4892040" cy="1280160"/>
          </a:xfrm>
          <a:prstGeom prst="rect">
            <a:avLst/>
          </a:prstGeom>
          <a:noFill/>
        </p:spPr>
        <p:txBody>
          <a:bodyPr wrap="square" lIns="0" tIns="0" rIns="0" bIns="0">
            <a:spAutoFit/>
          </a:bodyPr>
          <a:lstStyle/>
          <a:p>
            <a:pPr>
              <a:lnSpc>
                <a:spcPct val="105000"/>
              </a:lnSpc>
              <a:spcAft>
                <a:spcPts val="600"/>
              </a:spcAft>
            </a:pPr>
            <a:r>
              <a:rPr sz="1250" b="1">
                <a:solidFill>
                  <a:srgbClr val="E5534B"/>
                </a:solidFill>
                <a:latin typeface="Segoe UI"/>
              </a:rPr>
              <a:t>•  </a:t>
            </a:r>
            <a:r>
              <a:rPr sz="1250" b="0">
                <a:solidFill>
                  <a:srgbClr val="E6EDF3"/>
                </a:solidFill>
                <a:latin typeface="Segoe UI"/>
              </a:rPr>
              <a:t>Prove an edit happened — it flags regions worth a human look</a:t>
            </a:r>
          </a:p>
          <a:p>
            <a:pPr>
              <a:lnSpc>
                <a:spcPct val="105000"/>
              </a:lnSpc>
              <a:spcAft>
                <a:spcPts val="600"/>
              </a:spcAft>
            </a:pPr>
            <a:r>
              <a:rPr sz="1250" b="1">
                <a:solidFill>
                  <a:srgbClr val="E5534B"/>
                </a:solidFill>
                <a:latin typeface="Segoe UI"/>
              </a:rPr>
              <a:t>•  </a:t>
            </a:r>
            <a:r>
              <a:rPr sz="1250" b="0">
                <a:solidFill>
                  <a:srgbClr val="E6EDF3"/>
                </a:solidFill>
                <a:latin typeface="Segoe UI"/>
              </a:rPr>
              <a:t>Survive re-uploads: every re-save erases older compression history</a:t>
            </a:r>
          </a:p>
        </p:txBody>
      </p:sp>
      <p:sp>
        <p:nvSpPr>
          <p:cNvPr id="27" name="TextBox 26"/>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28" name="TextBox 27"/>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08 / 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2EA043"/>
                </a:solidFill>
                <a:latin typeface="Segoe UI"/>
              </a:rPr>
              <a:t>MODULES 3-8</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A Toolkit of Eight Independent Clue-Finders</a:t>
            </a:r>
          </a:p>
        </p:txBody>
      </p:sp>
      <p:sp>
        <p:nvSpPr>
          <p:cNvPr id="5" name="Rectangle 4"/>
          <p:cNvSpPr/>
          <p:nvPr/>
        </p:nvSpPr>
        <p:spPr>
          <a:xfrm>
            <a:off x="585216" y="1389888"/>
            <a:ext cx="822960" cy="41148"/>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3736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37360"/>
            <a:ext cx="2542032"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2024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58A6FF"/>
                </a:solidFill>
                <a:latin typeface="Segoe UI"/>
              </a:rPr>
              <a:t>Noise Analysis</a:t>
            </a:r>
          </a:p>
        </p:txBody>
      </p:sp>
      <p:sp>
        <p:nvSpPr>
          <p:cNvPr id="9" name="TextBox 8"/>
          <p:cNvSpPr txBox="1"/>
          <p:nvPr/>
        </p:nvSpPr>
        <p:spPr>
          <a:xfrm>
            <a:off x="731520" y="239572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Camera sensors leave a consistent noise 'fingerprint'; patched regions break it.</a:t>
            </a:r>
          </a:p>
        </p:txBody>
      </p:sp>
      <p:sp>
        <p:nvSpPr>
          <p:cNvPr id="10" name="Rounded Rectangle 9"/>
          <p:cNvSpPr/>
          <p:nvPr/>
        </p:nvSpPr>
        <p:spPr>
          <a:xfrm>
            <a:off x="3401568" y="173736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01568" y="1737360"/>
            <a:ext cx="2542032"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66160" y="192024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58A6FF"/>
                </a:solidFill>
                <a:latin typeface="Segoe UI"/>
              </a:rPr>
              <a:t>Compression Stats</a:t>
            </a:r>
          </a:p>
        </p:txBody>
      </p:sp>
      <p:sp>
        <p:nvSpPr>
          <p:cNvPr id="13" name="TextBox 12"/>
          <p:cNvSpPr txBox="1"/>
          <p:nvPr/>
        </p:nvSpPr>
        <p:spPr>
          <a:xfrm>
            <a:off x="3566160" y="239572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Bytes-per-pixel &amp; JPEG blockiness reveal how heavily the file was processed.</a:t>
            </a:r>
          </a:p>
        </p:txBody>
      </p:sp>
      <p:sp>
        <p:nvSpPr>
          <p:cNvPr id="14" name="Rounded Rectangle 13"/>
          <p:cNvSpPr/>
          <p:nvPr/>
        </p:nvSpPr>
        <p:spPr>
          <a:xfrm>
            <a:off x="6236208" y="173736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36208" y="1737360"/>
            <a:ext cx="2542032"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92024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E0A32E"/>
                </a:solidFill>
                <a:latin typeface="Segoe UI"/>
              </a:rPr>
              <a:t>Edge &amp; Frequency</a:t>
            </a:r>
          </a:p>
        </p:txBody>
      </p:sp>
      <p:sp>
        <p:nvSpPr>
          <p:cNvPr id="17" name="TextBox 16"/>
          <p:cNvSpPr txBox="1"/>
          <p:nvPr/>
        </p:nvSpPr>
        <p:spPr>
          <a:xfrm>
            <a:off x="6400800" y="239572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Edge density and DCT energy profile — AI images often look 'too smooth'.</a:t>
            </a:r>
          </a:p>
        </p:txBody>
      </p:sp>
      <p:sp>
        <p:nvSpPr>
          <p:cNvPr id="18" name="Rounded Rectangle 17"/>
          <p:cNvSpPr/>
          <p:nvPr/>
        </p:nvSpPr>
        <p:spPr>
          <a:xfrm>
            <a:off x="9070848" y="173736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70848" y="1737360"/>
            <a:ext cx="2542032"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35440" y="192024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E0A32E"/>
                </a:solidFill>
                <a:latin typeface="Segoe UI"/>
              </a:rPr>
              <a:t>Color Banding</a:t>
            </a:r>
          </a:p>
        </p:txBody>
      </p:sp>
      <p:sp>
        <p:nvSpPr>
          <p:cNvPr id="21" name="TextBox 20"/>
          <p:cNvSpPr txBox="1"/>
          <p:nvPr/>
        </p:nvSpPr>
        <p:spPr>
          <a:xfrm>
            <a:off x="9235440" y="239572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Counting empty histogram bins exposes gradient smoothing from generation.</a:t>
            </a:r>
          </a:p>
        </p:txBody>
      </p:sp>
      <p:sp>
        <p:nvSpPr>
          <p:cNvPr id="22" name="Rounded Rectangle 21"/>
          <p:cNvSpPr/>
          <p:nvPr/>
        </p:nvSpPr>
        <p:spPr>
          <a:xfrm>
            <a:off x="566928" y="365760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3657600"/>
            <a:ext cx="2542032"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84048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58A6FF"/>
                </a:solidFill>
                <a:latin typeface="Segoe UI"/>
              </a:rPr>
              <a:t>JPEG Ghost</a:t>
            </a:r>
          </a:p>
        </p:txBody>
      </p:sp>
      <p:sp>
        <p:nvSpPr>
          <p:cNvPr id="25" name="TextBox 24"/>
          <p:cNvSpPr txBox="1"/>
          <p:nvPr/>
        </p:nvSpPr>
        <p:spPr>
          <a:xfrm>
            <a:off x="731520" y="431596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A quality-sweep finds a prior save at a different quality — an edit trail.</a:t>
            </a:r>
          </a:p>
        </p:txBody>
      </p:sp>
      <p:sp>
        <p:nvSpPr>
          <p:cNvPr id="26" name="Rounded Rectangle 25"/>
          <p:cNvSpPr/>
          <p:nvPr/>
        </p:nvSpPr>
        <p:spPr>
          <a:xfrm>
            <a:off x="3401568" y="365760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401568" y="3657600"/>
            <a:ext cx="2542032"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66160" y="384048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2EA043"/>
                </a:solidFill>
                <a:latin typeface="Segoe UI"/>
              </a:rPr>
              <a:t>CFA Signature</a:t>
            </a:r>
          </a:p>
        </p:txBody>
      </p:sp>
      <p:sp>
        <p:nvSpPr>
          <p:cNvPr id="29" name="TextBox 28"/>
          <p:cNvSpPr txBox="1"/>
          <p:nvPr/>
        </p:nvSpPr>
        <p:spPr>
          <a:xfrm>
            <a:off x="3566160" y="431596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Real camera pixels follow a Bayer pattern; its presence weakly supports a camera. Absence proves nothing.</a:t>
            </a:r>
          </a:p>
        </p:txBody>
      </p:sp>
      <p:sp>
        <p:nvSpPr>
          <p:cNvPr id="30" name="Rounded Rectangle 29"/>
          <p:cNvSpPr/>
          <p:nvPr/>
        </p:nvSpPr>
        <p:spPr>
          <a:xfrm>
            <a:off x="6236208" y="365760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36208" y="3657600"/>
            <a:ext cx="2542032"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384048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E0A32E"/>
                </a:solidFill>
                <a:latin typeface="Segoe UI"/>
              </a:rPr>
              <a:t>Copy-Move</a:t>
            </a:r>
          </a:p>
        </p:txBody>
      </p:sp>
      <p:sp>
        <p:nvSpPr>
          <p:cNvPr id="33" name="TextBox 32"/>
          <p:cNvSpPr txBox="1"/>
          <p:nvPr/>
        </p:nvSpPr>
        <p:spPr>
          <a:xfrm>
            <a:off x="6400800" y="431596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8×8-block duplicate detection with matching offsets flags cloned regions.</a:t>
            </a:r>
          </a:p>
        </p:txBody>
      </p:sp>
      <p:sp>
        <p:nvSpPr>
          <p:cNvPr id="34" name="Rounded Rectangle 33"/>
          <p:cNvSpPr/>
          <p:nvPr/>
        </p:nvSpPr>
        <p:spPr>
          <a:xfrm>
            <a:off x="9070848" y="3657600"/>
            <a:ext cx="2542032" cy="175564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070848" y="3657600"/>
            <a:ext cx="2542032"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235440" y="3840480"/>
            <a:ext cx="2212848" cy="502920"/>
          </a:xfrm>
          <a:prstGeom prst="rect">
            <a:avLst/>
          </a:prstGeom>
          <a:noFill/>
        </p:spPr>
        <p:txBody>
          <a:bodyPr wrap="square" lIns="0" tIns="0" rIns="0" bIns="0" anchor="t">
            <a:spAutoFit/>
          </a:bodyPr>
          <a:lstStyle/>
          <a:p>
            <a:pPr algn="l">
              <a:lnSpc>
                <a:spcPct val="100000"/>
              </a:lnSpc>
              <a:spcAft>
                <a:spcPts val="0"/>
              </a:spcAft>
            </a:pPr>
            <a:r>
              <a:rPr sz="1300" b="1" i="0">
                <a:solidFill>
                  <a:srgbClr val="E5534B"/>
                </a:solidFill>
                <a:latin typeface="Segoe UI"/>
              </a:rPr>
              <a:t>Watermark Scan</a:t>
            </a:r>
          </a:p>
        </p:txBody>
      </p:sp>
      <p:sp>
        <p:nvSpPr>
          <p:cNvPr id="37" name="TextBox 36"/>
          <p:cNvSpPr txBox="1"/>
          <p:nvPr/>
        </p:nvSpPr>
        <p:spPr>
          <a:xfrm>
            <a:off x="9235440" y="4315968"/>
            <a:ext cx="2212848" cy="1005840"/>
          </a:xfrm>
          <a:prstGeom prst="rect">
            <a:avLst/>
          </a:prstGeom>
          <a:noFill/>
        </p:spPr>
        <p:txBody>
          <a:bodyPr wrap="square" lIns="0" tIns="0" rIns="0" bIns="0" anchor="t">
            <a:spAutoFit/>
          </a:bodyPr>
          <a:lstStyle/>
          <a:p>
            <a:pPr algn="l">
              <a:lnSpc>
                <a:spcPct val="110000"/>
              </a:lnSpc>
              <a:spcAft>
                <a:spcPts val="0"/>
              </a:spcAft>
            </a:pPr>
            <a:r>
              <a:rPr sz="1080" b="0" i="0">
                <a:solidFill>
                  <a:srgbClr val="E6EDF3"/>
                </a:solidFill>
                <a:latin typeface="Segoe UI"/>
              </a:rPr>
              <a:t>Looks for SynthID-style 'trainedalgorithmicmedia' markers and visible stamps.</a:t>
            </a:r>
          </a:p>
        </p:txBody>
      </p:sp>
      <p:sp>
        <p:nvSpPr>
          <p:cNvPr id="38" name="TextBox 37"/>
          <p:cNvSpPr txBox="1"/>
          <p:nvPr/>
        </p:nvSpPr>
        <p:spPr>
          <a:xfrm>
            <a:off x="566928" y="5715000"/>
            <a:ext cx="11045952" cy="502920"/>
          </a:xfrm>
          <a:prstGeom prst="rect">
            <a:avLst/>
          </a:prstGeom>
          <a:noFill/>
        </p:spPr>
        <p:txBody>
          <a:bodyPr wrap="square" lIns="0" tIns="0" rIns="0" bIns="0" anchor="t">
            <a:spAutoFit/>
          </a:bodyPr>
          <a:lstStyle/>
          <a:p>
            <a:pPr algn="ctr">
              <a:lnSpc>
                <a:spcPct val="100000"/>
              </a:lnSpc>
              <a:spcAft>
                <a:spcPts val="0"/>
              </a:spcAft>
            </a:pPr>
            <a:r>
              <a:rPr sz="1350" b="1" i="0">
                <a:solidFill>
                  <a:srgbClr val="E6EDF3"/>
                </a:solidFill>
                <a:latin typeface="Segoe UI"/>
              </a:rPr>
              <a:t>Two enforced rules: </a:t>
            </a:r>
            <a:r>
              <a:rPr sz="1350" b="0" i="0">
                <a:solidFill>
                  <a:srgbClr val="E0A32E"/>
                </a:solidFill>
                <a:latin typeface="Segoe UI"/>
              </a:rPr>
              <a:t>absence of a signature is never evidence of AI  ·  compression history describes the file's journey, never its origin</a:t>
            </a:r>
          </a:p>
        </p:txBody>
      </p:sp>
      <p:sp>
        <p:nvSpPr>
          <p:cNvPr id="39" name="TextBox 38"/>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40" name="TextBox 39"/>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09 / 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E5534B"/>
                </a:solidFill>
                <a:latin typeface="Segoe UI"/>
              </a:rPr>
              <a:t>MODULE 7 OF 8</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The Optional AI Detector: Useful Witness, Never the Judge</a:t>
            </a:r>
          </a:p>
        </p:txBody>
      </p:sp>
      <p:sp>
        <p:nvSpPr>
          <p:cNvPr id="5" name="Rectangle 4"/>
          <p:cNvSpPr/>
          <p:nvPr/>
        </p:nvSpPr>
        <p:spPr>
          <a:xfrm>
            <a:off x="585216" y="1389888"/>
            <a:ext cx="822960" cy="41148"/>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11045952" cy="868680"/>
          </a:xfrm>
          <a:prstGeom prst="roundRect">
            <a:avLst>
              <a:gd name="adj" fmla="val 6000"/>
            </a:avLst>
          </a:prstGeom>
          <a:solidFill>
            <a:srgbClr val="1C232E"/>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828800"/>
            <a:ext cx="10424160" cy="640080"/>
          </a:xfrm>
          <a:prstGeom prst="rect">
            <a:avLst/>
          </a:prstGeom>
          <a:noFill/>
        </p:spPr>
        <p:txBody>
          <a:bodyPr wrap="square" lIns="0" tIns="0" rIns="0" bIns="0" anchor="t">
            <a:spAutoFit/>
          </a:bodyPr>
          <a:lstStyle/>
          <a:p>
            <a:pPr algn="l">
              <a:lnSpc>
                <a:spcPct val="115000"/>
              </a:lnSpc>
              <a:spcAft>
                <a:spcPts val="0"/>
              </a:spcAft>
            </a:pPr>
            <a:r>
              <a:rPr sz="1550" b="1" i="0">
                <a:solidFill>
                  <a:srgbClr val="E0A32E"/>
                </a:solidFill>
                <a:latin typeface="Segoe UI"/>
              </a:rPr>
              <a:t>Off by default. </a:t>
            </a:r>
            <a:r>
              <a:rPr sz="1550" b="0" i="0">
                <a:solidFill>
                  <a:srgbClr val="E6EDF3"/>
                </a:solidFill>
                <a:latin typeface="Segoe UI"/>
              </a:rPr>
              <a:t>If the user downloads a local model (e.g. an SDXL detector) it runs offline and votes as ONE witness among many — two independent models must agree for any 'high confidence' wording.</a:t>
            </a:r>
          </a:p>
        </p:txBody>
      </p:sp>
      <p:sp>
        <p:nvSpPr>
          <p:cNvPr id="8" name="Rounded Rectangle 7"/>
          <p:cNvSpPr/>
          <p:nvPr/>
        </p:nvSpPr>
        <p:spPr>
          <a:xfrm>
            <a:off x="566928" y="2788920"/>
            <a:ext cx="5394960" cy="228600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2788920"/>
            <a:ext cx="5394960"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916936"/>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58A6FF"/>
                </a:solidFill>
                <a:latin typeface="Segoe UI"/>
              </a:rPr>
              <a:t>How the ensemble works</a:t>
            </a:r>
          </a:p>
        </p:txBody>
      </p:sp>
      <p:sp>
        <p:nvSpPr>
          <p:cNvPr id="11" name="TextBox 10"/>
          <p:cNvSpPr txBox="1"/>
          <p:nvPr/>
        </p:nvSpPr>
        <p:spPr>
          <a:xfrm>
            <a:off x="868680" y="3246120"/>
            <a:ext cx="4892040" cy="1737360"/>
          </a:xfrm>
          <a:prstGeom prst="rect">
            <a:avLst/>
          </a:prstGeom>
          <a:noFill/>
        </p:spPr>
        <p:txBody>
          <a:bodyPr wrap="square" lIns="0" tIns="0" rIns="0" bIns="0">
            <a:spAutoFit/>
          </a:bodyPr>
          <a:lstStyle/>
          <a:p>
            <a:pPr>
              <a:lnSpc>
                <a:spcPct val="105000"/>
              </a:lnSpc>
              <a:spcAft>
                <a:spcPts val="600"/>
              </a:spcAft>
            </a:pPr>
            <a:r>
              <a:rPr sz="1250" b="1">
                <a:solidFill>
                  <a:srgbClr val="58A6FF"/>
                </a:solidFill>
                <a:latin typeface="Segoe UI"/>
              </a:rPr>
              <a:t>•  </a:t>
            </a:r>
            <a:r>
              <a:rPr sz="1250" b="0">
                <a:solidFill>
                  <a:srgbClr val="E6EDF3"/>
                </a:solidFill>
                <a:latin typeface="Segoe UI"/>
              </a:rPr>
              <a:t>One model's opinion = 'possible' — never 'proven'</a:t>
            </a:r>
          </a:p>
          <a:p>
            <a:pPr>
              <a:lnSpc>
                <a:spcPct val="105000"/>
              </a:lnSpc>
              <a:spcAft>
                <a:spcPts val="600"/>
              </a:spcAft>
            </a:pPr>
            <a:r>
              <a:rPr sz="1250" b="1">
                <a:solidFill>
                  <a:srgbClr val="58A6FF"/>
                </a:solidFill>
                <a:latin typeface="Segoe UI"/>
              </a:rPr>
              <a:t>•  </a:t>
            </a:r>
            <a:r>
              <a:rPr sz="1250" b="0">
                <a:solidFill>
                  <a:srgbClr val="E6EDF3"/>
                </a:solidFill>
                <a:latin typeface="Segoe UI"/>
              </a:rPr>
              <a:t>Two+ independent local models must agree for HIGH_CONFIDENCE_AI_LIKELY</a:t>
            </a:r>
          </a:p>
          <a:p>
            <a:pPr>
              <a:lnSpc>
                <a:spcPct val="105000"/>
              </a:lnSpc>
              <a:spcAft>
                <a:spcPts val="600"/>
              </a:spcAft>
            </a:pPr>
            <a:r>
              <a:rPr sz="1250" b="1">
                <a:solidFill>
                  <a:srgbClr val="58A6FF"/>
                </a:solidFill>
                <a:latin typeface="Segoe UI"/>
              </a:rPr>
              <a:t>•  </a:t>
            </a:r>
            <a:r>
              <a:rPr sz="1250" b="0">
                <a:solidFill>
                  <a:srgbClr val="E6EDF3"/>
                </a:solidFill>
                <a:latin typeface="Segoe UI"/>
              </a:rPr>
              <a:t>Optional CLIP probe (opt-in) measures prompt-fit — explicitly NOT a forensic tool</a:t>
            </a:r>
          </a:p>
          <a:p>
            <a:pPr>
              <a:lnSpc>
                <a:spcPct val="105000"/>
              </a:lnSpc>
              <a:spcAft>
                <a:spcPts val="600"/>
              </a:spcAft>
            </a:pPr>
            <a:r>
              <a:rPr sz="1250" b="1">
                <a:solidFill>
                  <a:srgbClr val="58A6FF"/>
                </a:solidFill>
                <a:latin typeface="Segoe UI"/>
              </a:rPr>
              <a:t>•  </a:t>
            </a:r>
            <a:r>
              <a:rPr sz="1250" b="0">
                <a:solidFill>
                  <a:srgbClr val="E6EDF3"/>
                </a:solidFill>
                <a:latin typeface="Segoe UI"/>
              </a:rPr>
              <a:t>Detector contribution is capped at 0.30 in the evidence engine</a:t>
            </a:r>
          </a:p>
        </p:txBody>
      </p:sp>
      <p:sp>
        <p:nvSpPr>
          <p:cNvPr id="12" name="Rounded Rectangle 11"/>
          <p:cNvSpPr/>
          <p:nvPr/>
        </p:nvSpPr>
        <p:spPr>
          <a:xfrm>
            <a:off x="6217920" y="2788920"/>
            <a:ext cx="5394960" cy="228600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2788920"/>
            <a:ext cx="5394960"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2916936"/>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E5534B"/>
                </a:solidFill>
                <a:latin typeface="Segoe UI"/>
              </a:rPr>
              <a:t>Documented failure modes</a:t>
            </a:r>
          </a:p>
        </p:txBody>
      </p:sp>
      <p:sp>
        <p:nvSpPr>
          <p:cNvPr id="15" name="TextBox 14"/>
          <p:cNvSpPr txBox="1"/>
          <p:nvPr/>
        </p:nvSpPr>
        <p:spPr>
          <a:xfrm>
            <a:off x="6519672" y="3246120"/>
            <a:ext cx="4892040" cy="1737360"/>
          </a:xfrm>
          <a:prstGeom prst="rect">
            <a:avLst/>
          </a:prstGeom>
          <a:noFill/>
        </p:spPr>
        <p:txBody>
          <a:bodyPr wrap="square" lIns="0" tIns="0" rIns="0" bIns="0">
            <a:spAutoFit/>
          </a:bodyPr>
          <a:lstStyle/>
          <a:p>
            <a:pPr>
              <a:lnSpc>
                <a:spcPct val="105000"/>
              </a:lnSpc>
              <a:spcAft>
                <a:spcPts val="600"/>
              </a:spcAft>
            </a:pPr>
            <a:r>
              <a:rPr sz="1250" b="1">
                <a:solidFill>
                  <a:srgbClr val="E5534B"/>
                </a:solidFill>
                <a:latin typeface="Segoe UI"/>
              </a:rPr>
              <a:t>•  </a:t>
            </a:r>
            <a:r>
              <a:rPr sz="1250" b="0">
                <a:solidFill>
                  <a:srgbClr val="E6EDF3"/>
                </a:solidFill>
                <a:latin typeface="Segoe UI"/>
              </a:rPr>
              <a:t>False positives — stylised art, heavy filters and some real photos get flagged</a:t>
            </a:r>
          </a:p>
          <a:p>
            <a:pPr>
              <a:lnSpc>
                <a:spcPct val="105000"/>
              </a:lnSpc>
              <a:spcAft>
                <a:spcPts val="600"/>
              </a:spcAft>
            </a:pPr>
            <a:r>
              <a:rPr sz="1250" b="1">
                <a:solidFill>
                  <a:srgbClr val="E5534B"/>
                </a:solidFill>
                <a:latin typeface="Segoe UI"/>
              </a:rPr>
              <a:t>•  </a:t>
            </a:r>
            <a:r>
              <a:rPr sz="1250" b="0">
                <a:solidFill>
                  <a:srgbClr val="E6EDF3"/>
                </a:solidFill>
                <a:latin typeface="Segoe UI"/>
              </a:rPr>
              <a:t>False negatives — newer generators, tight crops, re-encodes slip past</a:t>
            </a:r>
          </a:p>
          <a:p>
            <a:pPr>
              <a:lnSpc>
                <a:spcPct val="105000"/>
              </a:lnSpc>
              <a:spcAft>
                <a:spcPts val="600"/>
              </a:spcAft>
            </a:pPr>
            <a:r>
              <a:rPr sz="1250" b="1">
                <a:solidFill>
                  <a:srgbClr val="E5534B"/>
                </a:solidFill>
                <a:latin typeface="Segoe UI"/>
              </a:rPr>
              <a:t>•  </a:t>
            </a:r>
            <a:r>
              <a:rPr sz="1250" b="0">
                <a:solidFill>
                  <a:srgbClr val="E6EDF3"/>
                </a:solidFill>
                <a:latin typeface="Segoe UI"/>
              </a:rPr>
              <a:t>Known scope limits — e.g. the SDXL detector is trained SDXL-vs-Wikimedia, nothing more</a:t>
            </a:r>
          </a:p>
        </p:txBody>
      </p:sp>
      <p:sp>
        <p:nvSpPr>
          <p:cNvPr id="16" name="TextBox 15"/>
          <p:cNvSpPr txBox="1"/>
          <p:nvPr/>
        </p:nvSpPr>
        <p:spPr>
          <a:xfrm>
            <a:off x="566928" y="5349240"/>
            <a:ext cx="11045952" cy="502920"/>
          </a:xfrm>
          <a:prstGeom prst="rect">
            <a:avLst/>
          </a:prstGeom>
          <a:noFill/>
        </p:spPr>
        <p:txBody>
          <a:bodyPr wrap="square" lIns="0" tIns="0" rIns="0" bIns="0" anchor="t">
            <a:spAutoFit/>
          </a:bodyPr>
          <a:lstStyle/>
          <a:p>
            <a:pPr algn="ctr">
              <a:lnSpc>
                <a:spcPct val="100000"/>
              </a:lnSpc>
              <a:spcAft>
                <a:spcPts val="0"/>
              </a:spcAft>
            </a:pPr>
            <a:r>
              <a:rPr sz="1350" b="1" i="0">
                <a:solidFill>
                  <a:srgbClr val="E6EDF3"/>
                </a:solidFill>
                <a:latin typeface="Segoe UI"/>
              </a:rPr>
              <a:t>Design rule: </a:t>
            </a:r>
            <a:r>
              <a:rPr sz="1350" b="0" i="0">
                <a:solidFill>
                  <a:srgbClr val="2EA043"/>
                </a:solidFill>
                <a:latin typeface="Segoe UI"/>
              </a:rPr>
              <a:t>only cryptographically verified C2PA provenance can ever produce a definitive verdict — a model score cannot.</a:t>
            </a:r>
          </a:p>
        </p:txBody>
      </p:sp>
      <p:sp>
        <p:nvSpPr>
          <p:cNvPr id="17" name="TextBox 16"/>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18" name="TextBox 17"/>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10 / 18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2EA043"/>
                </a:solidFill>
                <a:latin typeface="Segoe UI"/>
              </a:rPr>
              <a:t>MODULE 4 OF 8</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C2PA Content Credentials: A Passport for Images</a:t>
            </a:r>
          </a:p>
        </p:txBody>
      </p:sp>
      <p:sp>
        <p:nvSpPr>
          <p:cNvPr id="5" name="Rectangle 4"/>
          <p:cNvSpPr/>
          <p:nvPr/>
        </p:nvSpPr>
        <p:spPr>
          <a:xfrm>
            <a:off x="585216" y="1389888"/>
            <a:ext cx="822960" cy="41148"/>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11045952" cy="822960"/>
          </a:xfrm>
          <a:prstGeom prst="roundRect">
            <a:avLst>
              <a:gd name="adj" fmla="val 6000"/>
            </a:avLst>
          </a:prstGeom>
          <a:solidFill>
            <a:srgbClr val="1C232E"/>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819656"/>
            <a:ext cx="10424160" cy="594360"/>
          </a:xfrm>
          <a:prstGeom prst="rect">
            <a:avLst/>
          </a:prstGeom>
          <a:noFill/>
        </p:spPr>
        <p:txBody>
          <a:bodyPr wrap="square" lIns="0" tIns="0" rIns="0" bIns="0" anchor="t">
            <a:spAutoFit/>
          </a:bodyPr>
          <a:lstStyle/>
          <a:p>
            <a:pPr algn="l">
              <a:lnSpc>
                <a:spcPct val="115000"/>
              </a:lnSpc>
              <a:spcAft>
                <a:spcPts val="0"/>
              </a:spcAft>
            </a:pPr>
            <a:r>
              <a:rPr sz="1550" b="1" i="0">
                <a:solidFill>
                  <a:srgbClr val="2EA043"/>
                </a:solidFill>
                <a:latin typeface="Segoe UI"/>
              </a:rPr>
              <a:t>C2PA</a:t>
            </a:r>
            <a:r>
              <a:rPr sz="1550" b="0" i="0">
                <a:solidFill>
                  <a:srgbClr val="E6EDF3"/>
                </a:solidFill>
                <a:latin typeface="Segoe UI"/>
              </a:rPr>
              <a:t> is an open standard for cryptographically signed provenance — a tamper-evident record of where an image came from and how it was edited.</a:t>
            </a:r>
          </a:p>
        </p:txBody>
      </p:sp>
      <p:sp>
        <p:nvSpPr>
          <p:cNvPr id="8" name="Rounded Rectangle 7"/>
          <p:cNvSpPr/>
          <p:nvPr/>
        </p:nvSpPr>
        <p:spPr>
          <a:xfrm>
            <a:off x="566928" y="2743200"/>
            <a:ext cx="2697480" cy="960120"/>
          </a:xfrm>
          <a:prstGeom prst="roundRect">
            <a:avLst>
              <a:gd name="adj" fmla="val 6000"/>
            </a:avLst>
          </a:prstGeom>
          <a:solidFill>
            <a:srgbClr val="161B22"/>
          </a:solidFill>
          <a:ln w="15875">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862072"/>
            <a:ext cx="2468880" cy="320040"/>
          </a:xfrm>
          <a:prstGeom prst="rect">
            <a:avLst/>
          </a:prstGeom>
          <a:noFill/>
        </p:spPr>
        <p:txBody>
          <a:bodyPr wrap="square" lIns="0" tIns="0" rIns="0" bIns="0" anchor="t">
            <a:spAutoFit/>
          </a:bodyPr>
          <a:lstStyle/>
          <a:p>
            <a:pPr algn="l">
              <a:lnSpc>
                <a:spcPct val="100000"/>
              </a:lnSpc>
              <a:spcAft>
                <a:spcPts val="0"/>
              </a:spcAft>
            </a:pPr>
            <a:r>
              <a:rPr sz="1200" b="1" i="0">
                <a:solidFill>
                  <a:srgbClr val="2EA043"/>
                </a:solidFill>
                <a:latin typeface="Segoe UI"/>
              </a:rPr>
              <a:t>VERIFIED</a:t>
            </a:r>
          </a:p>
        </p:txBody>
      </p:sp>
      <p:sp>
        <p:nvSpPr>
          <p:cNvPr id="10" name="TextBox 9"/>
          <p:cNvSpPr txBox="1"/>
          <p:nvPr/>
        </p:nvSpPr>
        <p:spPr>
          <a:xfrm>
            <a:off x="713232" y="3200400"/>
            <a:ext cx="2468880" cy="36576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Signature checks out</a:t>
            </a:r>
          </a:p>
        </p:txBody>
      </p:sp>
      <p:sp>
        <p:nvSpPr>
          <p:cNvPr id="11" name="Rounded Rectangle 10"/>
          <p:cNvSpPr/>
          <p:nvPr/>
        </p:nvSpPr>
        <p:spPr>
          <a:xfrm>
            <a:off x="3401568" y="2743200"/>
            <a:ext cx="8211312" cy="9601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80" y="2852928"/>
            <a:ext cx="7818120" cy="777240"/>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Segoe UI"/>
              </a:rPr>
              <a:t>Strongest evidence. If the signed claim says 'AI-generated' → the one definitive verdict: PROVEN_AI_GENERATION. Even then: proves the claim for the signed asset, not every later pixel.</a:t>
            </a:r>
          </a:p>
        </p:txBody>
      </p:sp>
      <p:sp>
        <p:nvSpPr>
          <p:cNvPr id="13" name="Rounded Rectangle 12"/>
          <p:cNvSpPr/>
          <p:nvPr/>
        </p:nvSpPr>
        <p:spPr>
          <a:xfrm>
            <a:off x="566928" y="3858768"/>
            <a:ext cx="2697480" cy="960120"/>
          </a:xfrm>
          <a:prstGeom prst="roundRect">
            <a:avLst>
              <a:gd name="adj" fmla="val 6000"/>
            </a:avLst>
          </a:prstGeom>
          <a:solidFill>
            <a:srgbClr val="161B22"/>
          </a:solidFill>
          <a:ln w="15875">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3977639"/>
            <a:ext cx="2468880" cy="320040"/>
          </a:xfrm>
          <a:prstGeom prst="rect">
            <a:avLst/>
          </a:prstGeom>
          <a:noFill/>
        </p:spPr>
        <p:txBody>
          <a:bodyPr wrap="square" lIns="0" tIns="0" rIns="0" bIns="0" anchor="t">
            <a:spAutoFit/>
          </a:bodyPr>
          <a:lstStyle/>
          <a:p>
            <a:pPr algn="l">
              <a:lnSpc>
                <a:spcPct val="100000"/>
              </a:lnSpc>
              <a:spcAft>
                <a:spcPts val="0"/>
              </a:spcAft>
            </a:pPr>
            <a:r>
              <a:rPr sz="1200" b="1" i="0">
                <a:solidFill>
                  <a:srgbClr val="E0A32E"/>
                </a:solidFill>
                <a:latin typeface="Segoe UI"/>
              </a:rPr>
              <a:t>PRESENT — UNVERIFIED</a:t>
            </a:r>
          </a:p>
        </p:txBody>
      </p:sp>
      <p:sp>
        <p:nvSpPr>
          <p:cNvPr id="15" name="TextBox 14"/>
          <p:cNvSpPr txBox="1"/>
          <p:nvPr/>
        </p:nvSpPr>
        <p:spPr>
          <a:xfrm>
            <a:off x="713232" y="4315968"/>
            <a:ext cx="2468880" cy="36576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Manifest found, not verified</a:t>
            </a:r>
          </a:p>
        </p:txBody>
      </p:sp>
      <p:sp>
        <p:nvSpPr>
          <p:cNvPr id="16" name="Rounded Rectangle 15"/>
          <p:cNvSpPr/>
          <p:nvPr/>
        </p:nvSpPr>
        <p:spPr>
          <a:xfrm>
            <a:off x="3401568" y="3858768"/>
            <a:ext cx="8211312" cy="9601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11880" y="3968496"/>
            <a:ext cx="7818120" cy="777240"/>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Segoe UI"/>
              </a:rPr>
              <a:t>Still useful: an unverified SynthID marker ('trainedalgorithmicmedia') counts as an AI-leaning signal at reduced weight. Detection ≠ verification — stated on-screen.</a:t>
            </a:r>
          </a:p>
        </p:txBody>
      </p:sp>
      <p:sp>
        <p:nvSpPr>
          <p:cNvPr id="18" name="Rounded Rectangle 17"/>
          <p:cNvSpPr/>
          <p:nvPr/>
        </p:nvSpPr>
        <p:spPr>
          <a:xfrm>
            <a:off x="566928" y="4974336"/>
            <a:ext cx="2697480" cy="960120"/>
          </a:xfrm>
          <a:prstGeom prst="roundRect">
            <a:avLst>
              <a:gd name="adj" fmla="val 6000"/>
            </a:avLst>
          </a:prstGeom>
          <a:solidFill>
            <a:srgbClr val="161B22"/>
          </a:solidFill>
          <a:ln w="15875">
            <a:solidFill>
              <a:srgbClr val="8B94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 y="5093207"/>
            <a:ext cx="2468880" cy="320040"/>
          </a:xfrm>
          <a:prstGeom prst="rect">
            <a:avLst/>
          </a:prstGeom>
          <a:noFill/>
        </p:spPr>
        <p:txBody>
          <a:bodyPr wrap="square" lIns="0" tIns="0" rIns="0" bIns="0" anchor="t">
            <a:spAutoFit/>
          </a:bodyPr>
          <a:lstStyle/>
          <a:p>
            <a:pPr algn="l">
              <a:lnSpc>
                <a:spcPct val="100000"/>
              </a:lnSpc>
              <a:spcAft>
                <a:spcPts val="0"/>
              </a:spcAft>
            </a:pPr>
            <a:r>
              <a:rPr sz="1200" b="1" i="0">
                <a:solidFill>
                  <a:srgbClr val="8B949E"/>
                </a:solidFill>
                <a:latin typeface="Segoe UI"/>
              </a:rPr>
              <a:t>NOT FOUND</a:t>
            </a:r>
          </a:p>
        </p:txBody>
      </p:sp>
      <p:sp>
        <p:nvSpPr>
          <p:cNvPr id="20" name="TextBox 19"/>
          <p:cNvSpPr txBox="1"/>
          <p:nvPr/>
        </p:nvSpPr>
        <p:spPr>
          <a:xfrm>
            <a:off x="713232" y="5431536"/>
            <a:ext cx="2468880" cy="36576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No credential data</a:t>
            </a:r>
          </a:p>
        </p:txBody>
      </p:sp>
      <p:sp>
        <p:nvSpPr>
          <p:cNvPr id="21" name="Rounded Rectangle 20"/>
          <p:cNvSpPr/>
          <p:nvPr/>
        </p:nvSpPr>
        <p:spPr>
          <a:xfrm>
            <a:off x="3401568" y="4974336"/>
            <a:ext cx="8211312" cy="9601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11880" y="5084064"/>
            <a:ext cx="7818120" cy="777240"/>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Segoe UI"/>
              </a:rPr>
              <a:t>Recorded as neutral. Cameras rarely embed C2PA yet; platforms strip it. Missing credentials prove nothing in either direction.</a:t>
            </a:r>
          </a:p>
        </p:txBody>
      </p:sp>
      <p:sp>
        <p:nvSpPr>
          <p:cNvPr id="23" name="TextBox 22"/>
          <p:cNvSpPr txBox="1"/>
          <p:nvPr/>
        </p:nvSpPr>
        <p:spPr>
          <a:xfrm>
            <a:off x="566928" y="5943600"/>
            <a:ext cx="11045952" cy="365760"/>
          </a:xfrm>
          <a:prstGeom prst="rect">
            <a:avLst/>
          </a:prstGeom>
          <a:noFill/>
        </p:spPr>
        <p:txBody>
          <a:bodyPr wrap="square" lIns="0" tIns="0" rIns="0" bIns="0" anchor="t">
            <a:spAutoFit/>
          </a:bodyPr>
          <a:lstStyle/>
          <a:p>
            <a:pPr algn="ctr">
              <a:lnSpc>
                <a:spcPct val="100000"/>
              </a:lnSpc>
              <a:spcAft>
                <a:spcPts val="0"/>
              </a:spcAft>
            </a:pPr>
            <a:r>
              <a:rPr sz="1250" b="0" i="0">
                <a:solidFill>
                  <a:srgbClr val="8B949E"/>
                </a:solidFill>
                <a:latin typeface="Segoe UI"/>
              </a:rPr>
              <a:t>TruePix detects and reports credentials — it deliberately never forges a 'VERIFIED' result from raw bytes.</a:t>
            </a:r>
          </a:p>
        </p:txBody>
      </p:sp>
      <p:sp>
        <p:nvSpPr>
          <p:cNvPr id="24" name="TextBox 23"/>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25" name="TextBox 24"/>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11 / 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E0A32E"/>
                </a:solidFill>
                <a:latin typeface="Segoe UI"/>
              </a:rPr>
              <a:t>THE DECISION MAKER</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The Risk Engine: Weighing Evidence Like a Judge</a:t>
            </a:r>
          </a:p>
        </p:txBody>
      </p:sp>
      <p:sp>
        <p:nvSpPr>
          <p:cNvPr id="5" name="Rectangle 4"/>
          <p:cNvSpPr/>
          <p:nvPr/>
        </p:nvSpPr>
        <p:spPr>
          <a:xfrm>
            <a:off x="585216" y="1389888"/>
            <a:ext cx="822960" cy="41148"/>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37360"/>
            <a:ext cx="5577840" cy="2834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37360"/>
            <a:ext cx="5577840"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865376"/>
            <a:ext cx="5248655" cy="292608"/>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Rules it follows</a:t>
            </a:r>
          </a:p>
        </p:txBody>
      </p:sp>
      <p:sp>
        <p:nvSpPr>
          <p:cNvPr id="9" name="TextBox 8"/>
          <p:cNvSpPr txBox="1"/>
          <p:nvPr/>
        </p:nvSpPr>
        <p:spPr>
          <a:xfrm>
            <a:off x="868680" y="2194560"/>
            <a:ext cx="5029200" cy="2286000"/>
          </a:xfrm>
          <a:prstGeom prst="rect">
            <a:avLst/>
          </a:prstGeom>
          <a:noFill/>
        </p:spPr>
        <p:txBody>
          <a:bodyPr wrap="square" lIns="0" tIns="0" rIns="0" bIns="0">
            <a:spAutoFit/>
          </a:bodyPr>
          <a:lstStyle/>
          <a:p>
            <a:pPr>
              <a:lnSpc>
                <a:spcPct val="105000"/>
              </a:lnSpc>
              <a:spcAft>
                <a:spcPts val="700"/>
              </a:spcAft>
            </a:pPr>
            <a:r>
              <a:rPr sz="1230" b="1">
                <a:solidFill>
                  <a:srgbClr val="E0A32E"/>
                </a:solidFill>
                <a:latin typeface="Segoe UI"/>
              </a:rPr>
              <a:t>•  </a:t>
            </a:r>
            <a:r>
              <a:rPr sz="1230" b="0">
                <a:solidFill>
                  <a:srgbClr val="E6EDF3"/>
                </a:solidFill>
                <a:latin typeface="Segoe UI"/>
              </a:rPr>
              <a:t>Family caps — forensics ≤ 0.35, detector ≤ 0.30, metadata ≤ 0.25… no family can dominate</a:t>
            </a:r>
          </a:p>
          <a:p>
            <a:pPr>
              <a:lnSpc>
                <a:spcPct val="105000"/>
              </a:lnSpc>
              <a:spcAft>
                <a:spcPts val="700"/>
              </a:spcAft>
            </a:pPr>
            <a:r>
              <a:rPr sz="1230" b="1">
                <a:solidFill>
                  <a:srgbClr val="E0A32E"/>
                </a:solidFill>
                <a:latin typeface="Segoe UI"/>
              </a:rPr>
              <a:t>•  </a:t>
            </a:r>
            <a:r>
              <a:rPr sz="1230" b="0">
                <a:solidFill>
                  <a:srgbClr val="E6EDF3"/>
                </a:solidFill>
                <a:latin typeface="Segoe UI"/>
              </a:rPr>
              <a:t>Reliability weights — verified provenance 0.9 vs unverified 0.3</a:t>
            </a:r>
          </a:p>
          <a:p>
            <a:pPr>
              <a:lnSpc>
                <a:spcPct val="105000"/>
              </a:lnSpc>
              <a:spcAft>
                <a:spcPts val="700"/>
              </a:spcAft>
            </a:pPr>
            <a:r>
              <a:rPr sz="1230" b="1">
                <a:solidFill>
                  <a:srgbClr val="E0A32E"/>
                </a:solidFill>
                <a:latin typeface="Segoe UI"/>
              </a:rPr>
              <a:t>•  </a:t>
            </a:r>
            <a:r>
              <a:rPr sz="1230" b="0">
                <a:solidFill>
                  <a:srgbClr val="E6EDF3"/>
                </a:solidFill>
                <a:latin typeface="Segoe UI"/>
              </a:rPr>
              <a:t>Conflicts → INCONCLUSIVE — it refuses to pick a side when strong signals disagree</a:t>
            </a:r>
          </a:p>
          <a:p>
            <a:pPr>
              <a:lnSpc>
                <a:spcPct val="105000"/>
              </a:lnSpc>
              <a:spcAft>
                <a:spcPts val="700"/>
              </a:spcAft>
            </a:pPr>
            <a:r>
              <a:rPr sz="1230" b="1">
                <a:solidFill>
                  <a:srgbClr val="E0A32E"/>
                </a:solidFill>
                <a:latin typeface="Segoe UI"/>
              </a:rPr>
              <a:t>•  </a:t>
            </a:r>
            <a:r>
              <a:rPr sz="1230" b="0">
                <a:solidFill>
                  <a:srgbClr val="E6EDF3"/>
                </a:solidFill>
                <a:latin typeface="Segoe UI"/>
              </a:rPr>
              <a:t>Absence is neutral — nothing missing ever counts as 'therefore authentic'</a:t>
            </a:r>
          </a:p>
          <a:p>
            <a:pPr>
              <a:lnSpc>
                <a:spcPct val="105000"/>
              </a:lnSpc>
              <a:spcAft>
                <a:spcPts val="700"/>
              </a:spcAft>
            </a:pPr>
            <a:r>
              <a:rPr sz="1230" b="1">
                <a:solidFill>
                  <a:srgbClr val="E0A32E"/>
                </a:solidFill>
                <a:latin typeface="Segoe UI"/>
              </a:rPr>
              <a:t>•  </a:t>
            </a:r>
            <a:r>
              <a:rPr sz="1230" b="0">
                <a:solidFill>
                  <a:srgbClr val="E6EDF3"/>
                </a:solidFill>
                <a:latin typeface="Segoe UI"/>
              </a:rPr>
              <a:t>Evidence score is explicitly NOT a probability — labelled so in the UI</a:t>
            </a:r>
          </a:p>
        </p:txBody>
      </p:sp>
      <p:sp>
        <p:nvSpPr>
          <p:cNvPr id="10" name="Rounded Rectangle 9"/>
          <p:cNvSpPr/>
          <p:nvPr/>
        </p:nvSpPr>
        <p:spPr>
          <a:xfrm>
            <a:off x="6400800" y="1737360"/>
            <a:ext cx="5212080" cy="28346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737360"/>
            <a:ext cx="5212080"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65392" y="1865376"/>
            <a:ext cx="4882896" cy="292608"/>
          </a:xfrm>
          <a:prstGeom prst="rect">
            <a:avLst/>
          </a:prstGeom>
          <a:noFill/>
        </p:spPr>
        <p:txBody>
          <a:bodyPr wrap="square" lIns="0" tIns="0" rIns="0" bIns="0" anchor="t">
            <a:spAutoFit/>
          </a:bodyPr>
          <a:lstStyle/>
          <a:p>
            <a:pPr algn="l">
              <a:lnSpc>
                <a:spcPct val="100000"/>
              </a:lnSpc>
              <a:spcAft>
                <a:spcPts val="0"/>
              </a:spcAft>
            </a:pPr>
            <a:r>
              <a:rPr sz="1350" b="1" i="0">
                <a:solidFill>
                  <a:srgbClr val="58A6FF"/>
                </a:solidFill>
                <a:latin typeface="Segoe UI"/>
              </a:rPr>
              <a:t>The verdict ladder (strongest → weakest)</a:t>
            </a:r>
          </a:p>
        </p:txBody>
      </p:sp>
      <p:sp>
        <p:nvSpPr>
          <p:cNvPr id="13" name="Rounded Rectangle 12"/>
          <p:cNvSpPr/>
          <p:nvPr/>
        </p:nvSpPr>
        <p:spPr>
          <a:xfrm>
            <a:off x="6656832" y="2212848"/>
            <a:ext cx="2834640" cy="384048"/>
          </a:xfrm>
          <a:prstGeom prst="roundRect">
            <a:avLst>
              <a:gd name="adj" fmla="val 6000"/>
            </a:avLst>
          </a:prstGeom>
          <a:solidFill>
            <a:srgbClr val="161B22"/>
          </a:solidFill>
          <a:ln w="12700">
            <a:solidFill>
              <a:srgbClr val="E553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0" y="2231136"/>
            <a:ext cx="2697480" cy="347472"/>
          </a:xfrm>
          <a:prstGeom prst="rect">
            <a:avLst/>
          </a:prstGeom>
          <a:noFill/>
        </p:spPr>
        <p:txBody>
          <a:bodyPr wrap="square" lIns="0" tIns="0" rIns="0" bIns="0" anchor="ctr">
            <a:spAutoFit/>
          </a:bodyPr>
          <a:lstStyle/>
          <a:p>
            <a:pPr algn="l">
              <a:lnSpc>
                <a:spcPct val="100000"/>
              </a:lnSpc>
              <a:spcAft>
                <a:spcPts val="0"/>
              </a:spcAft>
            </a:pPr>
            <a:r>
              <a:rPr sz="980" b="1" i="0">
                <a:solidFill>
                  <a:srgbClr val="E5534B"/>
                </a:solidFill>
                <a:latin typeface="Segoe UI"/>
              </a:rPr>
              <a:t>PROVEN_AI_GENERATION</a:t>
            </a:r>
          </a:p>
        </p:txBody>
      </p:sp>
      <p:sp>
        <p:nvSpPr>
          <p:cNvPr id="15" name="TextBox 14"/>
          <p:cNvSpPr txBox="1"/>
          <p:nvPr/>
        </p:nvSpPr>
        <p:spPr>
          <a:xfrm>
            <a:off x="9601200" y="2231136"/>
            <a:ext cx="1920240" cy="384048"/>
          </a:xfrm>
          <a:prstGeom prst="rect">
            <a:avLst/>
          </a:prstGeom>
          <a:noFill/>
        </p:spPr>
        <p:txBody>
          <a:bodyPr wrap="square" lIns="0" tIns="0" rIns="0" bIns="0" anchor="ctr">
            <a:spAutoFit/>
          </a:bodyPr>
          <a:lstStyle/>
          <a:p>
            <a:pPr algn="l">
              <a:lnSpc>
                <a:spcPct val="100000"/>
              </a:lnSpc>
              <a:spcAft>
                <a:spcPts val="0"/>
              </a:spcAft>
            </a:pPr>
            <a:r>
              <a:rPr sz="930" b="0" i="0">
                <a:solidFill>
                  <a:srgbClr val="8B949E"/>
                </a:solidFill>
                <a:latin typeface="Segoe UI"/>
              </a:rPr>
              <a:t>only from verified C2PA AI claim — definitive</a:t>
            </a:r>
          </a:p>
        </p:txBody>
      </p:sp>
      <p:sp>
        <p:nvSpPr>
          <p:cNvPr id="16" name="Rounded Rectangle 15"/>
          <p:cNvSpPr/>
          <p:nvPr/>
        </p:nvSpPr>
        <p:spPr>
          <a:xfrm>
            <a:off x="6656832" y="2670048"/>
            <a:ext cx="2834640" cy="384048"/>
          </a:xfrm>
          <a:prstGeom prst="roundRect">
            <a:avLst>
              <a:gd name="adj" fmla="val 6000"/>
            </a:avLst>
          </a:prstGeom>
          <a:solidFill>
            <a:srgbClr val="161B22"/>
          </a:solidFill>
          <a:ln w="12700">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60" y="2688336"/>
            <a:ext cx="2697480" cy="347472"/>
          </a:xfrm>
          <a:prstGeom prst="rect">
            <a:avLst/>
          </a:prstGeom>
          <a:noFill/>
        </p:spPr>
        <p:txBody>
          <a:bodyPr wrap="square" lIns="0" tIns="0" rIns="0" bIns="0" anchor="ctr">
            <a:spAutoFit/>
          </a:bodyPr>
          <a:lstStyle/>
          <a:p>
            <a:pPr algn="l">
              <a:lnSpc>
                <a:spcPct val="100000"/>
              </a:lnSpc>
              <a:spcAft>
                <a:spcPts val="0"/>
              </a:spcAft>
            </a:pPr>
            <a:r>
              <a:rPr sz="980" b="1" i="0">
                <a:solidFill>
                  <a:srgbClr val="E0A32E"/>
                </a:solidFill>
                <a:latin typeface="Segoe UI"/>
              </a:rPr>
              <a:t>HIGH_CONFIDENCE_AI_LIKELY</a:t>
            </a:r>
          </a:p>
        </p:txBody>
      </p:sp>
      <p:sp>
        <p:nvSpPr>
          <p:cNvPr id="18" name="TextBox 17"/>
          <p:cNvSpPr txBox="1"/>
          <p:nvPr/>
        </p:nvSpPr>
        <p:spPr>
          <a:xfrm>
            <a:off x="9601200" y="2688336"/>
            <a:ext cx="1920240" cy="384048"/>
          </a:xfrm>
          <a:prstGeom prst="rect">
            <a:avLst/>
          </a:prstGeom>
          <a:noFill/>
        </p:spPr>
        <p:txBody>
          <a:bodyPr wrap="square" lIns="0" tIns="0" rIns="0" bIns="0" anchor="ctr">
            <a:spAutoFit/>
          </a:bodyPr>
          <a:lstStyle/>
          <a:p>
            <a:pPr algn="l">
              <a:lnSpc>
                <a:spcPct val="100000"/>
              </a:lnSpc>
              <a:spcAft>
                <a:spcPts val="0"/>
              </a:spcAft>
            </a:pPr>
            <a:r>
              <a:rPr sz="930" b="0" i="0">
                <a:solidFill>
                  <a:srgbClr val="8B949E"/>
                </a:solidFill>
                <a:latin typeface="Segoe UI"/>
              </a:rPr>
              <a:t>≥2 independent local models agree — not proof</a:t>
            </a:r>
          </a:p>
        </p:txBody>
      </p:sp>
      <p:sp>
        <p:nvSpPr>
          <p:cNvPr id="19" name="Rounded Rectangle 18"/>
          <p:cNvSpPr/>
          <p:nvPr/>
        </p:nvSpPr>
        <p:spPr>
          <a:xfrm>
            <a:off x="6656832" y="3127248"/>
            <a:ext cx="2834640" cy="384048"/>
          </a:xfrm>
          <a:prstGeom prst="roundRect">
            <a:avLst>
              <a:gd name="adj" fmla="val 6000"/>
            </a:avLst>
          </a:prstGeom>
          <a:solidFill>
            <a:srgbClr val="161B22"/>
          </a:solidFill>
          <a:ln w="12700">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0" y="3145536"/>
            <a:ext cx="2697480" cy="347472"/>
          </a:xfrm>
          <a:prstGeom prst="rect">
            <a:avLst/>
          </a:prstGeom>
          <a:noFill/>
        </p:spPr>
        <p:txBody>
          <a:bodyPr wrap="square" lIns="0" tIns="0" rIns="0" bIns="0" anchor="ctr">
            <a:spAutoFit/>
          </a:bodyPr>
          <a:lstStyle/>
          <a:p>
            <a:pPr algn="l">
              <a:lnSpc>
                <a:spcPct val="100000"/>
              </a:lnSpc>
              <a:spcAft>
                <a:spcPts val="0"/>
              </a:spcAft>
            </a:pPr>
            <a:r>
              <a:rPr sz="980" b="1" i="0">
                <a:solidFill>
                  <a:srgbClr val="E0A32E"/>
                </a:solidFill>
                <a:latin typeface="Segoe UI"/>
              </a:rPr>
              <a:t>POSSIBLE_AI_GENERATION</a:t>
            </a:r>
          </a:p>
        </p:txBody>
      </p:sp>
      <p:sp>
        <p:nvSpPr>
          <p:cNvPr id="21" name="TextBox 20"/>
          <p:cNvSpPr txBox="1"/>
          <p:nvPr/>
        </p:nvSpPr>
        <p:spPr>
          <a:xfrm>
            <a:off x="9601200" y="3145536"/>
            <a:ext cx="1920240" cy="384048"/>
          </a:xfrm>
          <a:prstGeom prst="rect">
            <a:avLst/>
          </a:prstGeom>
          <a:noFill/>
        </p:spPr>
        <p:txBody>
          <a:bodyPr wrap="square" lIns="0" tIns="0" rIns="0" bIns="0" anchor="ctr">
            <a:spAutoFit/>
          </a:bodyPr>
          <a:lstStyle/>
          <a:p>
            <a:pPr algn="l">
              <a:lnSpc>
                <a:spcPct val="100000"/>
              </a:lnSpc>
              <a:spcAft>
                <a:spcPts val="0"/>
              </a:spcAft>
            </a:pPr>
            <a:r>
              <a:rPr sz="930" b="0" i="0">
                <a:solidFill>
                  <a:srgbClr val="8B949E"/>
                </a:solidFill>
                <a:latin typeface="Segoe UI"/>
              </a:rPr>
              <a:t>suggestive evidence, human review advised</a:t>
            </a:r>
          </a:p>
        </p:txBody>
      </p:sp>
      <p:sp>
        <p:nvSpPr>
          <p:cNvPr id="22" name="Rounded Rectangle 21"/>
          <p:cNvSpPr/>
          <p:nvPr/>
        </p:nvSpPr>
        <p:spPr>
          <a:xfrm>
            <a:off x="6656832" y="3584448"/>
            <a:ext cx="2834640" cy="384048"/>
          </a:xfrm>
          <a:prstGeom prst="roundRect">
            <a:avLst>
              <a:gd name="adj" fmla="val 6000"/>
            </a:avLst>
          </a:prstGeom>
          <a:solidFill>
            <a:srgbClr val="161B22"/>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0" y="3602736"/>
            <a:ext cx="2697480" cy="347472"/>
          </a:xfrm>
          <a:prstGeom prst="rect">
            <a:avLst/>
          </a:prstGeom>
          <a:noFill/>
        </p:spPr>
        <p:txBody>
          <a:bodyPr wrap="square" lIns="0" tIns="0" rIns="0" bIns="0" anchor="ctr">
            <a:spAutoFit/>
          </a:bodyPr>
          <a:lstStyle/>
          <a:p>
            <a:pPr algn="l">
              <a:lnSpc>
                <a:spcPct val="100000"/>
              </a:lnSpc>
              <a:spcAft>
                <a:spcPts val="0"/>
              </a:spcAft>
            </a:pPr>
            <a:r>
              <a:rPr sz="980" b="1" i="0">
                <a:solidFill>
                  <a:srgbClr val="8B949E"/>
                </a:solidFill>
                <a:latin typeface="Segoe UI"/>
              </a:rPr>
              <a:t>ORIGIN_UNKNOWN</a:t>
            </a:r>
          </a:p>
        </p:txBody>
      </p:sp>
      <p:sp>
        <p:nvSpPr>
          <p:cNvPr id="24" name="TextBox 23"/>
          <p:cNvSpPr txBox="1"/>
          <p:nvPr/>
        </p:nvSpPr>
        <p:spPr>
          <a:xfrm>
            <a:off x="9601200" y="3602736"/>
            <a:ext cx="1920240" cy="384048"/>
          </a:xfrm>
          <a:prstGeom prst="rect">
            <a:avLst/>
          </a:prstGeom>
          <a:noFill/>
        </p:spPr>
        <p:txBody>
          <a:bodyPr wrap="square" lIns="0" tIns="0" rIns="0" bIns="0" anchor="ctr">
            <a:spAutoFit/>
          </a:bodyPr>
          <a:lstStyle/>
          <a:p>
            <a:pPr algn="l">
              <a:lnSpc>
                <a:spcPct val="100000"/>
              </a:lnSpc>
              <a:spcAft>
                <a:spcPts val="0"/>
              </a:spcAft>
            </a:pPr>
            <a:r>
              <a:rPr sz="930" b="0" i="0">
                <a:solidFill>
                  <a:srgbClr val="8B949E"/>
                </a:solidFill>
                <a:latin typeface="Segoe UI"/>
              </a:rPr>
              <a:t>too little evidence — TruePix abstains</a:t>
            </a:r>
          </a:p>
        </p:txBody>
      </p:sp>
      <p:sp>
        <p:nvSpPr>
          <p:cNvPr id="25" name="Rounded Rectangle 24"/>
          <p:cNvSpPr/>
          <p:nvPr/>
        </p:nvSpPr>
        <p:spPr>
          <a:xfrm>
            <a:off x="6656832" y="4041648"/>
            <a:ext cx="2834640" cy="384048"/>
          </a:xfrm>
          <a:prstGeom prst="roundRect">
            <a:avLst>
              <a:gd name="adj" fmla="val 6000"/>
            </a:avLst>
          </a:prstGeom>
          <a:solidFill>
            <a:srgbClr val="161B22"/>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66560" y="4059935"/>
            <a:ext cx="2697480" cy="347472"/>
          </a:xfrm>
          <a:prstGeom prst="rect">
            <a:avLst/>
          </a:prstGeom>
          <a:noFill/>
        </p:spPr>
        <p:txBody>
          <a:bodyPr wrap="square" lIns="0" tIns="0" rIns="0" bIns="0" anchor="ctr">
            <a:spAutoFit/>
          </a:bodyPr>
          <a:lstStyle/>
          <a:p>
            <a:pPr algn="l">
              <a:lnSpc>
                <a:spcPct val="100000"/>
              </a:lnSpc>
              <a:spcAft>
                <a:spcPts val="0"/>
              </a:spcAft>
            </a:pPr>
            <a:r>
              <a:rPr sz="980" b="1" i="0">
                <a:solidFill>
                  <a:srgbClr val="8B949E"/>
                </a:solidFill>
                <a:latin typeface="Segoe UI"/>
              </a:rPr>
              <a:t>INCONCLUSIVE</a:t>
            </a:r>
          </a:p>
        </p:txBody>
      </p:sp>
      <p:sp>
        <p:nvSpPr>
          <p:cNvPr id="27" name="TextBox 26"/>
          <p:cNvSpPr txBox="1"/>
          <p:nvPr/>
        </p:nvSpPr>
        <p:spPr>
          <a:xfrm>
            <a:off x="9601200" y="4059935"/>
            <a:ext cx="1920240" cy="384048"/>
          </a:xfrm>
          <a:prstGeom prst="rect">
            <a:avLst/>
          </a:prstGeom>
          <a:noFill/>
        </p:spPr>
        <p:txBody>
          <a:bodyPr wrap="square" lIns="0" tIns="0" rIns="0" bIns="0" anchor="ctr">
            <a:spAutoFit/>
          </a:bodyPr>
          <a:lstStyle/>
          <a:p>
            <a:pPr algn="l">
              <a:lnSpc>
                <a:spcPct val="100000"/>
              </a:lnSpc>
              <a:spcAft>
                <a:spcPts val="0"/>
              </a:spcAft>
            </a:pPr>
            <a:r>
              <a:rPr sz="930" b="0" i="0">
                <a:solidFill>
                  <a:srgbClr val="8B949E"/>
                </a:solidFill>
                <a:latin typeface="Segoe UI"/>
              </a:rPr>
              <a:t>evidence conflicts on both sides</a:t>
            </a:r>
          </a:p>
        </p:txBody>
      </p:sp>
      <p:sp>
        <p:nvSpPr>
          <p:cNvPr id="28" name="Rounded Rectangle 27"/>
          <p:cNvSpPr/>
          <p:nvPr/>
        </p:nvSpPr>
        <p:spPr>
          <a:xfrm>
            <a:off x="566928" y="4800600"/>
            <a:ext cx="11045952" cy="12801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66928" y="4800600"/>
            <a:ext cx="11045952"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956048"/>
            <a:ext cx="5120640" cy="274320"/>
          </a:xfrm>
          <a:prstGeom prst="rect">
            <a:avLst/>
          </a:prstGeom>
          <a:noFill/>
        </p:spPr>
        <p:txBody>
          <a:bodyPr wrap="square" lIns="0" tIns="0" rIns="0" bIns="0" anchor="t">
            <a:spAutoFit/>
          </a:bodyPr>
          <a:lstStyle/>
          <a:p>
            <a:pPr algn="l">
              <a:lnSpc>
                <a:spcPct val="100000"/>
              </a:lnSpc>
              <a:spcAft>
                <a:spcPts val="0"/>
              </a:spcAft>
            </a:pPr>
            <a:r>
              <a:rPr sz="1250" b="1" i="0">
                <a:solidFill>
                  <a:srgbClr val="2EA043"/>
                </a:solidFill>
                <a:latin typeface="Segoe UI"/>
              </a:rPr>
              <a:t>A verdict CAN say</a:t>
            </a:r>
          </a:p>
        </p:txBody>
      </p:sp>
      <p:sp>
        <p:nvSpPr>
          <p:cNvPr id="31" name="TextBox 30"/>
          <p:cNvSpPr txBox="1"/>
          <p:nvPr/>
        </p:nvSpPr>
        <p:spPr>
          <a:xfrm>
            <a:off x="868680" y="5257800"/>
            <a:ext cx="5120640" cy="731520"/>
          </a:xfrm>
          <a:prstGeom prst="rect">
            <a:avLst/>
          </a:prstGeom>
          <a:noFill/>
        </p:spPr>
        <p:txBody>
          <a:bodyPr wrap="square" lIns="0" tIns="0" rIns="0" bIns="0" anchor="t">
            <a:spAutoFit/>
          </a:bodyPr>
          <a:lstStyle/>
          <a:p>
            <a:pPr algn="l">
              <a:lnSpc>
                <a:spcPct val="120000"/>
              </a:lnSpc>
              <a:spcAft>
                <a:spcPts val="0"/>
              </a:spcAft>
            </a:pPr>
            <a:r>
              <a:rPr sz="1150" b="0" i="0">
                <a:solidFill>
                  <a:srgbClr val="E6EDF3"/>
                </a:solidFill>
                <a:latin typeface="Segoe UI"/>
              </a:rPr>
              <a:t>· which clues were found and how strong they are
· when provenance is verified and explicit</a:t>
            </a:r>
          </a:p>
        </p:txBody>
      </p:sp>
      <p:sp>
        <p:nvSpPr>
          <p:cNvPr id="32" name="TextBox 31"/>
          <p:cNvSpPr txBox="1"/>
          <p:nvPr/>
        </p:nvSpPr>
        <p:spPr>
          <a:xfrm>
            <a:off x="6309360" y="4956048"/>
            <a:ext cx="5120640" cy="274320"/>
          </a:xfrm>
          <a:prstGeom prst="rect">
            <a:avLst/>
          </a:prstGeom>
          <a:noFill/>
        </p:spPr>
        <p:txBody>
          <a:bodyPr wrap="square" lIns="0" tIns="0" rIns="0" bIns="0" anchor="t">
            <a:spAutoFit/>
          </a:bodyPr>
          <a:lstStyle/>
          <a:p>
            <a:pPr algn="l">
              <a:lnSpc>
                <a:spcPct val="100000"/>
              </a:lnSpc>
              <a:spcAft>
                <a:spcPts val="0"/>
              </a:spcAft>
            </a:pPr>
            <a:r>
              <a:rPr sz="1250" b="1" i="0">
                <a:solidFill>
                  <a:srgbClr val="E5534B"/>
                </a:solidFill>
                <a:latin typeface="Segoe UI"/>
              </a:rPr>
              <a:t>A verdict CAN NEVER say</a:t>
            </a:r>
          </a:p>
        </p:txBody>
      </p:sp>
      <p:sp>
        <p:nvSpPr>
          <p:cNvPr id="33" name="TextBox 32"/>
          <p:cNvSpPr txBox="1"/>
          <p:nvPr/>
        </p:nvSpPr>
        <p:spPr>
          <a:xfrm>
            <a:off x="6309360" y="5257800"/>
            <a:ext cx="5120640" cy="731520"/>
          </a:xfrm>
          <a:prstGeom prst="rect">
            <a:avLst/>
          </a:prstGeom>
          <a:noFill/>
        </p:spPr>
        <p:txBody>
          <a:bodyPr wrap="square" lIns="0" tIns="0" rIns="0" bIns="0" anchor="t">
            <a:spAutoFit/>
          </a:bodyPr>
          <a:lstStyle/>
          <a:p>
            <a:pPr algn="l">
              <a:lnSpc>
                <a:spcPct val="120000"/>
              </a:lnSpc>
              <a:spcAft>
                <a:spcPts val="0"/>
              </a:spcAft>
            </a:pPr>
            <a:r>
              <a:rPr sz="1150" b="0" i="0">
                <a:solidFill>
                  <a:srgbClr val="E6EDF3"/>
                </a:solidFill>
                <a:latin typeface="Segoe UI"/>
              </a:rPr>
              <a:t>· 'this image is 87% fake' — no calibrated probabilities
· 'this image is authentic' — authenticity is never established</a:t>
            </a:r>
          </a:p>
        </p:txBody>
      </p:sp>
      <p:sp>
        <p:nvSpPr>
          <p:cNvPr id="34" name="TextBox 33"/>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35" name="TextBox 34"/>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12 / 18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58A6FF"/>
                </a:solidFill>
                <a:latin typeface="Segoe UI"/>
              </a:rPr>
              <a:t>DEMONSTRATION</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Inside the Application: What You Will See Live</a:t>
            </a:r>
          </a:p>
        </p:txBody>
      </p:sp>
      <p:sp>
        <p:nvSpPr>
          <p:cNvPr id="5" name="Rectangle 4"/>
          <p:cNvSpPr/>
          <p:nvPr/>
        </p:nvSpPr>
        <p:spPr>
          <a:xfrm>
            <a:off x="585216" y="1389888"/>
            <a:ext cx="822960" cy="411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45920"/>
            <a:ext cx="7863840" cy="44348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645920"/>
            <a:ext cx="7863840" cy="384048"/>
          </a:xfrm>
          <a:prstGeom prst="rect">
            <a:avLst/>
          </a:prstGeom>
          <a:solidFill>
            <a:srgbClr val="1C2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13232" y="1773936"/>
            <a:ext cx="128016" cy="128016"/>
          </a:xfrm>
          <a:prstGeom prst="roundRect">
            <a:avLst>
              <a:gd name="adj" fmla="val 50000"/>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773936"/>
            <a:ext cx="128016" cy="128016"/>
          </a:xfrm>
          <a:prstGeom prst="roundRect">
            <a:avLst>
              <a:gd name="adj" fmla="val 50000"/>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15568" y="1773936"/>
            <a:ext cx="128016" cy="128016"/>
          </a:xfrm>
          <a:prstGeom prst="roundRect">
            <a:avLst>
              <a:gd name="adj" fmla="val 50000"/>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0" y="1700784"/>
            <a:ext cx="4572000" cy="274320"/>
          </a:xfrm>
          <a:prstGeom prst="rect">
            <a:avLst/>
          </a:prstGeom>
          <a:noFill/>
        </p:spPr>
        <p:txBody>
          <a:bodyPr wrap="square" lIns="0" tIns="0" rIns="0" bIns="0" anchor="t">
            <a:spAutoFit/>
          </a:bodyPr>
          <a:lstStyle/>
          <a:p>
            <a:pPr algn="ctr">
              <a:lnSpc>
                <a:spcPct val="100000"/>
              </a:lnSpc>
              <a:spcAft>
                <a:spcPts val="0"/>
              </a:spcAft>
            </a:pPr>
            <a:r>
              <a:rPr sz="1050" b="0" i="0">
                <a:solidFill>
                  <a:srgbClr val="8B949E"/>
                </a:solidFill>
                <a:latin typeface="Segoe UI"/>
              </a:rPr>
              <a:t>TruePix — localhost:8501</a:t>
            </a:r>
          </a:p>
        </p:txBody>
      </p:sp>
      <p:sp>
        <p:nvSpPr>
          <p:cNvPr id="12" name="Rectangle 11"/>
          <p:cNvSpPr/>
          <p:nvPr/>
        </p:nvSpPr>
        <p:spPr>
          <a:xfrm>
            <a:off x="566928" y="2029968"/>
            <a:ext cx="1600200" cy="4050791"/>
          </a:xfrm>
          <a:prstGeom prst="rect">
            <a:avLst/>
          </a:prstGeom>
          <a:solidFill>
            <a:srgbClr val="1C2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 y="2121408"/>
            <a:ext cx="1371600" cy="274320"/>
          </a:xfrm>
          <a:prstGeom prst="rect">
            <a:avLst/>
          </a:prstGeom>
          <a:noFill/>
        </p:spPr>
        <p:txBody>
          <a:bodyPr wrap="square" lIns="0" tIns="0" rIns="0" bIns="0" anchor="t">
            <a:spAutoFit/>
          </a:bodyPr>
          <a:lstStyle/>
          <a:p>
            <a:pPr algn="l">
              <a:lnSpc>
                <a:spcPct val="100000"/>
              </a:lnSpc>
              <a:spcAft>
                <a:spcPts val="0"/>
              </a:spcAft>
            </a:pPr>
            <a:r>
              <a:rPr sz="1300" b="1" i="0">
                <a:solidFill>
                  <a:srgbClr val="E6EDF3"/>
                </a:solidFill>
                <a:latin typeface="Segoe UI"/>
              </a:rPr>
              <a:t>TruePix.</a:t>
            </a:r>
          </a:p>
        </p:txBody>
      </p:sp>
      <p:sp>
        <p:nvSpPr>
          <p:cNvPr id="14" name="TextBox 13"/>
          <p:cNvSpPr txBox="1"/>
          <p:nvPr/>
        </p:nvSpPr>
        <p:spPr>
          <a:xfrm>
            <a:off x="676656" y="2395728"/>
            <a:ext cx="1371600" cy="228600"/>
          </a:xfrm>
          <a:prstGeom prst="rect">
            <a:avLst/>
          </a:prstGeom>
          <a:noFill/>
        </p:spPr>
        <p:txBody>
          <a:bodyPr wrap="square" lIns="0" tIns="0" rIns="0" bIns="0" anchor="t">
            <a:spAutoFit/>
          </a:bodyPr>
          <a:lstStyle/>
          <a:p>
            <a:pPr algn="l">
              <a:lnSpc>
                <a:spcPct val="100000"/>
              </a:lnSpc>
              <a:spcAft>
                <a:spcPts val="0"/>
              </a:spcAft>
            </a:pPr>
            <a:r>
              <a:rPr sz="850" b="0" i="0">
                <a:solidFill>
                  <a:srgbClr val="58A6FF"/>
                </a:solidFill>
                <a:latin typeface="Segoe UI"/>
              </a:rPr>
              <a:t>Forensic Analysis</a:t>
            </a:r>
          </a:p>
        </p:txBody>
      </p:sp>
      <p:sp>
        <p:nvSpPr>
          <p:cNvPr id="15" name="Rounded Rectangle 14"/>
          <p:cNvSpPr/>
          <p:nvPr/>
        </p:nvSpPr>
        <p:spPr>
          <a:xfrm>
            <a:off x="676656" y="2743200"/>
            <a:ext cx="1371600" cy="457200"/>
          </a:xfrm>
          <a:prstGeom prst="roundRect">
            <a:avLst>
              <a:gd name="adj" fmla="val 6000"/>
            </a:avLst>
          </a:prstGeom>
          <a:solidFill>
            <a:srgbClr val="0D1117"/>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798064"/>
            <a:ext cx="1280160" cy="320040"/>
          </a:xfrm>
          <a:prstGeom prst="rect">
            <a:avLst/>
          </a:prstGeom>
          <a:noFill/>
        </p:spPr>
        <p:txBody>
          <a:bodyPr wrap="square" lIns="0" tIns="0" rIns="0" bIns="0" anchor="ctr">
            <a:spAutoFit/>
          </a:bodyPr>
          <a:lstStyle/>
          <a:p>
            <a:pPr algn="l">
              <a:lnSpc>
                <a:spcPct val="100000"/>
              </a:lnSpc>
              <a:spcAft>
                <a:spcPts val="0"/>
              </a:spcAft>
            </a:pPr>
            <a:r>
              <a:rPr sz="900" b="0" i="0">
                <a:solidFill>
                  <a:srgbClr val="8B949E"/>
                </a:solidFill>
                <a:latin typeface="Segoe UI"/>
              </a:rPr>
              <a:t>Upload Image</a:t>
            </a:r>
          </a:p>
        </p:txBody>
      </p:sp>
      <p:sp>
        <p:nvSpPr>
          <p:cNvPr id="17" name="TextBox 16"/>
          <p:cNvSpPr txBox="1"/>
          <p:nvPr/>
        </p:nvSpPr>
        <p:spPr>
          <a:xfrm>
            <a:off x="713232" y="3310128"/>
            <a:ext cx="1417320" cy="228600"/>
          </a:xfrm>
          <a:prstGeom prst="rect">
            <a:avLst/>
          </a:prstGeom>
          <a:noFill/>
        </p:spPr>
        <p:txBody>
          <a:bodyPr wrap="square" lIns="0" tIns="0" rIns="0" bIns="0" anchor="t">
            <a:spAutoFit/>
          </a:bodyPr>
          <a:lstStyle/>
          <a:p>
            <a:pPr algn="l">
              <a:lnSpc>
                <a:spcPct val="100000"/>
              </a:lnSpc>
              <a:spcAft>
                <a:spcPts val="0"/>
              </a:spcAft>
            </a:pPr>
            <a:r>
              <a:rPr sz="900" b="1" i="0">
                <a:solidFill>
                  <a:srgbClr val="58A6FF"/>
                </a:solidFill>
                <a:latin typeface="Segoe UI"/>
              </a:rPr>
              <a:t>Overview</a:t>
            </a:r>
          </a:p>
        </p:txBody>
      </p:sp>
      <p:sp>
        <p:nvSpPr>
          <p:cNvPr id="18" name="TextBox 17"/>
          <p:cNvSpPr txBox="1"/>
          <p:nvPr/>
        </p:nvSpPr>
        <p:spPr>
          <a:xfrm>
            <a:off x="713232" y="3557016"/>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Image Info</a:t>
            </a:r>
          </a:p>
        </p:txBody>
      </p:sp>
      <p:sp>
        <p:nvSpPr>
          <p:cNvPr id="19" name="TextBox 18"/>
          <p:cNvSpPr txBox="1"/>
          <p:nvPr/>
        </p:nvSpPr>
        <p:spPr>
          <a:xfrm>
            <a:off x="713232" y="3803904"/>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Metadata</a:t>
            </a:r>
          </a:p>
        </p:txBody>
      </p:sp>
      <p:sp>
        <p:nvSpPr>
          <p:cNvPr id="20" name="TextBox 19"/>
          <p:cNvSpPr txBox="1"/>
          <p:nvPr/>
        </p:nvSpPr>
        <p:spPr>
          <a:xfrm>
            <a:off x="713232" y="4050791"/>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C2PA / Content Credentials</a:t>
            </a:r>
          </a:p>
        </p:txBody>
      </p:sp>
      <p:sp>
        <p:nvSpPr>
          <p:cNvPr id="21" name="TextBox 20"/>
          <p:cNvSpPr txBox="1"/>
          <p:nvPr/>
        </p:nvSpPr>
        <p:spPr>
          <a:xfrm>
            <a:off x="713232" y="4297680"/>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Image Forensics</a:t>
            </a:r>
          </a:p>
        </p:txBody>
      </p:sp>
      <p:sp>
        <p:nvSpPr>
          <p:cNvPr id="22" name="TextBox 21"/>
          <p:cNvSpPr txBox="1"/>
          <p:nvPr/>
        </p:nvSpPr>
        <p:spPr>
          <a:xfrm>
            <a:off x="713232" y="4544568"/>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Visual Artifacts</a:t>
            </a:r>
          </a:p>
        </p:txBody>
      </p:sp>
      <p:sp>
        <p:nvSpPr>
          <p:cNvPr id="23" name="TextBox 22"/>
          <p:cNvSpPr txBox="1"/>
          <p:nvPr/>
        </p:nvSpPr>
        <p:spPr>
          <a:xfrm>
            <a:off x="713232" y="4791456"/>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Compare</a:t>
            </a:r>
          </a:p>
        </p:txBody>
      </p:sp>
      <p:sp>
        <p:nvSpPr>
          <p:cNvPr id="24" name="TextBox 23"/>
          <p:cNvSpPr txBox="1"/>
          <p:nvPr/>
        </p:nvSpPr>
        <p:spPr>
          <a:xfrm>
            <a:off x="713232" y="5038344"/>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Batch</a:t>
            </a:r>
          </a:p>
        </p:txBody>
      </p:sp>
      <p:sp>
        <p:nvSpPr>
          <p:cNvPr id="25" name="TextBox 24"/>
          <p:cNvSpPr txBox="1"/>
          <p:nvPr/>
        </p:nvSpPr>
        <p:spPr>
          <a:xfrm>
            <a:off x="713232" y="5285232"/>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Evidence Report</a:t>
            </a:r>
          </a:p>
        </p:txBody>
      </p:sp>
      <p:sp>
        <p:nvSpPr>
          <p:cNvPr id="26" name="TextBox 25"/>
          <p:cNvSpPr txBox="1"/>
          <p:nvPr/>
        </p:nvSpPr>
        <p:spPr>
          <a:xfrm>
            <a:off x="713232" y="5532120"/>
            <a:ext cx="1417320" cy="22860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Settings</a:t>
            </a:r>
          </a:p>
        </p:txBody>
      </p:sp>
      <p:sp>
        <p:nvSpPr>
          <p:cNvPr id="27" name="Rounded Rectangle 26"/>
          <p:cNvSpPr/>
          <p:nvPr/>
        </p:nvSpPr>
        <p:spPr>
          <a:xfrm>
            <a:off x="2331720" y="2194560"/>
            <a:ext cx="5897880" cy="960120"/>
          </a:xfrm>
          <a:prstGeom prst="roundRect">
            <a:avLst>
              <a:gd name="adj" fmla="val 6000"/>
            </a:avLst>
          </a:prstGeom>
          <a:solidFill>
            <a:srgbClr val="1C232E"/>
          </a:solidFill>
          <a:ln w="19050">
            <a:solidFill>
              <a:srgbClr val="E0A3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14600" y="2286000"/>
            <a:ext cx="3657600" cy="274320"/>
          </a:xfrm>
          <a:prstGeom prst="rect">
            <a:avLst/>
          </a:prstGeom>
          <a:noFill/>
        </p:spPr>
        <p:txBody>
          <a:bodyPr wrap="square" lIns="0" tIns="0" rIns="0" bIns="0" anchor="t">
            <a:spAutoFit/>
          </a:bodyPr>
          <a:lstStyle/>
          <a:p>
            <a:pPr algn="l">
              <a:lnSpc>
                <a:spcPct val="100000"/>
              </a:lnSpc>
              <a:spcAft>
                <a:spcPts val="0"/>
              </a:spcAft>
            </a:pPr>
            <a:r>
              <a:rPr sz="950" b="0" i="0">
                <a:solidFill>
                  <a:srgbClr val="8B949E"/>
                </a:solidFill>
                <a:latin typeface="Segoe UI"/>
              </a:rPr>
              <a:t>VERDICT</a:t>
            </a:r>
          </a:p>
        </p:txBody>
      </p:sp>
      <p:sp>
        <p:nvSpPr>
          <p:cNvPr id="29" name="TextBox 28"/>
          <p:cNvSpPr txBox="1"/>
          <p:nvPr/>
        </p:nvSpPr>
        <p:spPr>
          <a:xfrm>
            <a:off x="2514600" y="2542032"/>
            <a:ext cx="4206240" cy="365760"/>
          </a:xfrm>
          <a:prstGeom prst="rect">
            <a:avLst/>
          </a:prstGeom>
          <a:noFill/>
        </p:spPr>
        <p:txBody>
          <a:bodyPr wrap="square" lIns="0" tIns="0" rIns="0" bIns="0" anchor="t">
            <a:spAutoFit/>
          </a:bodyPr>
          <a:lstStyle/>
          <a:p>
            <a:pPr algn="l">
              <a:lnSpc>
                <a:spcPct val="100000"/>
              </a:lnSpc>
              <a:spcAft>
                <a:spcPts val="0"/>
              </a:spcAft>
            </a:pPr>
            <a:r>
              <a:rPr sz="1600" b="1" i="0">
                <a:solidFill>
                  <a:srgbClr val="E0A32E"/>
                </a:solidFill>
                <a:latin typeface="Segoe UI"/>
              </a:rPr>
              <a:t>POSSIBLE AI GENERATION</a:t>
            </a:r>
          </a:p>
        </p:txBody>
      </p:sp>
      <p:sp>
        <p:nvSpPr>
          <p:cNvPr id="30" name="TextBox 29"/>
          <p:cNvSpPr txBox="1"/>
          <p:nvPr/>
        </p:nvSpPr>
        <p:spPr>
          <a:xfrm>
            <a:off x="2514600" y="2907792"/>
            <a:ext cx="4114800" cy="228600"/>
          </a:xfrm>
          <a:prstGeom prst="rect">
            <a:avLst/>
          </a:prstGeom>
          <a:noFill/>
        </p:spPr>
        <p:txBody>
          <a:bodyPr wrap="square" lIns="0" tIns="0" rIns="0" bIns="0" anchor="t">
            <a:spAutoFit/>
          </a:bodyPr>
          <a:lstStyle/>
          <a:p>
            <a:pPr algn="l">
              <a:lnSpc>
                <a:spcPct val="100000"/>
              </a:lnSpc>
              <a:spcAft>
                <a:spcPts val="0"/>
              </a:spcAft>
            </a:pPr>
            <a:r>
              <a:rPr sz="850" b="0" i="0">
                <a:solidFill>
                  <a:srgbClr val="8B949E"/>
                </a:solidFill>
                <a:latin typeface="Segoe UI"/>
              </a:rPr>
              <a:t>evidence score 46% · confidence MEDIUM · not a probability</a:t>
            </a:r>
          </a:p>
        </p:txBody>
      </p:sp>
      <p:sp>
        <p:nvSpPr>
          <p:cNvPr id="31" name="Rounded Rectangle 30"/>
          <p:cNvSpPr/>
          <p:nvPr/>
        </p:nvSpPr>
        <p:spPr>
          <a:xfrm>
            <a:off x="6949440" y="2331720"/>
            <a:ext cx="1097280" cy="310896"/>
          </a:xfrm>
          <a:prstGeom prst="roundRect">
            <a:avLst>
              <a:gd name="adj" fmla="val 50000"/>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49440" y="2331720"/>
            <a:ext cx="1097280" cy="310896"/>
          </a:xfrm>
          <a:prstGeom prst="rect">
            <a:avLst/>
          </a:prstGeom>
          <a:noFill/>
        </p:spPr>
        <p:txBody>
          <a:bodyPr wrap="square" lIns="0" tIns="0" rIns="0" bIns="0" anchor="ctr">
            <a:spAutoFit/>
          </a:bodyPr>
          <a:lstStyle/>
          <a:p>
            <a:pPr algn="ctr">
              <a:lnSpc>
                <a:spcPct val="100000"/>
              </a:lnSpc>
              <a:spcAft>
                <a:spcPts val="0"/>
              </a:spcAft>
            </a:pPr>
            <a:r>
              <a:rPr sz="850" b="1" i="0">
                <a:solidFill>
                  <a:srgbClr val="0D1117"/>
                </a:solidFill>
                <a:latin typeface="Segoe UI"/>
              </a:rPr>
              <a:t>LOCAL ONLY</a:t>
            </a:r>
          </a:p>
        </p:txBody>
      </p:sp>
      <p:sp>
        <p:nvSpPr>
          <p:cNvPr id="33" name="Rounded Rectangle 32"/>
          <p:cNvSpPr/>
          <p:nvPr/>
        </p:nvSpPr>
        <p:spPr>
          <a:xfrm>
            <a:off x="2395728" y="3310128"/>
            <a:ext cx="109728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395728" y="3310128"/>
            <a:ext cx="1097280"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95728" y="3401568"/>
            <a:ext cx="1097280" cy="228600"/>
          </a:xfrm>
          <a:prstGeom prst="rect">
            <a:avLst/>
          </a:prstGeom>
          <a:noFill/>
        </p:spPr>
        <p:txBody>
          <a:bodyPr wrap="square" lIns="0" tIns="0" rIns="0" bIns="0" anchor="t">
            <a:spAutoFit/>
          </a:bodyPr>
          <a:lstStyle/>
          <a:p>
            <a:pPr algn="ctr">
              <a:lnSpc>
                <a:spcPct val="100000"/>
              </a:lnSpc>
              <a:spcAft>
                <a:spcPts val="0"/>
              </a:spcAft>
            </a:pPr>
            <a:r>
              <a:rPr sz="780" b="1" i="0">
                <a:solidFill>
                  <a:srgbClr val="E6EDF3"/>
                </a:solidFill>
                <a:latin typeface="Segoe UI"/>
              </a:rPr>
              <a:t>IMAGE INFO</a:t>
            </a:r>
          </a:p>
        </p:txBody>
      </p:sp>
      <p:sp>
        <p:nvSpPr>
          <p:cNvPr id="36" name="TextBox 35"/>
          <p:cNvSpPr txBox="1"/>
          <p:nvPr/>
        </p:nvSpPr>
        <p:spPr>
          <a:xfrm>
            <a:off x="2395728" y="3657600"/>
            <a:ext cx="1097280" cy="228600"/>
          </a:xfrm>
          <a:prstGeom prst="rect">
            <a:avLst/>
          </a:prstGeom>
          <a:noFill/>
        </p:spPr>
        <p:txBody>
          <a:bodyPr wrap="square" lIns="0" tIns="0" rIns="0" bIns="0" anchor="t">
            <a:spAutoFit/>
          </a:bodyPr>
          <a:lstStyle/>
          <a:p>
            <a:pPr algn="ctr">
              <a:lnSpc>
                <a:spcPct val="100000"/>
              </a:lnSpc>
              <a:spcAft>
                <a:spcPts val="0"/>
              </a:spcAft>
            </a:pPr>
            <a:r>
              <a:rPr sz="750" b="0" i="0">
                <a:solidFill>
                  <a:srgbClr val="2EA043"/>
                </a:solidFill>
                <a:latin typeface="Segoe UI"/>
              </a:rPr>
              <a:t>● COMPLETE</a:t>
            </a:r>
          </a:p>
        </p:txBody>
      </p:sp>
      <p:sp>
        <p:nvSpPr>
          <p:cNvPr id="37" name="Rounded Rectangle 36"/>
          <p:cNvSpPr/>
          <p:nvPr/>
        </p:nvSpPr>
        <p:spPr>
          <a:xfrm>
            <a:off x="3547872" y="3310128"/>
            <a:ext cx="109728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547872" y="3310128"/>
            <a:ext cx="1097280"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547872" y="3401568"/>
            <a:ext cx="1097280" cy="228600"/>
          </a:xfrm>
          <a:prstGeom prst="rect">
            <a:avLst/>
          </a:prstGeom>
          <a:noFill/>
        </p:spPr>
        <p:txBody>
          <a:bodyPr wrap="square" lIns="0" tIns="0" rIns="0" bIns="0" anchor="t">
            <a:spAutoFit/>
          </a:bodyPr>
          <a:lstStyle/>
          <a:p>
            <a:pPr algn="ctr">
              <a:lnSpc>
                <a:spcPct val="100000"/>
              </a:lnSpc>
              <a:spcAft>
                <a:spcPts val="0"/>
              </a:spcAft>
            </a:pPr>
            <a:r>
              <a:rPr sz="780" b="1" i="0">
                <a:solidFill>
                  <a:srgbClr val="E6EDF3"/>
                </a:solidFill>
                <a:latin typeface="Segoe UI"/>
              </a:rPr>
              <a:t>METADATA</a:t>
            </a:r>
          </a:p>
        </p:txBody>
      </p:sp>
      <p:sp>
        <p:nvSpPr>
          <p:cNvPr id="40" name="TextBox 39"/>
          <p:cNvSpPr txBox="1"/>
          <p:nvPr/>
        </p:nvSpPr>
        <p:spPr>
          <a:xfrm>
            <a:off x="3547872" y="3657600"/>
            <a:ext cx="1097280" cy="228600"/>
          </a:xfrm>
          <a:prstGeom prst="rect">
            <a:avLst/>
          </a:prstGeom>
          <a:noFill/>
        </p:spPr>
        <p:txBody>
          <a:bodyPr wrap="square" lIns="0" tIns="0" rIns="0" bIns="0" anchor="t">
            <a:spAutoFit/>
          </a:bodyPr>
          <a:lstStyle/>
          <a:p>
            <a:pPr algn="ctr">
              <a:lnSpc>
                <a:spcPct val="100000"/>
              </a:lnSpc>
              <a:spcAft>
                <a:spcPts val="0"/>
              </a:spcAft>
            </a:pPr>
            <a:r>
              <a:rPr sz="750" b="0" i="0">
                <a:solidFill>
                  <a:srgbClr val="58A6FF"/>
                </a:solidFill>
                <a:latin typeface="Segoe UI"/>
              </a:rPr>
              <a:t>● COMPLETE</a:t>
            </a:r>
          </a:p>
        </p:txBody>
      </p:sp>
      <p:sp>
        <p:nvSpPr>
          <p:cNvPr id="41" name="Rounded Rectangle 40"/>
          <p:cNvSpPr/>
          <p:nvPr/>
        </p:nvSpPr>
        <p:spPr>
          <a:xfrm>
            <a:off x="4700016" y="3310128"/>
            <a:ext cx="109728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700016" y="3310128"/>
            <a:ext cx="1097280"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00016" y="3401568"/>
            <a:ext cx="1097280" cy="228600"/>
          </a:xfrm>
          <a:prstGeom prst="rect">
            <a:avLst/>
          </a:prstGeom>
          <a:noFill/>
        </p:spPr>
        <p:txBody>
          <a:bodyPr wrap="square" lIns="0" tIns="0" rIns="0" bIns="0" anchor="t">
            <a:spAutoFit/>
          </a:bodyPr>
          <a:lstStyle/>
          <a:p>
            <a:pPr algn="ctr">
              <a:lnSpc>
                <a:spcPct val="100000"/>
              </a:lnSpc>
              <a:spcAft>
                <a:spcPts val="0"/>
              </a:spcAft>
            </a:pPr>
            <a:r>
              <a:rPr sz="780" b="1" i="0">
                <a:solidFill>
                  <a:srgbClr val="E6EDF3"/>
                </a:solidFill>
                <a:latin typeface="Segoe UI"/>
              </a:rPr>
              <a:t>C2PA</a:t>
            </a:r>
          </a:p>
        </p:txBody>
      </p:sp>
      <p:sp>
        <p:nvSpPr>
          <p:cNvPr id="44" name="TextBox 43"/>
          <p:cNvSpPr txBox="1"/>
          <p:nvPr/>
        </p:nvSpPr>
        <p:spPr>
          <a:xfrm>
            <a:off x="4700016" y="3657600"/>
            <a:ext cx="1097280" cy="228600"/>
          </a:xfrm>
          <a:prstGeom prst="rect">
            <a:avLst/>
          </a:prstGeom>
          <a:noFill/>
        </p:spPr>
        <p:txBody>
          <a:bodyPr wrap="square" lIns="0" tIns="0" rIns="0" bIns="0" anchor="t">
            <a:spAutoFit/>
          </a:bodyPr>
          <a:lstStyle/>
          <a:p>
            <a:pPr algn="ctr">
              <a:lnSpc>
                <a:spcPct val="100000"/>
              </a:lnSpc>
              <a:spcAft>
                <a:spcPts val="0"/>
              </a:spcAft>
            </a:pPr>
            <a:r>
              <a:rPr sz="750" b="0" i="0">
                <a:solidFill>
                  <a:srgbClr val="E0A32E"/>
                </a:solidFill>
                <a:latin typeface="Segoe UI"/>
              </a:rPr>
              <a:t>● COMPLETE</a:t>
            </a:r>
          </a:p>
        </p:txBody>
      </p:sp>
      <p:sp>
        <p:nvSpPr>
          <p:cNvPr id="45" name="Rounded Rectangle 44"/>
          <p:cNvSpPr/>
          <p:nvPr/>
        </p:nvSpPr>
        <p:spPr>
          <a:xfrm>
            <a:off x="5852159" y="3310128"/>
            <a:ext cx="109728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852159" y="3310128"/>
            <a:ext cx="1097280"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59" y="3401568"/>
            <a:ext cx="1097280" cy="228600"/>
          </a:xfrm>
          <a:prstGeom prst="rect">
            <a:avLst/>
          </a:prstGeom>
          <a:noFill/>
        </p:spPr>
        <p:txBody>
          <a:bodyPr wrap="square" lIns="0" tIns="0" rIns="0" bIns="0" anchor="t">
            <a:spAutoFit/>
          </a:bodyPr>
          <a:lstStyle/>
          <a:p>
            <a:pPr algn="ctr">
              <a:lnSpc>
                <a:spcPct val="100000"/>
              </a:lnSpc>
              <a:spcAft>
                <a:spcPts val="0"/>
              </a:spcAft>
            </a:pPr>
            <a:r>
              <a:rPr sz="780" b="1" i="0">
                <a:solidFill>
                  <a:srgbClr val="E6EDF3"/>
                </a:solidFill>
                <a:latin typeface="Segoe UI"/>
              </a:rPr>
              <a:t>FORENSICS</a:t>
            </a:r>
          </a:p>
        </p:txBody>
      </p:sp>
      <p:sp>
        <p:nvSpPr>
          <p:cNvPr id="48" name="TextBox 47"/>
          <p:cNvSpPr txBox="1"/>
          <p:nvPr/>
        </p:nvSpPr>
        <p:spPr>
          <a:xfrm>
            <a:off x="5852159" y="3657600"/>
            <a:ext cx="1097280" cy="228600"/>
          </a:xfrm>
          <a:prstGeom prst="rect">
            <a:avLst/>
          </a:prstGeom>
          <a:noFill/>
        </p:spPr>
        <p:txBody>
          <a:bodyPr wrap="square" lIns="0" tIns="0" rIns="0" bIns="0" anchor="t">
            <a:spAutoFit/>
          </a:bodyPr>
          <a:lstStyle/>
          <a:p>
            <a:pPr algn="ctr">
              <a:lnSpc>
                <a:spcPct val="100000"/>
              </a:lnSpc>
              <a:spcAft>
                <a:spcPts val="0"/>
              </a:spcAft>
            </a:pPr>
            <a:r>
              <a:rPr sz="750" b="0" i="0">
                <a:solidFill>
                  <a:srgbClr val="E0A32E"/>
                </a:solidFill>
                <a:latin typeface="Segoe UI"/>
              </a:rPr>
              <a:t>● COMPLETE</a:t>
            </a:r>
          </a:p>
        </p:txBody>
      </p:sp>
      <p:sp>
        <p:nvSpPr>
          <p:cNvPr id="49" name="Rounded Rectangle 48"/>
          <p:cNvSpPr/>
          <p:nvPr/>
        </p:nvSpPr>
        <p:spPr>
          <a:xfrm>
            <a:off x="7004303" y="3310128"/>
            <a:ext cx="109728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004303" y="3310128"/>
            <a:ext cx="1097280"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004303" y="3401568"/>
            <a:ext cx="1097280" cy="228600"/>
          </a:xfrm>
          <a:prstGeom prst="rect">
            <a:avLst/>
          </a:prstGeom>
          <a:noFill/>
        </p:spPr>
        <p:txBody>
          <a:bodyPr wrap="square" lIns="0" tIns="0" rIns="0" bIns="0" anchor="t">
            <a:spAutoFit/>
          </a:bodyPr>
          <a:lstStyle/>
          <a:p>
            <a:pPr algn="ctr">
              <a:lnSpc>
                <a:spcPct val="100000"/>
              </a:lnSpc>
              <a:spcAft>
                <a:spcPts val="0"/>
              </a:spcAft>
            </a:pPr>
            <a:r>
              <a:rPr sz="780" b="1" i="0">
                <a:solidFill>
                  <a:srgbClr val="E6EDF3"/>
                </a:solidFill>
                <a:latin typeface="Segoe UI"/>
              </a:rPr>
              <a:t>ARTIFACTS</a:t>
            </a:r>
          </a:p>
        </p:txBody>
      </p:sp>
      <p:sp>
        <p:nvSpPr>
          <p:cNvPr id="52" name="TextBox 51"/>
          <p:cNvSpPr txBox="1"/>
          <p:nvPr/>
        </p:nvSpPr>
        <p:spPr>
          <a:xfrm>
            <a:off x="7004303" y="3657600"/>
            <a:ext cx="1097280" cy="228600"/>
          </a:xfrm>
          <a:prstGeom prst="rect">
            <a:avLst/>
          </a:prstGeom>
          <a:noFill/>
        </p:spPr>
        <p:txBody>
          <a:bodyPr wrap="square" lIns="0" tIns="0" rIns="0" bIns="0" anchor="t">
            <a:spAutoFit/>
          </a:bodyPr>
          <a:lstStyle/>
          <a:p>
            <a:pPr algn="ctr">
              <a:lnSpc>
                <a:spcPct val="100000"/>
              </a:lnSpc>
              <a:spcAft>
                <a:spcPts val="0"/>
              </a:spcAft>
            </a:pPr>
            <a:r>
              <a:rPr sz="750" b="0" i="0">
                <a:solidFill>
                  <a:srgbClr val="2EA043"/>
                </a:solidFill>
                <a:latin typeface="Segoe UI"/>
              </a:rPr>
              <a:t>● COMPLETE</a:t>
            </a:r>
          </a:p>
        </p:txBody>
      </p:sp>
      <p:sp>
        <p:nvSpPr>
          <p:cNvPr id="53" name="Rounded Rectangle 52"/>
          <p:cNvSpPr/>
          <p:nvPr/>
        </p:nvSpPr>
        <p:spPr>
          <a:xfrm>
            <a:off x="2331720" y="4160520"/>
            <a:ext cx="5897880" cy="9601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487168" y="4233672"/>
            <a:ext cx="2743200" cy="228600"/>
          </a:xfrm>
          <a:prstGeom prst="rect">
            <a:avLst/>
          </a:prstGeom>
          <a:noFill/>
        </p:spPr>
        <p:txBody>
          <a:bodyPr wrap="square" lIns="0" tIns="0" rIns="0" bIns="0" anchor="t">
            <a:spAutoFit/>
          </a:bodyPr>
          <a:lstStyle/>
          <a:p>
            <a:pPr algn="l">
              <a:lnSpc>
                <a:spcPct val="100000"/>
              </a:lnSpc>
              <a:spcAft>
                <a:spcPts val="0"/>
              </a:spcAft>
            </a:pPr>
            <a:r>
              <a:rPr sz="900" b="0" i="0">
                <a:solidFill>
                  <a:srgbClr val="E5534B"/>
                </a:solidFill>
                <a:latin typeface="Segoe UI"/>
              </a:rPr>
              <a:t>AI-leaning</a:t>
            </a:r>
          </a:p>
        </p:txBody>
      </p:sp>
      <p:sp>
        <p:nvSpPr>
          <p:cNvPr id="55" name="TextBox 54"/>
          <p:cNvSpPr txBox="1"/>
          <p:nvPr/>
        </p:nvSpPr>
        <p:spPr>
          <a:xfrm>
            <a:off x="6583680" y="4233672"/>
            <a:ext cx="1554480" cy="228600"/>
          </a:xfrm>
          <a:prstGeom prst="rect">
            <a:avLst/>
          </a:prstGeom>
          <a:noFill/>
        </p:spPr>
        <p:txBody>
          <a:bodyPr wrap="square" lIns="0" tIns="0" rIns="0" bIns="0" anchor="t">
            <a:spAutoFit/>
          </a:bodyPr>
          <a:lstStyle/>
          <a:p>
            <a:pPr algn="r">
              <a:lnSpc>
                <a:spcPct val="100000"/>
              </a:lnSpc>
              <a:spcAft>
                <a:spcPts val="0"/>
              </a:spcAft>
            </a:pPr>
            <a:r>
              <a:rPr sz="900" b="0" i="0">
                <a:solidFill>
                  <a:srgbClr val="2EA043"/>
                </a:solidFill>
                <a:latin typeface="Segoe UI"/>
              </a:rPr>
              <a:t>Authenticity</a:t>
            </a:r>
          </a:p>
        </p:txBody>
      </p:sp>
      <p:sp>
        <p:nvSpPr>
          <p:cNvPr id="56" name="Rounded Rectangle 55"/>
          <p:cNvSpPr/>
          <p:nvPr/>
        </p:nvSpPr>
        <p:spPr>
          <a:xfrm>
            <a:off x="2487168" y="4498848"/>
            <a:ext cx="5577840" cy="274320"/>
          </a:xfrm>
          <a:prstGeom prst="roundRect">
            <a:avLst>
              <a:gd name="adj" fmla="val 6000"/>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487168" y="4498848"/>
            <a:ext cx="2468880" cy="2743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956048" y="4498848"/>
            <a:ext cx="2011680" cy="274320"/>
          </a:xfrm>
          <a:prstGeom prst="rect">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967728" y="4498848"/>
            <a:ext cx="1097280" cy="2743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2331720" y="5029200"/>
            <a:ext cx="5897880" cy="9601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487168" y="5065776"/>
            <a:ext cx="3657600" cy="228600"/>
          </a:xfrm>
          <a:prstGeom prst="rect">
            <a:avLst/>
          </a:prstGeom>
          <a:noFill/>
        </p:spPr>
        <p:txBody>
          <a:bodyPr wrap="square" lIns="0" tIns="0" rIns="0" bIns="0" anchor="t">
            <a:spAutoFit/>
          </a:bodyPr>
          <a:lstStyle/>
          <a:p>
            <a:pPr algn="l">
              <a:lnSpc>
                <a:spcPct val="100000"/>
              </a:lnSpc>
              <a:spcAft>
                <a:spcPts val="0"/>
              </a:spcAft>
            </a:pPr>
            <a:r>
              <a:rPr sz="900" b="1" i="0">
                <a:solidFill>
                  <a:srgbClr val="58A6FF"/>
                </a:solidFill>
                <a:latin typeface="Segoe UI"/>
              </a:rPr>
              <a:t>TOP FINDINGS</a:t>
            </a:r>
          </a:p>
        </p:txBody>
      </p:sp>
      <p:sp>
        <p:nvSpPr>
          <p:cNvPr id="62" name="TextBox 61"/>
          <p:cNvSpPr txBox="1"/>
          <p:nvPr/>
        </p:nvSpPr>
        <p:spPr>
          <a:xfrm>
            <a:off x="2487168" y="5321808"/>
            <a:ext cx="5577840" cy="640080"/>
          </a:xfrm>
          <a:prstGeom prst="rect">
            <a:avLst/>
          </a:prstGeom>
          <a:noFill/>
        </p:spPr>
        <p:txBody>
          <a:bodyPr wrap="square" lIns="0" tIns="0" rIns="0" bIns="0" anchor="t">
            <a:spAutoFit/>
          </a:bodyPr>
          <a:lstStyle/>
          <a:p>
            <a:pPr algn="l">
              <a:lnSpc>
                <a:spcPct val="115000"/>
              </a:lnSpc>
              <a:spcAft>
                <a:spcPts val="0"/>
              </a:spcAft>
            </a:pPr>
            <a:r>
              <a:rPr sz="880" b="0" i="0">
                <a:solidFill>
                  <a:srgbClr val="8B949E"/>
                </a:solidFill>
                <a:latin typeface="Segoe UI"/>
              </a:rPr>
              <a:t>F-001  Unverified C2PA declares AI generation (SynthID marker) — HIGH</a:t>
            </a:r>
          </a:p>
          <a:p>
            <a:pPr algn="l">
              <a:lnSpc>
                <a:spcPct val="115000"/>
              </a:lnSpc>
              <a:spcAft>
                <a:spcPts val="0"/>
              </a:spcAft>
            </a:pPr>
            <a:r>
              <a:rPr sz="880" b="0" i="0">
                <a:solidFill>
                  <a:srgbClr val="8B949E"/>
                </a:solidFill>
                <a:latin typeface="Segoe UI"/>
              </a:rPr>
              <a:t>F-002  ELA residual: elevated max residual in upper-right region — MEDIUM</a:t>
            </a:r>
          </a:p>
          <a:p>
            <a:pPr algn="l">
              <a:lnSpc>
                <a:spcPct val="115000"/>
              </a:lnSpc>
              <a:spcAft>
                <a:spcPts val="0"/>
              </a:spcAft>
            </a:pPr>
            <a:r>
              <a:rPr sz="880" b="0" i="0">
                <a:solidFill>
                  <a:srgbClr val="8B949E"/>
                </a:solidFill>
                <a:latin typeface="Segoe UI"/>
              </a:rPr>
              <a:t>F-003  No CFA signature — neutral (absence is not evidence)</a:t>
            </a:r>
          </a:p>
        </p:txBody>
      </p:sp>
      <p:sp>
        <p:nvSpPr>
          <p:cNvPr id="63" name="Rounded Rectangle 62"/>
          <p:cNvSpPr/>
          <p:nvPr/>
        </p:nvSpPr>
        <p:spPr>
          <a:xfrm>
            <a:off x="8686800" y="1645920"/>
            <a:ext cx="2926080" cy="44348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8686800" y="1645920"/>
            <a:ext cx="2926080"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851392" y="1773936"/>
            <a:ext cx="2596896" cy="292608"/>
          </a:xfrm>
          <a:prstGeom prst="rect">
            <a:avLst/>
          </a:prstGeom>
          <a:noFill/>
        </p:spPr>
        <p:txBody>
          <a:bodyPr wrap="square" lIns="0" tIns="0" rIns="0" bIns="0" anchor="t">
            <a:spAutoFit/>
          </a:bodyPr>
          <a:lstStyle/>
          <a:p>
            <a:pPr algn="l">
              <a:lnSpc>
                <a:spcPct val="100000"/>
              </a:lnSpc>
              <a:spcAft>
                <a:spcPts val="0"/>
              </a:spcAft>
            </a:pPr>
            <a:r>
              <a:rPr sz="1350" b="1" i="0">
                <a:solidFill>
                  <a:srgbClr val="58A6FF"/>
                </a:solidFill>
                <a:latin typeface="Segoe UI"/>
              </a:rPr>
              <a:t>Live demo plan</a:t>
            </a:r>
          </a:p>
        </p:txBody>
      </p:sp>
      <p:sp>
        <p:nvSpPr>
          <p:cNvPr id="66" name="TextBox 65"/>
          <p:cNvSpPr txBox="1"/>
          <p:nvPr/>
        </p:nvSpPr>
        <p:spPr>
          <a:xfrm>
            <a:off x="8887968" y="2103120"/>
            <a:ext cx="2542032" cy="3840480"/>
          </a:xfrm>
          <a:prstGeom prst="rect">
            <a:avLst/>
          </a:prstGeom>
          <a:noFill/>
        </p:spPr>
        <p:txBody>
          <a:bodyPr wrap="square" lIns="0" tIns="0" rIns="0" bIns="0">
            <a:spAutoFit/>
          </a:bodyPr>
          <a:lstStyle/>
          <a:p>
            <a:pPr>
              <a:lnSpc>
                <a:spcPct val="105000"/>
              </a:lnSpc>
              <a:spcAft>
                <a:spcPts val="800"/>
              </a:spcAft>
            </a:pPr>
            <a:r>
              <a:rPr sz="1150" b="1">
                <a:solidFill>
                  <a:srgbClr val="58A6FF"/>
                </a:solidFill>
                <a:latin typeface="Segoe UI"/>
              </a:rPr>
              <a:t>→  </a:t>
            </a:r>
            <a:r>
              <a:rPr sz="1150" b="0">
                <a:solidFill>
                  <a:srgbClr val="E6EDF3"/>
                </a:solidFill>
                <a:latin typeface="Segoe UI"/>
              </a:rPr>
              <a:t>Upload a test image</a:t>
            </a:r>
          </a:p>
          <a:p>
            <a:pPr>
              <a:lnSpc>
                <a:spcPct val="105000"/>
              </a:lnSpc>
              <a:spcAft>
                <a:spcPts val="800"/>
              </a:spcAft>
            </a:pPr>
            <a:r>
              <a:rPr sz="1150" b="1">
                <a:solidFill>
                  <a:srgbClr val="58A6FF"/>
                </a:solidFill>
                <a:latin typeface="Segoe UI"/>
              </a:rPr>
              <a:t>→  </a:t>
            </a:r>
            <a:r>
              <a:rPr sz="1150" b="0">
                <a:solidFill>
                  <a:srgbClr val="E6EDF3"/>
                </a:solidFill>
                <a:latin typeface="Segoe UI"/>
              </a:rPr>
              <a:t>Read the verdict banner together</a:t>
            </a:r>
          </a:p>
          <a:p>
            <a:pPr>
              <a:lnSpc>
                <a:spcPct val="105000"/>
              </a:lnSpc>
              <a:spcAft>
                <a:spcPts val="800"/>
              </a:spcAft>
            </a:pPr>
            <a:r>
              <a:rPr sz="1150" b="1">
                <a:solidFill>
                  <a:srgbClr val="58A6FF"/>
                </a:solidFill>
                <a:latin typeface="Segoe UI"/>
              </a:rPr>
              <a:t>→  </a:t>
            </a:r>
            <a:r>
              <a:rPr sz="1150" b="0">
                <a:solidFill>
                  <a:srgbClr val="E6EDF3"/>
                </a:solidFill>
                <a:latin typeface="Segoe UI"/>
              </a:rPr>
              <a:t>Open Metadata → C2PA → Forensics cards</a:t>
            </a:r>
          </a:p>
          <a:p>
            <a:pPr>
              <a:lnSpc>
                <a:spcPct val="105000"/>
              </a:lnSpc>
              <a:spcAft>
                <a:spcPts val="800"/>
              </a:spcAft>
            </a:pPr>
            <a:r>
              <a:rPr sz="1150" b="1">
                <a:solidFill>
                  <a:srgbClr val="58A6FF"/>
                </a:solidFill>
                <a:latin typeface="Segoe UI"/>
              </a:rPr>
              <a:t>→  </a:t>
            </a:r>
            <a:r>
              <a:rPr sz="1150" b="0">
                <a:solidFill>
                  <a:srgbClr val="E6EDF3"/>
                </a:solidFill>
                <a:latin typeface="Segoe UI"/>
              </a:rPr>
              <a:t>Open Evidence Report → export JSON/PDF</a:t>
            </a:r>
          </a:p>
          <a:p>
            <a:pPr>
              <a:lnSpc>
                <a:spcPct val="105000"/>
              </a:lnSpc>
              <a:spcAft>
                <a:spcPts val="800"/>
              </a:spcAft>
            </a:pPr>
            <a:r>
              <a:rPr sz="1150" b="1">
                <a:solidFill>
                  <a:srgbClr val="58A6FF"/>
                </a:solidFill>
                <a:latin typeface="Segoe UI"/>
              </a:rPr>
              <a:t>→  </a:t>
            </a:r>
            <a:r>
              <a:rPr sz="1150" b="0">
                <a:solidFill>
                  <a:srgbClr val="E6EDF3"/>
                </a:solidFill>
                <a:latin typeface="Segoe UI"/>
              </a:rPr>
              <a:t>Batch mode: 3 images → CSV</a:t>
            </a:r>
          </a:p>
          <a:p>
            <a:pPr>
              <a:lnSpc>
                <a:spcPct val="105000"/>
              </a:lnSpc>
              <a:spcAft>
                <a:spcPts val="800"/>
              </a:spcAft>
            </a:pPr>
            <a:r>
              <a:rPr sz="1150" b="1">
                <a:solidFill>
                  <a:srgbClr val="58A6FF"/>
                </a:solidFill>
                <a:latin typeface="Segoe UI"/>
              </a:rPr>
              <a:t>→  </a:t>
            </a:r>
            <a:r>
              <a:rPr sz="1150" b="0">
                <a:solidFill>
                  <a:srgbClr val="E6EDF3"/>
                </a:solidFill>
                <a:latin typeface="Segoe UI"/>
              </a:rPr>
              <a:t>Point out the limitations panel</a:t>
            </a:r>
          </a:p>
        </p:txBody>
      </p:sp>
      <p:sp>
        <p:nvSpPr>
          <p:cNvPr id="67" name="TextBox 66"/>
          <p:cNvSpPr txBox="1"/>
          <p:nvPr/>
        </p:nvSpPr>
        <p:spPr>
          <a:xfrm>
            <a:off x="566928" y="6199632"/>
            <a:ext cx="7863840" cy="274320"/>
          </a:xfrm>
          <a:prstGeom prst="rect">
            <a:avLst/>
          </a:prstGeom>
          <a:noFill/>
        </p:spPr>
        <p:txBody>
          <a:bodyPr wrap="square" lIns="0" tIns="0" rIns="0" bIns="0" anchor="t">
            <a:spAutoFit/>
          </a:bodyPr>
          <a:lstStyle/>
          <a:p>
            <a:pPr algn="l">
              <a:lnSpc>
                <a:spcPct val="100000"/>
              </a:lnSpc>
              <a:spcAft>
                <a:spcPts val="0"/>
              </a:spcAft>
            </a:pPr>
            <a:r>
              <a:rPr sz="900" b="0" i="0">
                <a:solidFill>
                  <a:srgbClr val="8B949E"/>
                </a:solidFill>
                <a:latin typeface="Segoe UI"/>
              </a:rPr>
              <a:t>Interface mock-up for illustration — identical layout to the running app; live screenshots will be shown during the demonstration.</a:t>
            </a:r>
          </a:p>
        </p:txBody>
      </p:sp>
      <p:sp>
        <p:nvSpPr>
          <p:cNvPr id="68" name="TextBox 67"/>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69" name="TextBox 68"/>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13 / 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58A6FF"/>
                </a:solidFill>
                <a:latin typeface="Segoe UI"/>
              </a:rPr>
              <a:t>ENGINEERING</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Built From Open, Boring, Reliable Parts</a:t>
            </a:r>
          </a:p>
        </p:txBody>
      </p:sp>
      <p:sp>
        <p:nvSpPr>
          <p:cNvPr id="5" name="Rectangle 4"/>
          <p:cNvSpPr/>
          <p:nvPr/>
        </p:nvSpPr>
        <p:spPr>
          <a:xfrm>
            <a:off x="585216" y="1389888"/>
            <a:ext cx="822960" cy="411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83080"/>
            <a:ext cx="667512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82296" cy="713232"/>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47088"/>
            <a:ext cx="2103120" cy="301752"/>
          </a:xfrm>
          <a:prstGeom prst="rect">
            <a:avLst/>
          </a:prstGeom>
          <a:noFill/>
        </p:spPr>
        <p:txBody>
          <a:bodyPr wrap="square" lIns="0" tIns="0" rIns="0" bIns="0" anchor="t">
            <a:spAutoFit/>
          </a:bodyPr>
          <a:lstStyle/>
          <a:p>
            <a:pPr algn="l">
              <a:lnSpc>
                <a:spcPct val="100000"/>
              </a:lnSpc>
              <a:spcAft>
                <a:spcPts val="0"/>
              </a:spcAft>
            </a:pPr>
            <a:r>
              <a:rPr sz="1350" b="1" i="0">
                <a:solidFill>
                  <a:srgbClr val="58A6FF"/>
                </a:solidFill>
                <a:latin typeface="Segoe UI"/>
              </a:rPr>
              <a:t>Python 3.11+</a:t>
            </a:r>
          </a:p>
        </p:txBody>
      </p:sp>
      <p:sp>
        <p:nvSpPr>
          <p:cNvPr id="9" name="TextBox 8"/>
          <p:cNvSpPr txBox="1"/>
          <p:nvPr/>
        </p:nvSpPr>
        <p:spPr>
          <a:xfrm>
            <a:off x="868680" y="2148840"/>
            <a:ext cx="6126480" cy="292608"/>
          </a:xfrm>
          <a:prstGeom prst="rect">
            <a:avLst/>
          </a:prstGeom>
          <a:noFill/>
        </p:spPr>
        <p:txBody>
          <a:bodyPr wrap="square" lIns="0" tIns="0" rIns="0" bIns="0" anchor="t">
            <a:spAutoFit/>
          </a:bodyPr>
          <a:lstStyle/>
          <a:p>
            <a:pPr algn="l">
              <a:lnSpc>
                <a:spcPct val="100000"/>
              </a:lnSpc>
              <a:spcAft>
                <a:spcPts val="0"/>
              </a:spcAft>
            </a:pPr>
            <a:r>
              <a:rPr sz="1130" b="0" i="0">
                <a:solidFill>
                  <a:srgbClr val="8B949E"/>
                </a:solidFill>
                <a:latin typeface="Segoe UI"/>
              </a:rPr>
              <a:t>Whole engine — every forensic module is readable, auditable Python.</a:t>
            </a:r>
          </a:p>
        </p:txBody>
      </p:sp>
      <p:sp>
        <p:nvSpPr>
          <p:cNvPr id="10" name="Rounded Rectangle 9"/>
          <p:cNvSpPr/>
          <p:nvPr/>
        </p:nvSpPr>
        <p:spPr>
          <a:xfrm>
            <a:off x="566928" y="2587752"/>
            <a:ext cx="667512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2587752"/>
            <a:ext cx="82296" cy="713232"/>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651760"/>
            <a:ext cx="2103120" cy="301752"/>
          </a:xfrm>
          <a:prstGeom prst="rect">
            <a:avLst/>
          </a:prstGeom>
          <a:noFill/>
        </p:spPr>
        <p:txBody>
          <a:bodyPr wrap="square" lIns="0" tIns="0" rIns="0" bIns="0" anchor="t">
            <a:spAutoFit/>
          </a:bodyPr>
          <a:lstStyle/>
          <a:p>
            <a:pPr algn="l">
              <a:lnSpc>
                <a:spcPct val="100000"/>
              </a:lnSpc>
              <a:spcAft>
                <a:spcPts val="0"/>
              </a:spcAft>
            </a:pPr>
            <a:r>
              <a:rPr sz="1350" b="1" i="0">
                <a:solidFill>
                  <a:srgbClr val="2EA043"/>
                </a:solidFill>
                <a:latin typeface="Segoe UI"/>
              </a:rPr>
              <a:t>Streamlit</a:t>
            </a:r>
          </a:p>
        </p:txBody>
      </p:sp>
      <p:sp>
        <p:nvSpPr>
          <p:cNvPr id="13" name="TextBox 12"/>
          <p:cNvSpPr txBox="1"/>
          <p:nvPr/>
        </p:nvSpPr>
        <p:spPr>
          <a:xfrm>
            <a:off x="868680" y="2953512"/>
            <a:ext cx="6126480" cy="292608"/>
          </a:xfrm>
          <a:prstGeom prst="rect">
            <a:avLst/>
          </a:prstGeom>
          <a:noFill/>
        </p:spPr>
        <p:txBody>
          <a:bodyPr wrap="square" lIns="0" tIns="0" rIns="0" bIns="0" anchor="t">
            <a:spAutoFit/>
          </a:bodyPr>
          <a:lstStyle/>
          <a:p>
            <a:pPr algn="l">
              <a:lnSpc>
                <a:spcPct val="100000"/>
              </a:lnSpc>
              <a:spcAft>
                <a:spcPts val="0"/>
              </a:spcAft>
            </a:pPr>
            <a:r>
              <a:rPr sz="1130" b="0" i="0">
                <a:solidFill>
                  <a:srgbClr val="8B949E"/>
                </a:solidFill>
                <a:latin typeface="Segoe UI"/>
              </a:rPr>
              <a:t>The entire interface; renders results, never runs analysis logic.</a:t>
            </a:r>
          </a:p>
        </p:txBody>
      </p:sp>
      <p:sp>
        <p:nvSpPr>
          <p:cNvPr id="14" name="Rounded Rectangle 13"/>
          <p:cNvSpPr/>
          <p:nvPr/>
        </p:nvSpPr>
        <p:spPr>
          <a:xfrm>
            <a:off x="566928" y="3392424"/>
            <a:ext cx="667512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3392424"/>
            <a:ext cx="82296" cy="713232"/>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3456432"/>
            <a:ext cx="2103120" cy="301752"/>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OpenCV + Pillow</a:t>
            </a:r>
          </a:p>
        </p:txBody>
      </p:sp>
      <p:sp>
        <p:nvSpPr>
          <p:cNvPr id="17" name="TextBox 16"/>
          <p:cNvSpPr txBox="1"/>
          <p:nvPr/>
        </p:nvSpPr>
        <p:spPr>
          <a:xfrm>
            <a:off x="868680" y="3758184"/>
            <a:ext cx="6126480" cy="292608"/>
          </a:xfrm>
          <a:prstGeom prst="rect">
            <a:avLst/>
          </a:prstGeom>
          <a:noFill/>
        </p:spPr>
        <p:txBody>
          <a:bodyPr wrap="square" lIns="0" tIns="0" rIns="0" bIns="0" anchor="t">
            <a:spAutoFit/>
          </a:bodyPr>
          <a:lstStyle/>
          <a:p>
            <a:pPr algn="l">
              <a:lnSpc>
                <a:spcPct val="100000"/>
              </a:lnSpc>
              <a:spcAft>
                <a:spcPts val="0"/>
              </a:spcAft>
            </a:pPr>
            <a:r>
              <a:rPr sz="1130" b="0" i="0">
                <a:solidFill>
                  <a:srgbClr val="8B949E"/>
                </a:solidFill>
                <a:latin typeface="Segoe UI"/>
              </a:rPr>
              <a:t>Pixel operations: ELA re-save, noise residuals, DCT, CFA, overlays.</a:t>
            </a:r>
          </a:p>
        </p:txBody>
      </p:sp>
      <p:sp>
        <p:nvSpPr>
          <p:cNvPr id="18" name="Rounded Rectangle 17"/>
          <p:cNvSpPr/>
          <p:nvPr/>
        </p:nvSpPr>
        <p:spPr>
          <a:xfrm>
            <a:off x="566928" y="4197096"/>
            <a:ext cx="667512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4197096"/>
            <a:ext cx="82296" cy="713232"/>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4261104"/>
            <a:ext cx="2103120" cy="301752"/>
          </a:xfrm>
          <a:prstGeom prst="rect">
            <a:avLst/>
          </a:prstGeom>
          <a:noFill/>
        </p:spPr>
        <p:txBody>
          <a:bodyPr wrap="square" lIns="0" tIns="0" rIns="0" bIns="0" anchor="t">
            <a:spAutoFit/>
          </a:bodyPr>
          <a:lstStyle/>
          <a:p>
            <a:pPr algn="l">
              <a:lnSpc>
                <a:spcPct val="100000"/>
              </a:lnSpc>
              <a:spcAft>
                <a:spcPts val="0"/>
              </a:spcAft>
            </a:pPr>
            <a:r>
              <a:rPr sz="1350" b="1" i="0">
                <a:solidFill>
                  <a:srgbClr val="58A6FF"/>
                </a:solidFill>
                <a:latin typeface="Segoe UI"/>
              </a:rPr>
              <a:t>NumPy + Pandas</a:t>
            </a:r>
          </a:p>
        </p:txBody>
      </p:sp>
      <p:sp>
        <p:nvSpPr>
          <p:cNvPr id="21" name="TextBox 20"/>
          <p:cNvSpPr txBox="1"/>
          <p:nvPr/>
        </p:nvSpPr>
        <p:spPr>
          <a:xfrm>
            <a:off x="868680" y="4562856"/>
            <a:ext cx="6126480" cy="292608"/>
          </a:xfrm>
          <a:prstGeom prst="rect">
            <a:avLst/>
          </a:prstGeom>
          <a:noFill/>
        </p:spPr>
        <p:txBody>
          <a:bodyPr wrap="square" lIns="0" tIns="0" rIns="0" bIns="0" anchor="t">
            <a:spAutoFit/>
          </a:bodyPr>
          <a:lstStyle/>
          <a:p>
            <a:pPr algn="l">
              <a:lnSpc>
                <a:spcPct val="100000"/>
              </a:lnSpc>
              <a:spcAft>
                <a:spcPts val="0"/>
              </a:spcAft>
            </a:pPr>
            <a:r>
              <a:rPr sz="1130" b="0" i="0">
                <a:solidFill>
                  <a:srgbClr val="8B949E"/>
                </a:solidFill>
                <a:latin typeface="Segoe UI"/>
              </a:rPr>
              <a:t>Metric math, batch summaries and the CSV export.</a:t>
            </a:r>
          </a:p>
        </p:txBody>
      </p:sp>
      <p:sp>
        <p:nvSpPr>
          <p:cNvPr id="22" name="Rounded Rectangle 21"/>
          <p:cNvSpPr/>
          <p:nvPr/>
        </p:nvSpPr>
        <p:spPr>
          <a:xfrm>
            <a:off x="566928" y="5001768"/>
            <a:ext cx="6675120"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5001768"/>
            <a:ext cx="82296" cy="713232"/>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065776"/>
            <a:ext cx="2103120" cy="301752"/>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ReportLab</a:t>
            </a:r>
          </a:p>
        </p:txBody>
      </p:sp>
      <p:sp>
        <p:nvSpPr>
          <p:cNvPr id="25" name="TextBox 24"/>
          <p:cNvSpPr txBox="1"/>
          <p:nvPr/>
        </p:nvSpPr>
        <p:spPr>
          <a:xfrm>
            <a:off x="868680" y="5367528"/>
            <a:ext cx="6126480" cy="292608"/>
          </a:xfrm>
          <a:prstGeom prst="rect">
            <a:avLst/>
          </a:prstGeom>
          <a:noFill/>
        </p:spPr>
        <p:txBody>
          <a:bodyPr wrap="square" lIns="0" tIns="0" rIns="0" bIns="0" anchor="t">
            <a:spAutoFit/>
          </a:bodyPr>
          <a:lstStyle/>
          <a:p>
            <a:pPr algn="l">
              <a:lnSpc>
                <a:spcPct val="100000"/>
              </a:lnSpc>
              <a:spcAft>
                <a:spcPts val="0"/>
              </a:spcAft>
            </a:pPr>
            <a:r>
              <a:rPr sz="1130" b="0" i="0">
                <a:solidFill>
                  <a:srgbClr val="8B949E"/>
                </a:solidFill>
                <a:latin typeface="Segoe UI"/>
              </a:rPr>
              <a:t>PDF evidence reports with ELA preview and full limitations.</a:t>
            </a:r>
          </a:p>
        </p:txBody>
      </p:sp>
      <p:sp>
        <p:nvSpPr>
          <p:cNvPr id="26" name="Rounded Rectangle 25"/>
          <p:cNvSpPr/>
          <p:nvPr/>
        </p:nvSpPr>
        <p:spPr>
          <a:xfrm>
            <a:off x="7498079" y="1783080"/>
            <a:ext cx="4114800" cy="35661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98079" y="1783080"/>
            <a:ext cx="4114800"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62671" y="1911095"/>
            <a:ext cx="3785615" cy="292608"/>
          </a:xfrm>
          <a:prstGeom prst="rect">
            <a:avLst/>
          </a:prstGeom>
          <a:noFill/>
        </p:spPr>
        <p:txBody>
          <a:bodyPr wrap="square" lIns="0" tIns="0" rIns="0" bIns="0" anchor="t">
            <a:spAutoFit/>
          </a:bodyPr>
          <a:lstStyle/>
          <a:p>
            <a:pPr algn="l">
              <a:lnSpc>
                <a:spcPct val="100000"/>
              </a:lnSpc>
              <a:spcAft>
                <a:spcPts val="0"/>
              </a:spcAft>
            </a:pPr>
            <a:r>
              <a:rPr sz="1350" b="1" i="0">
                <a:solidFill>
                  <a:srgbClr val="2EA043"/>
                </a:solidFill>
                <a:latin typeface="Segoe UI"/>
              </a:rPr>
              <a:t>Why these choices?</a:t>
            </a:r>
          </a:p>
        </p:txBody>
      </p:sp>
      <p:sp>
        <p:nvSpPr>
          <p:cNvPr id="29" name="TextBox 28"/>
          <p:cNvSpPr txBox="1"/>
          <p:nvPr/>
        </p:nvSpPr>
        <p:spPr>
          <a:xfrm>
            <a:off x="7726679" y="2240280"/>
            <a:ext cx="3657600" cy="2926080"/>
          </a:xfrm>
          <a:prstGeom prst="rect">
            <a:avLst/>
          </a:prstGeom>
          <a:noFill/>
        </p:spPr>
        <p:txBody>
          <a:bodyPr wrap="square" lIns="0" tIns="0" rIns="0" bIns="0">
            <a:spAutoFit/>
          </a:bodyPr>
          <a:lstStyle/>
          <a:p>
            <a:pPr>
              <a:lnSpc>
                <a:spcPct val="105000"/>
              </a:lnSpc>
              <a:spcAft>
                <a:spcPts val="700"/>
              </a:spcAft>
            </a:pPr>
            <a:r>
              <a:rPr sz="1200" b="1">
                <a:solidFill>
                  <a:srgbClr val="2EA043"/>
                </a:solidFill>
                <a:latin typeface="Segoe UI"/>
              </a:rPr>
              <a:t>•  </a:t>
            </a:r>
            <a:r>
              <a:rPr sz="1200" b="0">
                <a:solidFill>
                  <a:srgbClr val="E6EDF3"/>
                </a:solidFill>
                <a:latin typeface="Segoe UI"/>
              </a:rPr>
              <a:t>CPU-only — runs on any student laptop; no GPU, no billing</a:t>
            </a:r>
          </a:p>
          <a:p>
            <a:pPr>
              <a:lnSpc>
                <a:spcPct val="105000"/>
              </a:lnSpc>
              <a:spcAft>
                <a:spcPts val="700"/>
              </a:spcAft>
            </a:pPr>
            <a:r>
              <a:rPr sz="1200" b="1">
                <a:solidFill>
                  <a:srgbClr val="2EA043"/>
                </a:solidFill>
                <a:latin typeface="Segoe UI"/>
              </a:rPr>
              <a:t>•  </a:t>
            </a:r>
            <a:r>
              <a:rPr sz="1200" b="0">
                <a:solidFill>
                  <a:srgbClr val="E6EDF3"/>
                </a:solidFill>
                <a:latin typeface="Segoe UI"/>
              </a:rPr>
              <a:t>Local-first — no server, no API keys, no data leaving the machine</a:t>
            </a:r>
          </a:p>
          <a:p>
            <a:pPr>
              <a:lnSpc>
                <a:spcPct val="105000"/>
              </a:lnSpc>
              <a:spcAft>
                <a:spcPts val="700"/>
              </a:spcAft>
            </a:pPr>
            <a:r>
              <a:rPr sz="1200" b="1">
                <a:solidFill>
                  <a:srgbClr val="2EA043"/>
                </a:solidFill>
                <a:latin typeface="Segoe UI"/>
              </a:rPr>
              <a:t>•  </a:t>
            </a:r>
            <a:r>
              <a:rPr sz="1200" b="0">
                <a:solidFill>
                  <a:srgbClr val="E6EDF3"/>
                </a:solidFill>
                <a:latin typeface="Segoe UI"/>
              </a:rPr>
              <a:t>Auditable — 'boring' well-known libraries, every line reviewable</a:t>
            </a:r>
          </a:p>
          <a:p>
            <a:pPr>
              <a:lnSpc>
                <a:spcPct val="105000"/>
              </a:lnSpc>
              <a:spcAft>
                <a:spcPts val="700"/>
              </a:spcAft>
            </a:pPr>
            <a:r>
              <a:rPr sz="1200" b="1">
                <a:solidFill>
                  <a:srgbClr val="2EA043"/>
                </a:solidFill>
                <a:latin typeface="Segoe UI"/>
              </a:rPr>
              <a:t>•  </a:t>
            </a:r>
            <a:r>
              <a:rPr sz="1200" b="0">
                <a:solidFill>
                  <a:srgbClr val="E6EDF3"/>
                </a:solidFill>
                <a:latin typeface="Segoe UI"/>
              </a:rPr>
              <a:t>Modular — each analyser is a self-contained module under src/</a:t>
            </a:r>
          </a:p>
          <a:p>
            <a:pPr>
              <a:lnSpc>
                <a:spcPct val="105000"/>
              </a:lnSpc>
              <a:spcAft>
                <a:spcPts val="700"/>
              </a:spcAft>
            </a:pPr>
            <a:r>
              <a:rPr sz="1200" b="1">
                <a:solidFill>
                  <a:srgbClr val="2EA043"/>
                </a:solidFill>
                <a:latin typeface="Segoe UI"/>
              </a:rPr>
              <a:t>•  </a:t>
            </a:r>
            <a:r>
              <a:rPr sz="1200" b="0">
                <a:solidFill>
                  <a:srgbClr val="E6EDF3"/>
                </a:solidFill>
                <a:latin typeface="Segoe UI"/>
              </a:rPr>
              <a:t>115 automated tests — pytest suite incl. synthetic fixtures per detector</a:t>
            </a:r>
          </a:p>
        </p:txBody>
      </p:sp>
      <p:sp>
        <p:nvSpPr>
          <p:cNvPr id="30" name="TextBox 29"/>
          <p:cNvSpPr txBox="1"/>
          <p:nvPr/>
        </p:nvSpPr>
        <p:spPr>
          <a:xfrm>
            <a:off x="566928" y="5870448"/>
            <a:ext cx="11045952" cy="457200"/>
          </a:xfrm>
          <a:prstGeom prst="rect">
            <a:avLst/>
          </a:prstGeom>
          <a:noFill/>
        </p:spPr>
        <p:txBody>
          <a:bodyPr wrap="square" lIns="0" tIns="0" rIns="0" bIns="0" anchor="t">
            <a:spAutoFit/>
          </a:bodyPr>
          <a:lstStyle/>
          <a:p>
            <a:pPr algn="ctr">
              <a:lnSpc>
                <a:spcPct val="100000"/>
              </a:lnSpc>
              <a:spcAft>
                <a:spcPts val="0"/>
              </a:spcAft>
            </a:pPr>
            <a:r>
              <a:rPr sz="1300" b="1" i="0">
                <a:solidFill>
                  <a:srgbClr val="E6EDF3"/>
                </a:solidFill>
                <a:latin typeface="Segoe UI"/>
              </a:rPr>
              <a:t>Engineering culture: </a:t>
            </a:r>
            <a:r>
              <a:rPr sz="1300" b="0" i="0">
                <a:solidFill>
                  <a:srgbClr val="8B949E"/>
                </a:solidFill>
                <a:latin typeface="Segoe UI"/>
              </a:rPr>
              <a:t>graceful degradation — one module's failure becomes a reported error, never a crash.</a:t>
            </a:r>
          </a:p>
        </p:txBody>
      </p:sp>
      <p:sp>
        <p:nvSpPr>
          <p:cNvPr id="31" name="TextBox 30"/>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32" name="TextBox 31"/>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14 / 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2EA043"/>
                </a:solidFill>
                <a:latin typeface="Segoe UI"/>
              </a:rPr>
              <a:t>CONTRIBUTION</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What Makes TruePix Worth Building</a:t>
            </a:r>
          </a:p>
        </p:txBody>
      </p:sp>
      <p:sp>
        <p:nvSpPr>
          <p:cNvPr id="5" name="Rectangle 4"/>
          <p:cNvSpPr/>
          <p:nvPr/>
        </p:nvSpPr>
        <p:spPr>
          <a:xfrm>
            <a:off x="585216" y="1389888"/>
            <a:ext cx="822960" cy="41148"/>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83080"/>
            <a:ext cx="2542032" cy="23774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2542032"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965960"/>
            <a:ext cx="2194560" cy="685800"/>
          </a:xfrm>
          <a:prstGeom prst="rect">
            <a:avLst/>
          </a:prstGeom>
          <a:noFill/>
        </p:spPr>
        <p:txBody>
          <a:bodyPr wrap="square" lIns="0" tIns="0" rIns="0" bIns="0" anchor="t">
            <a:spAutoFit/>
          </a:bodyPr>
          <a:lstStyle/>
          <a:p>
            <a:pPr algn="l">
              <a:lnSpc>
                <a:spcPct val="105000"/>
              </a:lnSpc>
              <a:spcAft>
                <a:spcPts val="0"/>
              </a:spcAft>
            </a:pPr>
            <a:r>
              <a:rPr sz="1300" b="1" i="0">
                <a:solidFill>
                  <a:srgbClr val="58A6FF"/>
                </a:solidFill>
                <a:latin typeface="Segoe UI"/>
              </a:rPr>
              <a:t>WEIGHS EVIDENCE, NOT VIBES</a:t>
            </a:r>
          </a:p>
        </p:txBody>
      </p:sp>
      <p:sp>
        <p:nvSpPr>
          <p:cNvPr id="9" name="TextBox 8"/>
          <p:cNvSpPr txBox="1"/>
          <p:nvPr/>
        </p:nvSpPr>
        <p:spPr>
          <a:xfrm>
            <a:off x="749808" y="2697480"/>
            <a:ext cx="2194560" cy="1371600"/>
          </a:xfrm>
          <a:prstGeom prst="rect">
            <a:avLst/>
          </a:prstGeom>
          <a:noFill/>
        </p:spPr>
        <p:txBody>
          <a:bodyPr wrap="square" lIns="0" tIns="0" rIns="0" bIns="0" anchor="t">
            <a:spAutoFit/>
          </a:bodyPr>
          <a:lstStyle/>
          <a:p>
            <a:pPr algn="l">
              <a:lnSpc>
                <a:spcPct val="115000"/>
              </a:lnSpc>
              <a:spcAft>
                <a:spcPts val="0"/>
              </a:spcAft>
            </a:pPr>
            <a:r>
              <a:rPr sz="1180" b="0" i="0">
                <a:solidFill>
                  <a:srgbClr val="E6EDF3"/>
                </a:solidFill>
                <a:latin typeface="Segoe UI"/>
              </a:rPr>
              <a:t>Multiple independent families, capped and weighted — with contradictions surfaced, not hidden.</a:t>
            </a:r>
          </a:p>
        </p:txBody>
      </p:sp>
      <p:sp>
        <p:nvSpPr>
          <p:cNvPr id="10" name="Rounded Rectangle 9"/>
          <p:cNvSpPr/>
          <p:nvPr/>
        </p:nvSpPr>
        <p:spPr>
          <a:xfrm>
            <a:off x="3401568" y="1783080"/>
            <a:ext cx="2542032" cy="23774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01568" y="1783080"/>
            <a:ext cx="2542032"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4448" y="1965960"/>
            <a:ext cx="2194560" cy="685800"/>
          </a:xfrm>
          <a:prstGeom prst="rect">
            <a:avLst/>
          </a:prstGeom>
          <a:noFill/>
        </p:spPr>
        <p:txBody>
          <a:bodyPr wrap="square" lIns="0" tIns="0" rIns="0" bIns="0" anchor="t">
            <a:spAutoFit/>
          </a:bodyPr>
          <a:lstStyle/>
          <a:p>
            <a:pPr algn="l">
              <a:lnSpc>
                <a:spcPct val="105000"/>
              </a:lnSpc>
              <a:spcAft>
                <a:spcPts val="0"/>
              </a:spcAft>
            </a:pPr>
            <a:r>
              <a:rPr sz="1300" b="1" i="0">
                <a:solidFill>
                  <a:srgbClr val="2EA043"/>
                </a:solidFill>
                <a:latin typeface="Segoe UI"/>
              </a:rPr>
              <a:t>SHOWS ITS WORK</a:t>
            </a:r>
          </a:p>
        </p:txBody>
      </p:sp>
      <p:sp>
        <p:nvSpPr>
          <p:cNvPr id="13" name="TextBox 12"/>
          <p:cNvSpPr txBox="1"/>
          <p:nvPr/>
        </p:nvSpPr>
        <p:spPr>
          <a:xfrm>
            <a:off x="3584448" y="2697480"/>
            <a:ext cx="2194560" cy="1371600"/>
          </a:xfrm>
          <a:prstGeom prst="rect">
            <a:avLst/>
          </a:prstGeom>
          <a:noFill/>
        </p:spPr>
        <p:txBody>
          <a:bodyPr wrap="square" lIns="0" tIns="0" rIns="0" bIns="0" anchor="t">
            <a:spAutoFit/>
          </a:bodyPr>
          <a:lstStyle/>
          <a:p>
            <a:pPr algn="l">
              <a:lnSpc>
                <a:spcPct val="115000"/>
              </a:lnSpc>
              <a:spcAft>
                <a:spcPts val="0"/>
              </a:spcAft>
            </a:pPr>
            <a:r>
              <a:rPr sz="1180" b="0" i="0">
                <a:solidFill>
                  <a:srgbClr val="E6EDF3"/>
                </a:solidFill>
                <a:latin typeface="Segoe UI"/>
              </a:rPr>
              <a:t>Every finding ships with evidence, interpretation and confidence — the report is auditable without the app.</a:t>
            </a:r>
          </a:p>
        </p:txBody>
      </p:sp>
      <p:sp>
        <p:nvSpPr>
          <p:cNvPr id="14" name="Rounded Rectangle 13"/>
          <p:cNvSpPr/>
          <p:nvPr/>
        </p:nvSpPr>
        <p:spPr>
          <a:xfrm>
            <a:off x="6236208" y="1783080"/>
            <a:ext cx="2542032" cy="23774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36208" y="1783080"/>
            <a:ext cx="2542032"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1965960"/>
            <a:ext cx="2194560" cy="685800"/>
          </a:xfrm>
          <a:prstGeom prst="rect">
            <a:avLst/>
          </a:prstGeom>
          <a:noFill/>
        </p:spPr>
        <p:txBody>
          <a:bodyPr wrap="square" lIns="0" tIns="0" rIns="0" bIns="0" anchor="t">
            <a:spAutoFit/>
          </a:bodyPr>
          <a:lstStyle/>
          <a:p>
            <a:pPr algn="l">
              <a:lnSpc>
                <a:spcPct val="105000"/>
              </a:lnSpc>
              <a:spcAft>
                <a:spcPts val="0"/>
              </a:spcAft>
            </a:pPr>
            <a:r>
              <a:rPr sz="1300" b="1" i="0">
                <a:solidFill>
                  <a:srgbClr val="E0A32E"/>
                </a:solidFill>
                <a:latin typeface="Segoe UI"/>
              </a:rPr>
              <a:t>PRIVATE BY DEFAULT</a:t>
            </a:r>
          </a:p>
        </p:txBody>
      </p:sp>
      <p:sp>
        <p:nvSpPr>
          <p:cNvPr id="17" name="TextBox 16"/>
          <p:cNvSpPr txBox="1"/>
          <p:nvPr/>
        </p:nvSpPr>
        <p:spPr>
          <a:xfrm>
            <a:off x="6419088" y="2697480"/>
            <a:ext cx="2194560" cy="1371600"/>
          </a:xfrm>
          <a:prstGeom prst="rect">
            <a:avLst/>
          </a:prstGeom>
          <a:noFill/>
        </p:spPr>
        <p:txBody>
          <a:bodyPr wrap="square" lIns="0" tIns="0" rIns="0" bIns="0" anchor="t">
            <a:spAutoFit/>
          </a:bodyPr>
          <a:lstStyle/>
          <a:p>
            <a:pPr algn="l">
              <a:lnSpc>
                <a:spcPct val="115000"/>
              </a:lnSpc>
              <a:spcAft>
                <a:spcPts val="0"/>
              </a:spcAft>
            </a:pPr>
            <a:r>
              <a:rPr sz="1180" b="0" i="0">
                <a:solidFill>
                  <a:srgbClr val="E6EDF3"/>
                </a:solidFill>
                <a:latin typeface="Segoe UI"/>
              </a:rPr>
              <a:t>Zero uploads, zero telemetry, zero network calls; even the optional models run offline.</a:t>
            </a:r>
          </a:p>
        </p:txBody>
      </p:sp>
      <p:sp>
        <p:nvSpPr>
          <p:cNvPr id="18" name="Rounded Rectangle 17"/>
          <p:cNvSpPr/>
          <p:nvPr/>
        </p:nvSpPr>
        <p:spPr>
          <a:xfrm>
            <a:off x="9070848" y="1783080"/>
            <a:ext cx="2542032" cy="23774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70848" y="1783080"/>
            <a:ext cx="2542032"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53728" y="1965960"/>
            <a:ext cx="2194560" cy="685800"/>
          </a:xfrm>
          <a:prstGeom prst="rect">
            <a:avLst/>
          </a:prstGeom>
          <a:noFill/>
        </p:spPr>
        <p:txBody>
          <a:bodyPr wrap="square" lIns="0" tIns="0" rIns="0" bIns="0" anchor="t">
            <a:spAutoFit/>
          </a:bodyPr>
          <a:lstStyle/>
          <a:p>
            <a:pPr algn="l">
              <a:lnSpc>
                <a:spcPct val="105000"/>
              </a:lnSpc>
              <a:spcAft>
                <a:spcPts val="0"/>
              </a:spcAft>
            </a:pPr>
            <a:r>
              <a:rPr sz="1300" b="1" i="0">
                <a:solidFill>
                  <a:srgbClr val="E5534B"/>
                </a:solidFill>
                <a:latin typeface="Segoe UI"/>
              </a:rPr>
              <a:t>TEACHES FORENSICS</a:t>
            </a:r>
          </a:p>
        </p:txBody>
      </p:sp>
      <p:sp>
        <p:nvSpPr>
          <p:cNvPr id="21" name="TextBox 20"/>
          <p:cNvSpPr txBox="1"/>
          <p:nvPr/>
        </p:nvSpPr>
        <p:spPr>
          <a:xfrm>
            <a:off x="9253728" y="2697480"/>
            <a:ext cx="2194560" cy="1371600"/>
          </a:xfrm>
          <a:prstGeom prst="rect">
            <a:avLst/>
          </a:prstGeom>
          <a:noFill/>
        </p:spPr>
        <p:txBody>
          <a:bodyPr wrap="square" lIns="0" tIns="0" rIns="0" bIns="0" anchor="t">
            <a:spAutoFit/>
          </a:bodyPr>
          <a:lstStyle/>
          <a:p>
            <a:pPr algn="l">
              <a:lnSpc>
                <a:spcPct val="115000"/>
              </a:lnSpc>
              <a:spcAft>
                <a:spcPts val="0"/>
              </a:spcAft>
            </a:pPr>
            <a:r>
              <a:rPr sz="1180" b="0" i="0">
                <a:solidFill>
                  <a:srgbClr val="E6EDF3"/>
                </a:solidFill>
                <a:latin typeface="Segoe UI"/>
              </a:rPr>
              <a:t>The UI explains what each metric means and its limits — a media-literacy tool as much as software.</a:t>
            </a:r>
          </a:p>
        </p:txBody>
      </p:sp>
      <p:sp>
        <p:nvSpPr>
          <p:cNvPr id="22" name="Rounded Rectangle 21"/>
          <p:cNvSpPr/>
          <p:nvPr/>
        </p:nvSpPr>
        <p:spPr>
          <a:xfrm>
            <a:off x="566928" y="4526280"/>
            <a:ext cx="11045952" cy="1417320"/>
          </a:xfrm>
          <a:prstGeom prst="roundRect">
            <a:avLst>
              <a:gd name="adj" fmla="val 6000"/>
            </a:avLst>
          </a:prstGeom>
          <a:solidFill>
            <a:srgbClr val="1C232E"/>
          </a:solidFill>
          <a:ln w="15875">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681728"/>
            <a:ext cx="10424160" cy="320040"/>
          </a:xfrm>
          <a:prstGeom prst="rect">
            <a:avLst/>
          </a:prstGeom>
          <a:noFill/>
        </p:spPr>
        <p:txBody>
          <a:bodyPr wrap="square" lIns="0" tIns="0" rIns="0" bIns="0" anchor="t">
            <a:spAutoFit/>
          </a:bodyPr>
          <a:lstStyle/>
          <a:p>
            <a:pPr algn="l">
              <a:lnSpc>
                <a:spcPct val="100000"/>
              </a:lnSpc>
              <a:spcAft>
                <a:spcPts val="0"/>
              </a:spcAft>
            </a:pPr>
            <a:r>
              <a:rPr sz="1300" b="1" i="0">
                <a:solidFill>
                  <a:srgbClr val="2EA043"/>
                </a:solidFill>
                <a:latin typeface="Segoe UI"/>
              </a:rPr>
              <a:t>Honest positioning</a:t>
            </a:r>
          </a:p>
        </p:txBody>
      </p:sp>
      <p:sp>
        <p:nvSpPr>
          <p:cNvPr id="24" name="TextBox 23"/>
          <p:cNvSpPr txBox="1"/>
          <p:nvPr/>
        </p:nvSpPr>
        <p:spPr>
          <a:xfrm>
            <a:off x="868680" y="5029200"/>
            <a:ext cx="10424160" cy="822960"/>
          </a:xfrm>
          <a:prstGeom prst="rect">
            <a:avLst/>
          </a:prstGeom>
          <a:noFill/>
        </p:spPr>
        <p:txBody>
          <a:bodyPr wrap="square" lIns="0" tIns="0" rIns="0" bIns="0" anchor="t">
            <a:spAutoFit/>
          </a:bodyPr>
          <a:lstStyle/>
          <a:p>
            <a:pPr algn="l">
              <a:lnSpc>
                <a:spcPct val="118000"/>
              </a:lnSpc>
              <a:spcAft>
                <a:spcPts val="0"/>
              </a:spcAft>
            </a:pPr>
            <a:r>
              <a:rPr sz="1350" b="0" i="0">
                <a:solidFill>
                  <a:srgbClr val="E6EDF3"/>
                </a:solidFill>
                <a:latin typeface="Segoe UI"/>
              </a:rPr>
              <a:t>TruePix does not claim to be the first, best or most accurate tool — and does not quote accuracy numbers it has not measured. Its claim is narrower and defensible: </a:t>
            </a:r>
            <a:r>
              <a:rPr sz="1350" b="1" i="0">
                <a:solidFill>
                  <a:srgbClr val="E6EDF3"/>
                </a:solidFill>
                <a:latin typeface="Segoe UI"/>
              </a:rPr>
              <a:t>a transparent, local, evidence-based examiner that tells users what it knows, how strongly, and what remains unknown.</a:t>
            </a:r>
          </a:p>
        </p:txBody>
      </p:sp>
      <p:sp>
        <p:nvSpPr>
          <p:cNvPr id="25" name="TextBox 24"/>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26" name="TextBox 25"/>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15 / 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E5534B"/>
                </a:solidFill>
                <a:latin typeface="Segoe UI"/>
              </a:rPr>
              <a:t>HONESTY</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What TruePix Cannot Do — Stated Plainly</a:t>
            </a:r>
          </a:p>
        </p:txBody>
      </p:sp>
      <p:sp>
        <p:nvSpPr>
          <p:cNvPr id="5" name="Rectangle 4"/>
          <p:cNvSpPr/>
          <p:nvPr/>
        </p:nvSpPr>
        <p:spPr>
          <a:xfrm>
            <a:off x="585216" y="1389888"/>
            <a:ext cx="822960" cy="41148"/>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83080"/>
            <a:ext cx="3538728"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3538728"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929384"/>
            <a:ext cx="3200400" cy="320040"/>
          </a:xfrm>
          <a:prstGeom prst="rect">
            <a:avLst/>
          </a:prstGeom>
          <a:noFill/>
        </p:spPr>
        <p:txBody>
          <a:bodyPr wrap="square" lIns="0" tIns="0" rIns="0" bIns="0" anchor="t">
            <a:spAutoFit/>
          </a:bodyPr>
          <a:lstStyle/>
          <a:p>
            <a:pPr algn="l">
              <a:lnSpc>
                <a:spcPct val="100000"/>
              </a:lnSpc>
              <a:spcAft>
                <a:spcPts val="0"/>
              </a:spcAft>
            </a:pPr>
            <a:r>
              <a:rPr sz="1350" b="1" i="0">
                <a:solidFill>
                  <a:srgbClr val="E5534B"/>
                </a:solidFill>
                <a:latin typeface="Segoe UI"/>
              </a:rPr>
              <a:t>No technique is universal</a:t>
            </a:r>
          </a:p>
        </p:txBody>
      </p:sp>
      <p:sp>
        <p:nvSpPr>
          <p:cNvPr id="9" name="TextBox 8"/>
          <p:cNvSpPr txBox="1"/>
          <p:nvPr/>
        </p:nvSpPr>
        <p:spPr>
          <a:xfrm>
            <a:off x="749808" y="2286000"/>
            <a:ext cx="3200400" cy="914400"/>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Segoe UI"/>
              </a:rPr>
              <a:t>ELA needs JPEG; CFA dies on resize; watermarks wash out on re-encode. Every family has blind spots.</a:t>
            </a:r>
          </a:p>
        </p:txBody>
      </p:sp>
      <p:sp>
        <p:nvSpPr>
          <p:cNvPr id="10" name="Rounded Rectangle 9"/>
          <p:cNvSpPr/>
          <p:nvPr/>
        </p:nvSpPr>
        <p:spPr>
          <a:xfrm>
            <a:off x="4434840" y="1783080"/>
            <a:ext cx="3538728"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783080"/>
            <a:ext cx="3538728"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929384"/>
            <a:ext cx="3200400" cy="320040"/>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Innocent edits look guilty</a:t>
            </a:r>
          </a:p>
        </p:txBody>
      </p:sp>
      <p:sp>
        <p:nvSpPr>
          <p:cNvPr id="13" name="TextBox 12"/>
          <p:cNvSpPr txBox="1"/>
          <p:nvPr/>
        </p:nvSpPr>
        <p:spPr>
          <a:xfrm>
            <a:off x="4617720" y="2286000"/>
            <a:ext cx="3200400" cy="914400"/>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Segoe UI"/>
              </a:rPr>
              <a:t>Crops, filters and re-saves trigger the same indicators as manipulation — context is everything.</a:t>
            </a:r>
          </a:p>
        </p:txBody>
      </p:sp>
      <p:sp>
        <p:nvSpPr>
          <p:cNvPr id="14" name="Rounded Rectangle 13"/>
          <p:cNvSpPr/>
          <p:nvPr/>
        </p:nvSpPr>
        <p:spPr>
          <a:xfrm>
            <a:off x="8302752" y="1783080"/>
            <a:ext cx="3538728"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02752" y="1783080"/>
            <a:ext cx="3538728"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85632" y="1929384"/>
            <a:ext cx="3200400" cy="320040"/>
          </a:xfrm>
          <a:prstGeom prst="rect">
            <a:avLst/>
          </a:prstGeom>
          <a:noFill/>
        </p:spPr>
        <p:txBody>
          <a:bodyPr wrap="square" lIns="0" tIns="0" rIns="0" bIns="0" anchor="t">
            <a:spAutoFit/>
          </a:bodyPr>
          <a:lstStyle/>
          <a:p>
            <a:pPr algn="l">
              <a:lnSpc>
                <a:spcPct val="100000"/>
              </a:lnSpc>
              <a:spcAft>
                <a:spcPts val="0"/>
              </a:spcAft>
            </a:pPr>
            <a:r>
              <a:rPr sz="1350" b="1" i="0">
                <a:solidFill>
                  <a:srgbClr val="E5534B"/>
                </a:solidFill>
                <a:latin typeface="Segoe UI"/>
              </a:rPr>
              <a:t>Screenshots erase history</a:t>
            </a:r>
          </a:p>
        </p:txBody>
      </p:sp>
      <p:sp>
        <p:nvSpPr>
          <p:cNvPr id="17" name="TextBox 16"/>
          <p:cNvSpPr txBox="1"/>
          <p:nvPr/>
        </p:nvSpPr>
        <p:spPr>
          <a:xfrm>
            <a:off x="8485632" y="2286000"/>
            <a:ext cx="3200400" cy="914400"/>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Segoe UI"/>
              </a:rPr>
              <a:t>A screenshot of a fake loses EXIF, CFA and compression trails — analysis gets weaker exactly where fakes are common.</a:t>
            </a:r>
          </a:p>
        </p:txBody>
      </p:sp>
      <p:sp>
        <p:nvSpPr>
          <p:cNvPr id="18" name="Rounded Rectangle 17"/>
          <p:cNvSpPr/>
          <p:nvPr/>
        </p:nvSpPr>
        <p:spPr>
          <a:xfrm>
            <a:off x="566928" y="3429000"/>
            <a:ext cx="3538728"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29000"/>
            <a:ext cx="3538728"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3575304"/>
            <a:ext cx="3200400" cy="320040"/>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Detectors misfire both ways</a:t>
            </a:r>
          </a:p>
        </p:txBody>
      </p:sp>
      <p:sp>
        <p:nvSpPr>
          <p:cNvPr id="21" name="TextBox 20"/>
          <p:cNvSpPr txBox="1"/>
          <p:nvPr/>
        </p:nvSpPr>
        <p:spPr>
          <a:xfrm>
            <a:off x="749808" y="3931920"/>
            <a:ext cx="3200400" cy="914400"/>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Segoe UI"/>
              </a:rPr>
              <a:t>False positives on art; false negatives on new generators. Ensemble voting narrows — never closes — this gap.</a:t>
            </a:r>
          </a:p>
        </p:txBody>
      </p:sp>
      <p:sp>
        <p:nvSpPr>
          <p:cNvPr id="22" name="Rounded Rectangle 21"/>
          <p:cNvSpPr/>
          <p:nvPr/>
        </p:nvSpPr>
        <p:spPr>
          <a:xfrm>
            <a:off x="4434840" y="3429000"/>
            <a:ext cx="3538728"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429000"/>
            <a:ext cx="3538728" cy="45720"/>
          </a:xfrm>
          <a:prstGeom prst="rect">
            <a:avLst/>
          </a:prstGeom>
          <a:solidFill>
            <a:srgbClr val="8B9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17720" y="3575304"/>
            <a:ext cx="3200400" cy="320040"/>
          </a:xfrm>
          <a:prstGeom prst="rect">
            <a:avLst/>
          </a:prstGeom>
          <a:noFill/>
        </p:spPr>
        <p:txBody>
          <a:bodyPr wrap="square" lIns="0" tIns="0" rIns="0" bIns="0" anchor="t">
            <a:spAutoFit/>
          </a:bodyPr>
          <a:lstStyle/>
          <a:p>
            <a:pPr algn="l">
              <a:lnSpc>
                <a:spcPct val="100000"/>
              </a:lnSpc>
              <a:spcAft>
                <a:spcPts val="0"/>
              </a:spcAft>
            </a:pPr>
            <a:r>
              <a:rPr sz="1350" b="1" i="0">
                <a:solidFill>
                  <a:srgbClr val="8B949E"/>
                </a:solidFill>
                <a:latin typeface="Segoe UI"/>
              </a:rPr>
              <a:t>Absence is not proof</a:t>
            </a:r>
          </a:p>
        </p:txBody>
      </p:sp>
      <p:sp>
        <p:nvSpPr>
          <p:cNvPr id="25" name="TextBox 24"/>
          <p:cNvSpPr txBox="1"/>
          <p:nvPr/>
        </p:nvSpPr>
        <p:spPr>
          <a:xfrm>
            <a:off x="4617720" y="3931920"/>
            <a:ext cx="3200400" cy="914400"/>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Segoe UI"/>
              </a:rPr>
              <a:t>'Nothing found' means nothing found. TruePix never upgrades it to 'authentic'.</a:t>
            </a:r>
          </a:p>
        </p:txBody>
      </p:sp>
      <p:sp>
        <p:nvSpPr>
          <p:cNvPr id="26" name="Rounded Rectangle 25"/>
          <p:cNvSpPr/>
          <p:nvPr/>
        </p:nvSpPr>
        <p:spPr>
          <a:xfrm>
            <a:off x="8302752" y="3429000"/>
            <a:ext cx="3538728"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302752" y="3429000"/>
            <a:ext cx="3538728" cy="45720"/>
          </a:xfrm>
          <a:prstGeom prst="rect">
            <a:avLst/>
          </a:prstGeom>
          <a:solidFill>
            <a:srgbClr val="8B9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85632" y="3575304"/>
            <a:ext cx="3200400" cy="320040"/>
          </a:xfrm>
          <a:prstGeom prst="rect">
            <a:avLst/>
          </a:prstGeom>
          <a:noFill/>
        </p:spPr>
        <p:txBody>
          <a:bodyPr wrap="square" lIns="0" tIns="0" rIns="0" bIns="0" anchor="t">
            <a:spAutoFit/>
          </a:bodyPr>
          <a:lstStyle/>
          <a:p>
            <a:pPr algn="l">
              <a:lnSpc>
                <a:spcPct val="100000"/>
              </a:lnSpc>
              <a:spcAft>
                <a:spcPts val="0"/>
              </a:spcAft>
            </a:pPr>
            <a:r>
              <a:rPr sz="1350" b="1" i="0">
                <a:solidFill>
                  <a:srgbClr val="8B949E"/>
                </a:solidFill>
                <a:latin typeface="Segoe UI"/>
              </a:rPr>
              <a:t>Not a courtroom tool</a:t>
            </a:r>
          </a:p>
        </p:txBody>
      </p:sp>
      <p:sp>
        <p:nvSpPr>
          <p:cNvPr id="29" name="TextBox 28"/>
          <p:cNvSpPr txBox="1"/>
          <p:nvPr/>
        </p:nvSpPr>
        <p:spPr>
          <a:xfrm>
            <a:off x="8485632" y="3931920"/>
            <a:ext cx="3200400" cy="914400"/>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Segoe UI"/>
              </a:rPr>
              <a:t>An educational, triage-grade examiner — not certified forensic software with chain-of-custody validation.</a:t>
            </a:r>
          </a:p>
        </p:txBody>
      </p:sp>
      <p:sp>
        <p:nvSpPr>
          <p:cNvPr id="30" name="Rounded Rectangle 29"/>
          <p:cNvSpPr/>
          <p:nvPr/>
        </p:nvSpPr>
        <p:spPr>
          <a:xfrm>
            <a:off x="566928" y="5138928"/>
            <a:ext cx="11045952" cy="914400"/>
          </a:xfrm>
          <a:prstGeom prst="roundRect">
            <a:avLst>
              <a:gd name="adj" fmla="val 6000"/>
            </a:avLst>
          </a:prstGeom>
          <a:solidFill>
            <a:srgbClr val="1C232E"/>
          </a:solidFill>
          <a:ln w="15875">
            <a:solidFill>
              <a:srgbClr val="E553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5266944"/>
            <a:ext cx="10424160" cy="685800"/>
          </a:xfrm>
          <a:prstGeom prst="rect">
            <a:avLst/>
          </a:prstGeom>
          <a:noFill/>
        </p:spPr>
        <p:txBody>
          <a:bodyPr wrap="square" lIns="0" tIns="0" rIns="0" bIns="0" anchor="t">
            <a:spAutoFit/>
          </a:bodyPr>
          <a:lstStyle/>
          <a:p>
            <a:pPr algn="l">
              <a:lnSpc>
                <a:spcPct val="120000"/>
              </a:lnSpc>
              <a:spcAft>
                <a:spcPts val="0"/>
              </a:spcAft>
            </a:pPr>
            <a:r>
              <a:rPr sz="1350" b="1" i="0">
                <a:solidFill>
                  <a:srgbClr val="E5534B"/>
                </a:solidFill>
                <a:latin typeface="Segoe UI"/>
              </a:rPr>
              <a:t>These limitations are not fine print — </a:t>
            </a:r>
            <a:r>
              <a:rPr sz="1350" b="0" i="0">
                <a:solidFill>
                  <a:srgbClr val="E6EDF3"/>
                </a:solidFill>
                <a:latin typeface="Segoe UI"/>
              </a:rPr>
              <a:t>they are compiled into every JSON/PDF report, displayed in the UI, and asserted by the automated test suite.</a:t>
            </a:r>
          </a:p>
        </p:txBody>
      </p:sp>
      <p:sp>
        <p:nvSpPr>
          <p:cNvPr id="32" name="TextBox 31"/>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33" name="TextBox 32"/>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16 / 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1064240" cy="292608"/>
          </a:xfrm>
          <a:prstGeom prst="rect">
            <a:avLst/>
          </a:prstGeom>
          <a:noFill/>
        </p:spPr>
        <p:txBody>
          <a:bodyPr wrap="square" lIns="0" tIns="0" rIns="0" bIns="0" anchor="t">
            <a:spAutoFit/>
          </a:bodyPr>
          <a:lstStyle/>
          <a:p>
            <a:pPr algn="l">
              <a:lnSpc>
                <a:spcPct val="100000"/>
              </a:lnSpc>
              <a:spcAft>
                <a:spcPts val="0"/>
              </a:spcAft>
            </a:pPr>
            <a:r>
              <a:rPr sz="1250" b="1" i="0">
                <a:solidFill>
                  <a:srgbClr val="58A6FF"/>
                </a:solidFill>
                <a:latin typeface="Segoe UI"/>
              </a:rPr>
              <a:t>ROADMAP</a:t>
            </a:r>
          </a:p>
        </p:txBody>
      </p:sp>
      <p:sp>
        <p:nvSpPr>
          <p:cNvPr id="4" name="TextBox 3"/>
          <p:cNvSpPr txBox="1"/>
          <p:nvPr/>
        </p:nvSpPr>
        <p:spPr>
          <a:xfrm>
            <a:off x="566928" y="640080"/>
            <a:ext cx="11064240" cy="777240"/>
          </a:xfrm>
          <a:prstGeom prst="rect">
            <a:avLst/>
          </a:prstGeom>
          <a:noFill/>
        </p:spPr>
        <p:txBody>
          <a:bodyPr wrap="square" lIns="0" tIns="0" rIns="0" bIns="0" anchor="t">
            <a:spAutoFit/>
          </a:bodyPr>
          <a:lstStyle/>
          <a:p>
            <a:pPr algn="l">
              <a:lnSpc>
                <a:spcPct val="100000"/>
              </a:lnSpc>
              <a:spcAft>
                <a:spcPts val="0"/>
              </a:spcAft>
            </a:pPr>
            <a:r>
              <a:rPr sz="3000" b="1" i="0">
                <a:solidFill>
                  <a:srgbClr val="E6EDF3"/>
                </a:solidFill>
                <a:latin typeface="Segoe UI"/>
              </a:rPr>
              <a:t>Where TruePix Goes Next — and Where It Fits Today</a:t>
            </a:r>
          </a:p>
        </p:txBody>
      </p:sp>
      <p:sp>
        <p:nvSpPr>
          <p:cNvPr id="5" name="Rectangle 4"/>
          <p:cNvSpPr/>
          <p:nvPr/>
        </p:nvSpPr>
        <p:spPr>
          <a:xfrm>
            <a:off x="585216" y="1389888"/>
            <a:ext cx="822960" cy="4114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37360"/>
            <a:ext cx="5394960" cy="32461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37360"/>
            <a:ext cx="5394960" cy="45720"/>
          </a:xfrm>
          <a:prstGeom prst="rect">
            <a:avLst/>
          </a:prstGeom>
          <a:solidFill>
            <a:srgbClr val="E0A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865376"/>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E0A32E"/>
                </a:solidFill>
                <a:latin typeface="Segoe UI"/>
              </a:rPr>
              <a:t>Future scope (NOT yet implemented)</a:t>
            </a:r>
          </a:p>
        </p:txBody>
      </p:sp>
      <p:sp>
        <p:nvSpPr>
          <p:cNvPr id="9" name="TextBox 8"/>
          <p:cNvSpPr txBox="1"/>
          <p:nvPr/>
        </p:nvSpPr>
        <p:spPr>
          <a:xfrm>
            <a:off x="868680" y="2194560"/>
            <a:ext cx="4892040" cy="2651760"/>
          </a:xfrm>
          <a:prstGeom prst="rect">
            <a:avLst/>
          </a:prstGeom>
          <a:noFill/>
        </p:spPr>
        <p:txBody>
          <a:bodyPr wrap="square" lIns="0" tIns="0" rIns="0" bIns="0">
            <a:spAutoFit/>
          </a:bodyPr>
          <a:lstStyle/>
          <a:p>
            <a:pPr>
              <a:lnSpc>
                <a:spcPct val="105000"/>
              </a:lnSpc>
              <a:spcAft>
                <a:spcPts val="800"/>
              </a:spcAft>
            </a:pPr>
            <a:r>
              <a:rPr sz="1230" b="1">
                <a:solidFill>
                  <a:srgbClr val="E0A32E"/>
                </a:solidFill>
                <a:latin typeface="Segoe UI"/>
              </a:rPr>
              <a:t>□  </a:t>
            </a:r>
            <a:r>
              <a:rPr sz="1230" b="0">
                <a:solidFill>
                  <a:srgbClr val="E6EDF3"/>
                </a:solidFill>
                <a:latin typeface="Segoe UI"/>
              </a:rPr>
              <a:t>Region highlighting — paint suspicious ELA/noise areas directly on the image</a:t>
            </a:r>
          </a:p>
          <a:p>
            <a:pPr>
              <a:lnSpc>
                <a:spcPct val="105000"/>
              </a:lnSpc>
              <a:spcAft>
                <a:spcPts val="800"/>
              </a:spcAft>
            </a:pPr>
            <a:r>
              <a:rPr sz="1230" b="1">
                <a:solidFill>
                  <a:srgbClr val="E0A32E"/>
                </a:solidFill>
                <a:latin typeface="Segoe UI"/>
              </a:rPr>
              <a:t>□  </a:t>
            </a:r>
            <a:r>
              <a:rPr sz="1230" b="0">
                <a:solidFill>
                  <a:srgbClr val="E6EDF3"/>
                </a:solidFill>
                <a:latin typeface="Segoe UI"/>
              </a:rPr>
              <a:t>Calibrated detectors — proper C2PA cryptographic verification via c2pa-python</a:t>
            </a:r>
          </a:p>
          <a:p>
            <a:pPr>
              <a:lnSpc>
                <a:spcPct val="105000"/>
              </a:lnSpc>
              <a:spcAft>
                <a:spcPts val="800"/>
              </a:spcAft>
            </a:pPr>
            <a:r>
              <a:rPr sz="1230" b="1">
                <a:solidFill>
                  <a:srgbClr val="E0A32E"/>
                </a:solidFill>
                <a:latin typeface="Segoe UI"/>
              </a:rPr>
              <a:t>□  </a:t>
            </a:r>
            <a:r>
              <a:rPr sz="1230" b="0">
                <a:solidFill>
                  <a:srgbClr val="E6EDF3"/>
                </a:solidFill>
                <a:latin typeface="Segoe UI"/>
              </a:rPr>
              <a:t>More formats — HEIC/AVIF and RAW camera files</a:t>
            </a:r>
          </a:p>
          <a:p>
            <a:pPr>
              <a:lnSpc>
                <a:spcPct val="105000"/>
              </a:lnSpc>
              <a:spcAft>
                <a:spcPts val="800"/>
              </a:spcAft>
            </a:pPr>
            <a:r>
              <a:rPr sz="1230" b="1">
                <a:solidFill>
                  <a:srgbClr val="E0A32E"/>
                </a:solidFill>
                <a:latin typeface="Segoe UI"/>
              </a:rPr>
              <a:t>□  </a:t>
            </a:r>
            <a:r>
              <a:rPr sz="1230" b="0">
                <a:solidFill>
                  <a:srgbClr val="E6EDF3"/>
                </a:solidFill>
                <a:latin typeface="Segoe UI"/>
              </a:rPr>
              <a:t>Video forensics — frame-level + temporal consistency</a:t>
            </a:r>
          </a:p>
          <a:p>
            <a:pPr>
              <a:lnSpc>
                <a:spcPct val="105000"/>
              </a:lnSpc>
              <a:spcAft>
                <a:spcPts val="800"/>
              </a:spcAft>
            </a:pPr>
            <a:r>
              <a:rPr sz="1230" b="1">
                <a:solidFill>
                  <a:srgbClr val="E0A32E"/>
                </a:solidFill>
                <a:latin typeface="Segoe UI"/>
              </a:rPr>
              <a:t>□  </a:t>
            </a:r>
            <a:r>
              <a:rPr sz="1230" b="0">
                <a:solidFill>
                  <a:srgbClr val="E6EDF3"/>
                </a:solidFill>
                <a:latin typeface="Segoe UI"/>
              </a:rPr>
              <a:t>Benchmark suite — publishable accuracy numbers on public datasets</a:t>
            </a:r>
          </a:p>
        </p:txBody>
      </p:sp>
      <p:sp>
        <p:nvSpPr>
          <p:cNvPr id="10" name="Rounded Rectangle 9"/>
          <p:cNvSpPr/>
          <p:nvPr/>
        </p:nvSpPr>
        <p:spPr>
          <a:xfrm>
            <a:off x="6217920" y="1737360"/>
            <a:ext cx="5394960" cy="324612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737360"/>
            <a:ext cx="5394960"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865376"/>
            <a:ext cx="5065776" cy="292608"/>
          </a:xfrm>
          <a:prstGeom prst="rect">
            <a:avLst/>
          </a:prstGeom>
          <a:noFill/>
        </p:spPr>
        <p:txBody>
          <a:bodyPr wrap="square" lIns="0" tIns="0" rIns="0" bIns="0" anchor="t">
            <a:spAutoFit/>
          </a:bodyPr>
          <a:lstStyle/>
          <a:p>
            <a:pPr algn="l">
              <a:lnSpc>
                <a:spcPct val="100000"/>
              </a:lnSpc>
              <a:spcAft>
                <a:spcPts val="0"/>
              </a:spcAft>
            </a:pPr>
            <a:r>
              <a:rPr sz="1350" b="1" i="0">
                <a:solidFill>
                  <a:srgbClr val="2EA043"/>
                </a:solidFill>
                <a:latin typeface="Segoe UI"/>
              </a:rPr>
              <a:t>Realistic applications today</a:t>
            </a:r>
          </a:p>
        </p:txBody>
      </p:sp>
      <p:sp>
        <p:nvSpPr>
          <p:cNvPr id="13" name="TextBox 12"/>
          <p:cNvSpPr txBox="1"/>
          <p:nvPr/>
        </p:nvSpPr>
        <p:spPr>
          <a:xfrm>
            <a:off x="6519672" y="2194560"/>
            <a:ext cx="4892040" cy="2651760"/>
          </a:xfrm>
          <a:prstGeom prst="rect">
            <a:avLst/>
          </a:prstGeom>
          <a:noFill/>
        </p:spPr>
        <p:txBody>
          <a:bodyPr wrap="square" lIns="0" tIns="0" rIns="0" bIns="0">
            <a:spAutoFit/>
          </a:bodyPr>
          <a:lstStyle/>
          <a:p>
            <a:pPr>
              <a:lnSpc>
                <a:spcPct val="105000"/>
              </a:lnSpc>
              <a:spcAft>
                <a:spcPts val="800"/>
              </a:spcAft>
            </a:pPr>
            <a:r>
              <a:rPr sz="1230" b="1">
                <a:solidFill>
                  <a:srgbClr val="2EA043"/>
                </a:solidFill>
                <a:latin typeface="Segoe UI"/>
              </a:rPr>
              <a:t>✓  </a:t>
            </a:r>
            <a:r>
              <a:rPr sz="1230" b="0">
                <a:solidFill>
                  <a:srgbClr val="E6EDF3"/>
                </a:solidFill>
                <a:latin typeface="Segoe UI"/>
              </a:rPr>
              <a:t>Newsrooms — first-pass check before an editor's deeper verification</a:t>
            </a:r>
          </a:p>
          <a:p>
            <a:pPr>
              <a:lnSpc>
                <a:spcPct val="105000"/>
              </a:lnSpc>
              <a:spcAft>
                <a:spcPts val="800"/>
              </a:spcAft>
            </a:pPr>
            <a:r>
              <a:rPr sz="1230" b="1">
                <a:solidFill>
                  <a:srgbClr val="2EA043"/>
                </a:solidFill>
                <a:latin typeface="Segoe UI"/>
              </a:rPr>
              <a:t>✓  </a:t>
            </a:r>
            <a:r>
              <a:rPr sz="1230" b="0">
                <a:solidFill>
                  <a:srgbClr val="E6EDF3"/>
                </a:solidFill>
                <a:latin typeface="Segoe UI"/>
              </a:rPr>
              <a:t>Campus &amp; institutions — verifying screenshots of 'leaked' papers/notices</a:t>
            </a:r>
          </a:p>
          <a:p>
            <a:pPr>
              <a:lnSpc>
                <a:spcPct val="105000"/>
              </a:lnSpc>
              <a:spcAft>
                <a:spcPts val="800"/>
              </a:spcAft>
            </a:pPr>
            <a:r>
              <a:rPr sz="1230" b="1">
                <a:solidFill>
                  <a:srgbClr val="2EA043"/>
                </a:solidFill>
                <a:latin typeface="Segoe UI"/>
              </a:rPr>
              <a:t>✓  </a:t>
            </a:r>
            <a:r>
              <a:rPr sz="1230" b="0">
                <a:solidFill>
                  <a:srgbClr val="E6EDF3"/>
                </a:solidFill>
                <a:latin typeface="Segoe UI"/>
              </a:rPr>
              <a:t>Cyber-awareness training — a hands-on forensics sandbox for students</a:t>
            </a:r>
          </a:p>
          <a:p>
            <a:pPr>
              <a:lnSpc>
                <a:spcPct val="105000"/>
              </a:lnSpc>
              <a:spcAft>
                <a:spcPts val="800"/>
              </a:spcAft>
            </a:pPr>
            <a:r>
              <a:rPr sz="1230" b="1">
                <a:solidFill>
                  <a:srgbClr val="2EA043"/>
                </a:solidFill>
                <a:latin typeface="Segoe UI"/>
              </a:rPr>
              <a:t>✓  </a:t>
            </a:r>
            <a:r>
              <a:rPr sz="1230" b="0">
                <a:solidFill>
                  <a:srgbClr val="E6EDF3"/>
                </a:solidFill>
                <a:latin typeface="Segoe UI"/>
              </a:rPr>
              <a:t>Investigation triage — prioritising which of 100 images a human examines first</a:t>
            </a:r>
          </a:p>
        </p:txBody>
      </p:sp>
      <p:sp>
        <p:nvSpPr>
          <p:cNvPr id="14" name="TextBox 13"/>
          <p:cNvSpPr txBox="1"/>
          <p:nvPr/>
        </p:nvSpPr>
        <p:spPr>
          <a:xfrm>
            <a:off x="566928" y="5257800"/>
            <a:ext cx="11045952" cy="731520"/>
          </a:xfrm>
          <a:prstGeom prst="rect">
            <a:avLst/>
          </a:prstGeom>
          <a:noFill/>
        </p:spPr>
        <p:txBody>
          <a:bodyPr wrap="square" lIns="0" tIns="0" rIns="0" bIns="0" anchor="t">
            <a:spAutoFit/>
          </a:bodyPr>
          <a:lstStyle/>
          <a:p>
            <a:pPr algn="ctr">
              <a:lnSpc>
                <a:spcPct val="120000"/>
              </a:lnSpc>
              <a:spcAft>
                <a:spcPts val="0"/>
              </a:spcAft>
            </a:pPr>
            <a:r>
              <a:rPr sz="1350" b="1" i="0">
                <a:solidFill>
                  <a:srgbClr val="E0A32E"/>
                </a:solidFill>
                <a:latin typeface="Segoe UI"/>
              </a:rPr>
              <a:t>Everything on the left is labelled 'future' on purpose. </a:t>
            </a:r>
            <a:r>
              <a:rPr sz="1350" b="0" i="0">
                <a:solidFill>
                  <a:srgbClr val="E6EDF3"/>
                </a:solidFill>
                <a:latin typeface="Segoe UI"/>
              </a:rPr>
              <a:t>Everything on the right works today, on this laptop, offline.</a:t>
            </a:r>
          </a:p>
        </p:txBody>
      </p:sp>
      <p:sp>
        <p:nvSpPr>
          <p:cNvPr id="15" name="TextBox 14"/>
          <p:cNvSpPr txBox="1"/>
          <p:nvPr/>
        </p:nvSpPr>
        <p:spPr>
          <a:xfrm>
            <a:off x="566928" y="6473952"/>
            <a:ext cx="5486400" cy="274320"/>
          </a:xfrm>
          <a:prstGeom prst="rect">
            <a:avLst/>
          </a:prstGeom>
          <a:noFill/>
        </p:spPr>
        <p:txBody>
          <a:bodyPr wrap="square" lIns="0" tIns="0" rIns="0" bIns="0" anchor="t">
            <a:spAutoFit/>
          </a:bodyPr>
          <a:lstStyle/>
          <a:p>
            <a:pPr algn="l">
              <a:lnSpc>
                <a:spcPct val="100000"/>
              </a:lnSpc>
              <a:spcAft>
                <a:spcPts val="0"/>
              </a:spcAft>
            </a:pPr>
            <a:r>
              <a:rPr sz="1000" b="0" i="0">
                <a:solidFill>
                  <a:srgbClr val="8B949E"/>
                </a:solidFill>
                <a:latin typeface="Segoe UI"/>
              </a:rPr>
              <a:t>TruePix · AI-Powered Image Forensics</a:t>
            </a:r>
          </a:p>
        </p:txBody>
      </p:sp>
      <p:sp>
        <p:nvSpPr>
          <p:cNvPr id="16" name="TextBox 15"/>
          <p:cNvSpPr txBox="1"/>
          <p:nvPr/>
        </p:nvSpPr>
        <p:spPr>
          <a:xfrm>
            <a:off x="10698480" y="6473952"/>
            <a:ext cx="914400" cy="274320"/>
          </a:xfrm>
          <a:prstGeom prst="rect">
            <a:avLst/>
          </a:prstGeom>
          <a:noFill/>
        </p:spPr>
        <p:txBody>
          <a:bodyPr wrap="square" lIns="0" tIns="0" rIns="0" bIns="0" anchor="t">
            <a:spAutoFit/>
          </a:bodyPr>
          <a:lstStyle/>
          <a:p>
            <a:pPr algn="r">
              <a:lnSpc>
                <a:spcPct val="100000"/>
              </a:lnSpc>
              <a:spcAft>
                <a:spcPts val="0"/>
              </a:spcAft>
            </a:pPr>
            <a:r>
              <a:rPr sz="1000" b="0" i="0">
                <a:solidFill>
                  <a:srgbClr val="8B949E"/>
                </a:solidFill>
                <a:latin typeface="Segoe UI"/>
              </a:rPr>
              <a:t>17 / 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777240"/>
            <a:ext cx="11064240" cy="365760"/>
          </a:xfrm>
          <a:prstGeom prst="rect">
            <a:avLst/>
          </a:prstGeom>
          <a:noFill/>
        </p:spPr>
        <p:txBody>
          <a:bodyPr wrap="square" lIns="0" tIns="0" rIns="0" bIns="0" anchor="t">
            <a:spAutoFit/>
          </a:bodyPr>
          <a:lstStyle/>
          <a:p>
            <a:pPr algn="l">
              <a:lnSpc>
                <a:spcPct val="100000"/>
              </a:lnSpc>
              <a:spcAft>
                <a:spcPts val="0"/>
              </a:spcAft>
            </a:pPr>
            <a:r>
              <a:rPr sz="1300" b="1" i="0">
                <a:solidFill>
                  <a:srgbClr val="58A6FF"/>
                </a:solidFill>
                <a:latin typeface="Segoe UI"/>
              </a:rPr>
              <a:t>CONCLUSION</a:t>
            </a:r>
          </a:p>
        </p:txBody>
      </p:sp>
      <p:sp>
        <p:nvSpPr>
          <p:cNvPr id="4" name="TextBox 3"/>
          <p:cNvSpPr txBox="1"/>
          <p:nvPr/>
        </p:nvSpPr>
        <p:spPr>
          <a:xfrm>
            <a:off x="566928" y="1143000"/>
            <a:ext cx="11064240" cy="822960"/>
          </a:xfrm>
          <a:prstGeom prst="rect">
            <a:avLst/>
          </a:prstGeom>
          <a:noFill/>
        </p:spPr>
        <p:txBody>
          <a:bodyPr wrap="square" lIns="0" tIns="0" rIns="0" bIns="0" anchor="t">
            <a:spAutoFit/>
          </a:bodyPr>
          <a:lstStyle/>
          <a:p>
            <a:pPr algn="l">
              <a:lnSpc>
                <a:spcPct val="100000"/>
              </a:lnSpc>
              <a:spcAft>
                <a:spcPts val="0"/>
              </a:spcAft>
            </a:pPr>
            <a:r>
              <a:rPr sz="3800" b="1" i="0">
                <a:solidFill>
                  <a:srgbClr val="E6EDF3"/>
                </a:solidFill>
                <a:latin typeface="Segoe UI"/>
              </a:rPr>
              <a:t>Trust, but verify — pixel by pixel.</a:t>
            </a:r>
          </a:p>
        </p:txBody>
      </p:sp>
      <p:sp>
        <p:nvSpPr>
          <p:cNvPr id="5" name="Rounded Rectangle 4"/>
          <p:cNvSpPr/>
          <p:nvPr/>
        </p:nvSpPr>
        <p:spPr>
          <a:xfrm>
            <a:off x="566928" y="2286000"/>
            <a:ext cx="3538728" cy="19202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2286000"/>
            <a:ext cx="3538728" cy="45720"/>
          </a:xfrm>
          <a:prstGeom prst="rect">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468880"/>
            <a:ext cx="3154680" cy="365760"/>
          </a:xfrm>
          <a:prstGeom prst="rect">
            <a:avLst/>
          </a:prstGeom>
          <a:noFill/>
        </p:spPr>
        <p:txBody>
          <a:bodyPr wrap="square" lIns="0" tIns="0" rIns="0" bIns="0" anchor="t">
            <a:spAutoFit/>
          </a:bodyPr>
          <a:lstStyle/>
          <a:p>
            <a:pPr algn="l">
              <a:lnSpc>
                <a:spcPct val="100000"/>
              </a:lnSpc>
              <a:spcAft>
                <a:spcPts val="0"/>
              </a:spcAft>
            </a:pPr>
            <a:r>
              <a:rPr sz="1250" b="1" i="0">
                <a:solidFill>
                  <a:srgbClr val="E5534B"/>
                </a:solidFill>
                <a:latin typeface="Segoe UI"/>
              </a:rPr>
              <a:t>THE PROBLEM</a:t>
            </a:r>
          </a:p>
        </p:txBody>
      </p:sp>
      <p:sp>
        <p:nvSpPr>
          <p:cNvPr id="8" name="TextBox 7"/>
          <p:cNvSpPr txBox="1"/>
          <p:nvPr/>
        </p:nvSpPr>
        <p:spPr>
          <a:xfrm>
            <a:off x="768096" y="2852928"/>
            <a:ext cx="3154680" cy="1234440"/>
          </a:xfrm>
          <a:prstGeom prst="rect">
            <a:avLst/>
          </a:prstGeom>
          <a:noFill/>
        </p:spPr>
        <p:txBody>
          <a:bodyPr wrap="square" lIns="0" tIns="0" rIns="0" bIns="0" anchor="t">
            <a:spAutoFit/>
          </a:bodyPr>
          <a:lstStyle/>
          <a:p>
            <a:pPr algn="l">
              <a:lnSpc>
                <a:spcPct val="118000"/>
              </a:lnSpc>
              <a:spcAft>
                <a:spcPts val="0"/>
              </a:spcAft>
            </a:pPr>
            <a:r>
              <a:rPr sz="1200" b="0" i="0">
                <a:solidFill>
                  <a:srgbClr val="E6EDF3"/>
                </a:solidFill>
                <a:latin typeface="Segoe UI"/>
              </a:rPr>
              <a:t>AI and easy editing have made 'seeing' unreliable; platforms strip the evidence we used to rely on.</a:t>
            </a:r>
          </a:p>
        </p:txBody>
      </p:sp>
      <p:sp>
        <p:nvSpPr>
          <p:cNvPr id="9" name="Rounded Rectangle 8"/>
          <p:cNvSpPr/>
          <p:nvPr/>
        </p:nvSpPr>
        <p:spPr>
          <a:xfrm>
            <a:off x="4434840" y="2286000"/>
            <a:ext cx="3538728" cy="19202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2286000"/>
            <a:ext cx="3538728" cy="4572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36007" y="2468880"/>
            <a:ext cx="3154680" cy="365760"/>
          </a:xfrm>
          <a:prstGeom prst="rect">
            <a:avLst/>
          </a:prstGeom>
          <a:noFill/>
        </p:spPr>
        <p:txBody>
          <a:bodyPr wrap="square" lIns="0" tIns="0" rIns="0" bIns="0" anchor="t">
            <a:spAutoFit/>
          </a:bodyPr>
          <a:lstStyle/>
          <a:p>
            <a:pPr algn="l">
              <a:lnSpc>
                <a:spcPct val="100000"/>
              </a:lnSpc>
              <a:spcAft>
                <a:spcPts val="0"/>
              </a:spcAft>
            </a:pPr>
            <a:r>
              <a:rPr sz="1250" b="1" i="0">
                <a:solidFill>
                  <a:srgbClr val="58A6FF"/>
                </a:solidFill>
                <a:latin typeface="Segoe UI"/>
              </a:rPr>
              <a:t>MY CONTRIBUTION</a:t>
            </a:r>
          </a:p>
        </p:txBody>
      </p:sp>
      <p:sp>
        <p:nvSpPr>
          <p:cNvPr id="12" name="TextBox 11"/>
          <p:cNvSpPr txBox="1"/>
          <p:nvPr/>
        </p:nvSpPr>
        <p:spPr>
          <a:xfrm>
            <a:off x="4636007" y="2852928"/>
            <a:ext cx="3154680" cy="1234440"/>
          </a:xfrm>
          <a:prstGeom prst="rect">
            <a:avLst/>
          </a:prstGeom>
          <a:noFill/>
        </p:spPr>
        <p:txBody>
          <a:bodyPr wrap="square" lIns="0" tIns="0" rIns="0" bIns="0" anchor="t">
            <a:spAutoFit/>
          </a:bodyPr>
          <a:lstStyle/>
          <a:p>
            <a:pPr algn="l">
              <a:lnSpc>
                <a:spcPct val="118000"/>
              </a:lnSpc>
              <a:spcAft>
                <a:spcPts val="0"/>
              </a:spcAft>
            </a:pPr>
            <a:r>
              <a:rPr sz="1200" b="0" i="0">
                <a:solidFill>
                  <a:srgbClr val="E6EDF3"/>
                </a:solidFill>
                <a:latin typeface="Segoe UI"/>
              </a:rPr>
              <a:t>TruePix: 8 local forensic modules + a capped, conflict-aware risk engine + auditable JSON/PDF reports — all on one CPU.</a:t>
            </a:r>
          </a:p>
        </p:txBody>
      </p:sp>
      <p:sp>
        <p:nvSpPr>
          <p:cNvPr id="13" name="Rounded Rectangle 12"/>
          <p:cNvSpPr/>
          <p:nvPr/>
        </p:nvSpPr>
        <p:spPr>
          <a:xfrm>
            <a:off x="8302752" y="2286000"/>
            <a:ext cx="3538728" cy="19202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302752" y="2286000"/>
            <a:ext cx="3538728" cy="457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2468880"/>
            <a:ext cx="3154680" cy="365760"/>
          </a:xfrm>
          <a:prstGeom prst="rect">
            <a:avLst/>
          </a:prstGeom>
          <a:noFill/>
        </p:spPr>
        <p:txBody>
          <a:bodyPr wrap="square" lIns="0" tIns="0" rIns="0" bIns="0" anchor="t">
            <a:spAutoFit/>
          </a:bodyPr>
          <a:lstStyle/>
          <a:p>
            <a:pPr algn="l">
              <a:lnSpc>
                <a:spcPct val="100000"/>
              </a:lnSpc>
              <a:spcAft>
                <a:spcPts val="0"/>
              </a:spcAft>
            </a:pPr>
            <a:r>
              <a:rPr sz="1250" b="1" i="0">
                <a:solidFill>
                  <a:srgbClr val="2EA043"/>
                </a:solidFill>
                <a:latin typeface="Segoe UI"/>
              </a:rPr>
              <a:t>THE TAKEAWAY</a:t>
            </a:r>
          </a:p>
        </p:txBody>
      </p:sp>
      <p:sp>
        <p:nvSpPr>
          <p:cNvPr id="16" name="TextBox 15"/>
          <p:cNvSpPr txBox="1"/>
          <p:nvPr/>
        </p:nvSpPr>
        <p:spPr>
          <a:xfrm>
            <a:off x="8503920" y="2852928"/>
            <a:ext cx="3154680" cy="1234440"/>
          </a:xfrm>
          <a:prstGeom prst="rect">
            <a:avLst/>
          </a:prstGeom>
          <a:noFill/>
        </p:spPr>
        <p:txBody>
          <a:bodyPr wrap="square" lIns="0" tIns="0" rIns="0" bIns="0" anchor="t">
            <a:spAutoFit/>
          </a:bodyPr>
          <a:lstStyle/>
          <a:p>
            <a:pPr algn="l">
              <a:lnSpc>
                <a:spcPct val="118000"/>
              </a:lnSpc>
              <a:spcAft>
                <a:spcPts val="0"/>
              </a:spcAft>
            </a:pPr>
            <a:r>
              <a:rPr sz="1200" b="0" i="0">
                <a:solidFill>
                  <a:srgbClr val="E6EDF3"/>
                </a:solidFill>
                <a:latin typeface="Segoe UI"/>
              </a:rPr>
              <a:t>It never overclaims. It gathers evidence, explains it, states its limits — and tells you what to ask next.</a:t>
            </a:r>
          </a:p>
        </p:txBody>
      </p:sp>
      <p:sp>
        <p:nvSpPr>
          <p:cNvPr id="17" name="Rounded Rectangle 16"/>
          <p:cNvSpPr/>
          <p:nvPr/>
        </p:nvSpPr>
        <p:spPr>
          <a:xfrm>
            <a:off x="566928" y="4526280"/>
            <a:ext cx="11045952" cy="1051560"/>
          </a:xfrm>
          <a:prstGeom prst="roundRect">
            <a:avLst>
              <a:gd name="adj" fmla="val 6000"/>
            </a:avLst>
          </a:prstGeom>
          <a:solidFill>
            <a:srgbClr val="1C232E"/>
          </a:solidFill>
          <a:ln w="1587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681728"/>
            <a:ext cx="10424160" cy="777240"/>
          </a:xfrm>
          <a:prstGeom prst="rect">
            <a:avLst/>
          </a:prstGeom>
          <a:noFill/>
        </p:spPr>
        <p:txBody>
          <a:bodyPr wrap="square" lIns="0" tIns="0" rIns="0" bIns="0" anchor="ctr">
            <a:spAutoFit/>
          </a:bodyPr>
          <a:lstStyle/>
          <a:p>
            <a:pPr algn="ctr">
              <a:lnSpc>
                <a:spcPct val="100000"/>
              </a:lnSpc>
              <a:spcAft>
                <a:spcPts val="0"/>
              </a:spcAft>
            </a:pPr>
            <a:r>
              <a:rPr sz="1700" b="1" i="1">
                <a:solidFill>
                  <a:srgbClr val="E6EDF3"/>
                </a:solidFill>
                <a:latin typeface="Segoe UI"/>
              </a:rPr>
              <a:t>"TruePix doesn't claim to be perfect — it claims to be honest about what it finds and what it cannot conclude."</a:t>
            </a:r>
          </a:p>
        </p:txBody>
      </p:sp>
      <p:sp>
        <p:nvSpPr>
          <p:cNvPr id="19" name="Rounded Rectangle 18"/>
          <p:cNvSpPr/>
          <p:nvPr/>
        </p:nvSpPr>
        <p:spPr>
          <a:xfrm>
            <a:off x="4700016" y="5806440"/>
            <a:ext cx="2788920" cy="457200"/>
          </a:xfrm>
          <a:prstGeom prst="roundRect">
            <a:avLst>
              <a:gd name="adj" fmla="val 50000"/>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00016" y="5806440"/>
            <a:ext cx="2788920" cy="457200"/>
          </a:xfrm>
          <a:prstGeom prst="rect">
            <a:avLst/>
          </a:prstGeom>
          <a:noFill/>
        </p:spPr>
        <p:txBody>
          <a:bodyPr wrap="square" lIns="0" tIns="0" rIns="0" bIns="0" anchor="ctr">
            <a:spAutoFit/>
          </a:bodyPr>
          <a:lstStyle/>
          <a:p>
            <a:pPr algn="ctr">
              <a:lnSpc>
                <a:spcPct val="100000"/>
              </a:lnSpc>
              <a:spcAft>
                <a:spcPts val="0"/>
              </a:spcAft>
            </a:pPr>
            <a:r>
              <a:rPr sz="1300" b="1" i="0">
                <a:solidFill>
                  <a:srgbClr val="0D1117"/>
                </a:solidFill>
                <a:latin typeface="Segoe UI"/>
              </a:rPr>
              <a:t>THANK YOU — QUESTIONS?</a:t>
            </a:r>
          </a:p>
        </p:txBody>
      </p:sp>
      <p:sp>
        <p:nvSpPr>
          <p:cNvPr id="21" name="TextBox 20"/>
          <p:cNvSpPr txBox="1"/>
          <p:nvPr/>
        </p:nvSpPr>
        <p:spPr>
          <a:xfrm>
            <a:off x="566928" y="6473952"/>
            <a:ext cx="11064240" cy="274320"/>
          </a:xfrm>
          <a:prstGeom prst="rect">
            <a:avLst/>
          </a:prstGeom>
          <a:noFill/>
        </p:spPr>
        <p:txBody>
          <a:bodyPr wrap="square" lIns="0" tIns="0" rIns="0" bIns="0" anchor="t">
            <a:spAutoFit/>
          </a:bodyPr>
          <a:lstStyle/>
          <a:p>
            <a:pPr algn="ctr">
              <a:lnSpc>
                <a:spcPct val="100000"/>
              </a:lnSpc>
              <a:spcAft>
                <a:spcPts val="0"/>
              </a:spcAft>
            </a:pPr>
            <a:r>
              <a:rPr sz="1000" b="0" i="0">
                <a:solidFill>
                  <a:srgbClr val="8B949E"/>
                </a:solidFill>
                <a:latin typeface="Segoe UI"/>
              </a:rPr>
              <a:t>Code &amp; docs: github.com/Kaif-T-200/TruePix  ·  MIT License  ·  Test suite: 115 pytest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6450</Words>
  <Application>Microsoft Office PowerPoint</Application>
  <PresentationFormat>Widescreen</PresentationFormat>
  <Paragraphs>519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TruePix — AI-Powered Image Forensics and Authenticity Detection</dc:title>
  <dc:subject>Final Project Viva Presentation</dc:subject>
  <dc:creator>[Your Name]</dc:creator>
  <cp:keywords/>
  <dc:description>generated using python-pptx</dc:description>
  <cp:lastModifiedBy>KAIF TARASGAR</cp:lastModifiedBy>
  <cp:revision>5</cp:revision>
  <dcterms:created xsi:type="dcterms:W3CDTF">2013-01-27T09:14:16Z</dcterms:created>
  <dcterms:modified xsi:type="dcterms:W3CDTF">2026-10-27T20:16:04Z</dcterms:modified>
  <cp:category/>
</cp:coreProperties>
</file>